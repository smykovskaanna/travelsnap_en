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/>
  <p:notesSz cx="51435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3838104" val="1068" revOS="4"/>
      <pr:smFileRevision xmlns:pr="smNativeData" xmlns="smNativeData" dt="1773838104" val="101"/>
      <pr:guideOptions xmlns:pr="smNativeData" xmlns="smNativeData" dt="1773838104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130" d="100"/>
          <a:sy n="130" d="100"/>
        </p:scale>
        <p:origin x="285" y="240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>
        <p:scale>
          <a:sx n="130" d="100"/>
          <a:sy n="130" d="100"/>
        </p:scale>
        <p:origin x="285" y="240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7185DE72-3C9C-D028-D23D-CA7D9073249F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G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7185ED4B-059C-D01B-D23D-F34EA37324A6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-18"/>
        <a:ea typeface="Calibri" pitchFamily="2" charset="-18"/>
        <a:cs typeface="Calibri" pitchFamily="2" charset="-18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Y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A80E-409C-D05E-D23D-B60BE67324E3}" type="slidenum"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C1EB-A59C-D037-D23D-53628F732406}" type="slidenum">
              <a:rPr lang="en-us" cap="none"/>
              <a:t>2</a:t>
            </a:fld>
            <a:endParaRPr lang="en-us" cap="none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B356-189C-D045-D23D-EE10FD7324BB}" type="slidenum">
              <a:rPr lang="en-us" cap="none"/>
              <a:t>3</a:t>
            </a:fld>
            <a:endParaRPr lang="en-us" cap="none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AB20-6E9C-D05D-D23D-9808E57324CD}" type="slidenum">
              <a:rPr lang="en-us" cap="none"/>
              <a:t>4</a:t>
            </a:fld>
            <a:endParaRPr lang="en-us" cap="none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E063-2D9C-D016-D23D-DB43AE73248E}" type="slidenum">
              <a:rPr lang="en-us" cap="none"/>
              <a:t>5</a:t>
            </a:fld>
            <a:endParaRPr lang="en-us" cap="none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ZHcn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C554-1A9C-D033-D23D-EC668B7324B9}" type="slidenum">
              <a:rPr lang="en-us" cap="none"/>
              <a:t>6</a:t>
            </a:fld>
            <a:endParaRPr lang="en-us" cap="none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C9A9-E79C-D03F-D23D-116A87732444}" type="slidenum">
              <a:rPr lang="en-us" cap="none"/>
              <a:t>7</a:t>
            </a:fld>
            <a:endParaRPr lang="en-us" cap="none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DF38-769C-D029-D23D-807C917324D5}" type="slidenum">
              <a:rPr lang="en-us" cap="none"/>
              <a:t>8</a:t>
            </a:fld>
            <a:endParaRPr lang="en-us" cap="none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AFBB-F59C-D059-D23D-030CE1732456}" type="slidenum">
              <a:rPr lang="en-us" cap="none"/>
              <a:t>9</a:t>
            </a:fld>
            <a:endParaRPr lang="en-us" cap="none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B229-679C-D044-D23D-9111FC7324C4}" type="slidenum">
              <a:rPr lang="en-us" cap="none"/>
              <a:t>10</a:t>
            </a:fld>
            <a:endParaRPr lang="en-us" cap="none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EB5C-129C-D01D-D23D-E448A57324B1}" type="slidenum">
              <a:rPr lang="en-us" cap="none"/>
              <a:t>11</a:t>
            </a:fld>
            <a:endParaRPr lang="en-us" cap="none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Rvd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A153-1D9C-D057-D23D-EB02EF7324BE}" type="slidenum">
              <a:rPr lang="en-us" cap="none"/>
              <a:t>12</a:t>
            </a:fld>
            <a:endParaRPr lang="en-us" cap="none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9782-CC9C-D061-D23D-3A34D973246F}" type="slidenum">
              <a:rPr lang="en-us" cap="none"/>
              <a:t>13</a:t>
            </a:fld>
            <a:endParaRPr lang="en-us" cap="none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8A4E-009C-D07C-D23D-F629C47324A3}" type="slidenum">
              <a:rPr lang="en-us" cap="none"/>
              <a:t>14</a:t>
            </a:fld>
            <a:endParaRPr lang="en-us" cap="none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Rvg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FB1E-509C-D00D-D23D-A658B57324F3}" type="slidenum">
              <a:rPr lang="en-us" cap="none"/>
              <a:t>15</a:t>
            </a:fld>
            <a:endParaRPr lang="en-us" cap="none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wsk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9525-6B9C-D063-D23D-9D36DB7324C8}" type="slidenum">
              <a:rPr lang="en-us" cap="none"/>
              <a:t>16</a:t>
            </a:fld>
            <a:endParaRPr lang="en-us" cap="none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8F84-CA9C-D079-D23D-3C2CC1732469}" type="slidenum">
              <a:rPr lang="en-us" cap="none"/>
              <a:t>17</a:t>
            </a:fld>
            <a:endParaRPr lang="en-us" cap="none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B2A4-EA9C-D044-D23D-1C11FC732449}" type="slidenum">
              <a:rPr lang="en-us" cap="none"/>
              <a:t>18</a:t>
            </a:fld>
            <a:endParaRPr lang="en-us" cap="none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D4D1-9F9C-D022-D23D-69779A73243C}" type="slidenum">
              <a:rPr lang="en-us" cap="none"/>
              <a:t>19</a:t>
            </a:fld>
            <a:endParaRPr lang="en-us" cap="none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F7BA-F49C-D001-D23D-0254B9732457}" type="slidenum">
              <a:rPr lang="en-us" cap="none"/>
              <a:t>20</a:t>
            </a:fld>
            <a:endParaRPr lang="en-us" cap="none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BAA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9C9C-D29C-D06A-D23D-243FD2732471}" type="slidenum">
              <a:rPr lang="en-us" cap="none"/>
              <a:t>21</a:t>
            </a:fld>
            <a:endParaRPr lang="en-us" cap="none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A9FC-B29C-D05F-D23D-440AE7732411}" type="slidenum">
              <a:rPr lang="en-us" cap="none"/>
              <a:t>22</a:t>
            </a:fld>
            <a:endParaRPr lang="en-us" cap="none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ywqR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F087-C99C-D006-D23D-3F53BE73246A}" type="slidenum">
              <a:rPr lang="en-us" cap="none"/>
              <a:t>23</a:t>
            </a:fld>
            <a:endParaRPr lang="en-us" cap="none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8E5F-119C-D078-D23D-E72DC07324B2}" type="slidenum">
              <a:rPr lang="en-us" cap="none"/>
              <a:t>24</a:t>
            </a:fld>
            <a:endParaRPr lang="en-us" cap="none"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GJ+6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GJ+6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7185E3CE-809C-D015-D23D-7640AD732423}" type="slidenum">
              <a:rPr lang="en-us" cap="none"/>
              <a:t>25</a:t>
            </a:fld>
            <a:endParaRPr lang="en-us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 Light" pitchFamily="2" charset="-18"/>
          <a:ea typeface="Calibri Light" pitchFamily="2" charset="-18"/>
          <a:cs typeface="Calibri Light" pitchFamily="2" charset="-18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-18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-18"/>
          <a:ea typeface="Calibri" pitchFamily="2" charset="-18"/>
          <a:cs typeface="Calibri" pitchFamily="2" charset="-18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gPv//4D7//9gDAAAYAwAABAAAAAmAAAACAAAAP//////////"/>
              </a:ext>
            </a:extLst>
          </p:cNvSpPr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G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MCoAALATAACwQAAAMCoAABAAAAAmAAAACAAAAP//////////"/>
              </a:ext>
            </a:extLst>
          </p:cNvSpPr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4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MAYAABAAAAAmAAAACAAAAP//////////"/>
              </a:ext>
            </a:extLst>
          </p:cNvSpPr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400" b="1" cap="none" spc="120">
                <a:solidFill>
                  <a:srgbClr val="61DAFB"/>
                </a:solidFill>
              </a:rPr>
              <a:t>LECTURE 3</a:t>
            </a:r>
            <a:endParaRPr lang="en-us" sz="1400" cap="none"/>
          </a:p>
        </p:txBody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SABI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gXAADABgAAWCAAAD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MAPAABwNQAAgBYAABAAAAAmAAAACAAAAP//////////"/>
              </a:ext>
            </a:extLst>
          </p:cNvSpPr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800" b="1" cap="none">
                <a:solidFill>
                  <a:srgbClr val="FFFFFF"/>
                </a:solidFill>
              </a:rPr>
              <a:t>State, Hooks</a:t>
            </a:r>
            <a:endParaRPr lang="en-us" sz="3800" cap="none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800" b="1" cap="none">
                <a:solidFill>
                  <a:srgbClr val="FFFFFF"/>
                </a:solidFill>
              </a:rPr>
              <a:t>and Interactivity</a:t>
            </a:r>
            <a:endParaRPr lang="en-us" sz="38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FgXAABwNQAAmBkAABAAAAAmAAAACAAAAP//////////"/>
              </a:ext>
            </a:extLst>
          </p:cNvSpPr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8B95A5"/>
                </a:solidFill>
              </a:rPr>
              <a:t>Mobile Programming Languages - React Native with Expo</a:t>
            </a:r>
            <a:endParaRPr lang="en-us" sz="13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xTBA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JgZAABwNQAA2BsAABAAAAAmAAAACAAAAP//////////"/>
              </a:ext>
            </a:extLst>
          </p:cNvSpPr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cap="none">
                <a:solidFill>
                  <a:srgbClr val="61DAFB"/>
                </a:solidFill>
              </a:rPr>
              <a:t>Project: TravelSnap - dynamic trip list</a:t>
            </a:r>
            <a:endParaRPr lang="en-us" sz="1200" cap="none"/>
          </a:p>
        </p:txBody>
      </p:sp>
      <p:sp>
        <p:nvSpPr>
          <p:cNvPr id="9" name="Text 6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RECAP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Recap from Lecture 2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OgFAAA4HwAA4AcAABAAAAAmAAAACAAAAP//////////"/>
              </a:ext>
            </a:extLst>
          </p:cNvSpPr>
          <p:nvPr/>
        </p:nvSpPr>
        <p:spPr>
          <a:xfrm>
            <a:off x="502920" y="960120"/>
            <a:ext cx="45720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</a:rPr>
              <a:t>What do we already know?</a:t>
            </a:r>
            <a:endParaRPr lang="en-us" sz="14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EgJAABwNQAAqAwAABAAAAAmAAAACAAAAP//////////"/>
              </a:ext>
            </a:extLst>
          </p:cNvSpPr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JEHUM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DYCQAAMAYAABg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EgJAAAwMwAAqAwAABAAAAAmAAAACAAAAP//////////"/>
              </a:ext>
            </a:extLst>
          </p:cNvSpPr>
          <p:nvPr/>
        </p:nvSpPr>
        <p:spPr>
          <a:xfrm>
            <a:off x="1188720" y="150876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JSX/TSX - React Native component syntax</a:t>
            </a:r>
            <a:endParaRPr lang="en-us" sz="140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FUNAABwNQAAtRAAABAAAAAmAAAACAAAAP//////////"/>
              </a:ext>
            </a:extLst>
          </p:cNvSpPr>
          <p:nvPr/>
        </p:nvSpPr>
        <p:spPr>
          <a:xfrm>
            <a:off x="457200" y="2167255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CAgI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DlDQAAMAYAACUQ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58695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FUNAAAwMwAAtRAAABAAAAAmAAAACAAAAP//////////"/>
              </a:ext>
            </a:extLst>
          </p:cNvSpPr>
          <p:nvPr/>
        </p:nvSpPr>
        <p:spPr>
          <a:xfrm>
            <a:off x="1188720" y="2167255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Functional components = your own LEGO bricks</a:t>
            </a:r>
            <a:endParaRPr lang="en-us" sz="1400" cap="none"/>
          </a:p>
        </p:txBody>
      </p:sp>
      <p:sp>
        <p:nvSpPr>
          <p:cNvPr id="11" name="Shape 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GIRAABwNQAAwhQAABAAAAAmAAAACAAAAP//////////"/>
              </a:ext>
            </a:extLst>
          </p:cNvSpPr>
          <p:nvPr/>
        </p:nvSpPr>
        <p:spPr>
          <a:xfrm>
            <a:off x="457200" y="2825750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CAgI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DyEQAAMAYAADIU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1719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 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GIRAAAwMwAAwhQAABAAAAAmAAAACAAAAP//////////"/>
              </a:ext>
            </a:extLst>
          </p:cNvSpPr>
          <p:nvPr/>
        </p:nvSpPr>
        <p:spPr>
          <a:xfrm>
            <a:off x="1188720" y="282575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Props - passing data parent -&gt; child</a:t>
            </a:r>
            <a:endParaRPr lang="en-us" sz="1400" cap="none"/>
          </a:p>
        </p:txBody>
      </p:sp>
      <p:sp>
        <p:nvSpPr>
          <p:cNvPr id="14" name="Shape 9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G4VAABwNQAAzhgAABAAAAAmAAAACAAAAP//////////"/>
              </a:ext>
            </a:extLst>
          </p:cNvSpPr>
          <p:nvPr/>
        </p:nvSpPr>
        <p:spPr>
          <a:xfrm>
            <a:off x="457200" y="3483610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CAgI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D+FQAAMAYAAD4Y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7505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Text 10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2T+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G4VAAAwMwAAzhgAABAAAAAmAAAACAAAAP//////////"/>
              </a:ext>
            </a:extLst>
          </p:cNvSpPr>
          <p:nvPr/>
        </p:nvSpPr>
        <p:spPr>
          <a:xfrm>
            <a:off x="1188720" y="3483610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TypeScript interface - typing props</a:t>
            </a:r>
            <a:endParaRPr lang="en-us" sz="1400" cap="none"/>
          </a:p>
        </p:txBody>
      </p:sp>
      <p:sp>
        <p:nvSpPr>
          <p:cNvPr id="17" name="Shape 11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L2T+f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sZAABwNQAA2xwAABAAAAAmAAAACAAAAP//////////"/>
              </a:ext>
            </a:extLst>
          </p:cNvSpPr>
          <p:nvPr/>
        </p:nvSpPr>
        <p:spPr>
          <a:xfrm>
            <a:off x="457200" y="4142105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ALGgAAMAYAAEsc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33545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Text 1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HsZAAAwMwAA2xwAABAAAAAmAAAACAAAAP//////////"/>
              </a:ext>
            </a:extLst>
          </p:cNvSpPr>
          <p:nvPr/>
        </p:nvSpPr>
        <p:spPr>
          <a:xfrm>
            <a:off x="1188720" y="4142105"/>
            <a:ext cx="71323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TripCard (title, destination, date, rating)</a:t>
            </a:r>
            <a:endParaRPr lang="en-us" sz="1400" cap="none"/>
          </a:p>
        </p:txBody>
      </p:sp>
      <p:sp>
        <p:nvSpPr>
          <p:cNvPr id="20" name="Text 1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2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LECTURE PLAN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What are we doing today?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LgIAAAmAwAA0AsAABAAAAAmAAAACAAAAP//////////"/>
              </a:ext>
            </a:extLst>
          </p:cNvSpPr>
          <p:nvPr/>
        </p:nvSpPr>
        <p:spPr>
          <a:xfrm>
            <a:off x="457200" y="1417320"/>
            <a:ext cx="54610" cy="5029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5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kAaU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ArCQAAwAYAAGs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90345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AcAALgIAADgNAAA0AsAABAAAAAmAAAACAAAAP//////////"/>
              </a:ext>
            </a:extLst>
          </p:cNvSpPr>
          <p:nvPr/>
        </p:nvSpPr>
        <p:spPr>
          <a:xfrm>
            <a:off x="1280160" y="1417320"/>
            <a:ext cx="7315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useState - hook for managing component state</a:t>
            </a:r>
            <a:endParaRPr lang="en-us" sz="1400" cap="none"/>
          </a:p>
        </p:txBody>
      </p:sp>
      <p:sp>
        <p:nvSpPr>
          <p:cNvPr id="7" name="Shape 4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PAMAAAmAwAACBAAABAAAAAmAAAACAAAAP//////////"/>
              </a:ext>
            </a:extLst>
          </p:cNvSpPr>
          <p:nvPr/>
        </p:nvSpPr>
        <p:spPr>
          <a:xfrm>
            <a:off x="457200" y="2103120"/>
            <a:ext cx="54610" cy="5029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8" name="Image 1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KBosG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BjDQAAwAYAAKMP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76145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 5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AcAAPAMAADgNAAACBAAABAAAAAmAAAACAAAAP//////////"/>
              </a:ext>
            </a:extLst>
          </p:cNvSpPr>
          <p:nvPr/>
        </p:nvSpPr>
        <p:spPr>
          <a:xfrm>
            <a:off x="1280160" y="2103120"/>
            <a:ext cx="7315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TextInput - forms and controlled inputs</a:t>
            </a:r>
            <a:endParaRPr lang="en-us" sz="1400" cap="none"/>
          </a:p>
        </p:txBody>
      </p:sp>
      <p:sp>
        <p:nvSpPr>
          <p:cNvPr id="10" name="Shape 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TdZQ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CgRAAAmAwAAQBQAABAAAAAmAAAACAAAAP//////////"/>
              </a:ext>
            </a:extLst>
          </p:cNvSpPr>
          <p:nvPr/>
        </p:nvSpPr>
        <p:spPr>
          <a:xfrm>
            <a:off x="457200" y="2788920"/>
            <a:ext cx="54610" cy="5029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11" name="Image 2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CbEQAAwAYAANsT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1945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7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AcAACgRAADgNAAAQBQAABAAAAAmAAAACAAAAP//////////"/>
              </a:ext>
            </a:extLst>
          </p:cNvSpPr>
          <p:nvPr/>
        </p:nvSpPr>
        <p:spPr>
          <a:xfrm>
            <a:off x="1280160" y="2788920"/>
            <a:ext cx="7315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Add Trip form with 4 fields</a:t>
            </a:r>
            <a:endParaRPr lang="en-us" sz="1400" cap="none"/>
          </a:p>
        </p:txBody>
      </p:sp>
      <p:sp>
        <p:nvSpPr>
          <p:cNvPr id="13" name="Shape 8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yHz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GAVAAAmAwAAeBgAABAAAAAmAAAACAAAAP//////////"/>
              </a:ext>
            </a:extLst>
          </p:cNvSpPr>
          <p:nvPr/>
        </p:nvSpPr>
        <p:spPr>
          <a:xfrm>
            <a:off x="457200" y="3474720"/>
            <a:ext cx="54610" cy="5029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14" name="Image 3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JGIIJ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DTFQAAwAYAABMY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47745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Text 9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SH0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AcAAGAVAADgNAAAeBgAABAAAAAmAAAACAAAAP//////////"/>
              </a:ext>
            </a:extLst>
          </p:cNvSpPr>
          <p:nvPr/>
        </p:nvSpPr>
        <p:spPr>
          <a:xfrm>
            <a:off x="1280160" y="3474720"/>
            <a:ext cx="7315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Dynamic list - adding TripCard at runtime</a:t>
            </a:r>
            <a:endParaRPr lang="en-us" sz="1400" cap="none"/>
          </a:p>
        </p:txBody>
      </p:sp>
      <p:sp>
        <p:nvSpPr>
          <p:cNvPr id="16" name="Shape 10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JgZAAAmAwAAsBwAABAAAAAmAAAACAAAAP//////////"/>
              </a:ext>
            </a:extLst>
          </p:cNvSpPr>
          <p:nvPr/>
        </p:nvSpPr>
        <p:spPr>
          <a:xfrm>
            <a:off x="457200" y="4160520"/>
            <a:ext cx="54610" cy="5029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17" name="Image 4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IAEAAALGgAAwAYAAEscAAAQAAAAJgAAAAgAAAD//////////w=="/>
              </a:ext>
            </a:extLst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33545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Text 1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AcAAJgZAADgNAAAsBwAABAAAAAmAAAACAAAAP//////////"/>
              </a:ext>
            </a:extLst>
          </p:cNvSpPr>
          <p:nvPr/>
        </p:nvSpPr>
        <p:spPr>
          <a:xfrm>
            <a:off x="1280160" y="4160520"/>
            <a:ext cx="73152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495057"/>
                </a:solidFill>
              </a:rPr>
              <a:t>Removing items - filter() and immutability</a:t>
            </a:r>
            <a:endParaRPr lang="en-us" sz="1400" cap="none"/>
          </a:p>
        </p:txBody>
      </p:sp>
      <p:sp>
        <p:nvSpPr>
          <p:cNvPr id="19" name="Text 1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3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THEORY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yV1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What is state?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/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OAHAABwGgAAoBcAABAAAAAmAAAACAAAAP//////////"/>
              </a:ext>
            </a:extLst>
          </p:cNvSpPr>
          <p:nvPr/>
        </p:nvSpPr>
        <p:spPr>
          <a:xfrm>
            <a:off x="457200" y="1280160"/>
            <a:ext cx="38404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OAHAABwGgAAKAgAABAAAAAmAAAACAAAAP//////////"/>
              </a:ext>
            </a:extLst>
          </p:cNvSpPr>
          <p:nvPr/>
        </p:nvSpPr>
        <p:spPr>
          <a:xfrm>
            <a:off x="457200" y="1280160"/>
            <a:ext cx="384048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DAAM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AACQAA6AUAAPg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AAJAABYFwAA+AoAABAAAAAmAAAACAAAAP//////////"/>
              </a:ext>
            </a:extLst>
          </p:cNvSpPr>
          <p:nvPr/>
        </p:nvSpPr>
        <p:spPr>
          <a:xfrm>
            <a:off x="1051560" y="146304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61DAFB"/>
                </a:solidFill>
              </a:rPr>
              <a:t>Analogy</a:t>
            </a:r>
            <a:endParaRPr lang="en-us" sz="14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BgMAABQGQAAOBYAABAAAAAmAAAACAAAAP//////////"/>
              </a:ext>
            </a:extLst>
          </p:cNvSpPr>
          <p:nvPr/>
        </p:nvSpPr>
        <p:spPr>
          <a:xfrm>
            <a:off x="640080" y="1965960"/>
            <a:ext cx="347472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495057"/>
                </a:solidFill>
              </a:rPr>
              <a:t>State = a restaurant order board.</a:t>
            </a:r>
            <a:endParaRPr lang="en-us" sz="1300" cap="none"/>
          </a:p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495057"/>
                </a:solidFill>
              </a:rPr>
              <a:t>The waiter (React) watches the board.</a:t>
            </a:r>
            <a:endParaRPr lang="en-us" sz="1300" cap="none"/>
          </a:p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495057"/>
                </a:solidFill>
              </a:rPr>
              <a:t>When it changes - the waiter</a:t>
            </a:r>
            <a:endParaRPr lang="en-us" sz="1300" cap="none"/>
          </a:p>
          <a:p>
            <a:pPr marL="0" indent="0">
              <a:lnSpc>
                <a:spcPct val="150000"/>
              </a:lnSpc>
              <a:buNone/>
            </a:pPr>
            <a:r>
              <a:rPr lang="en-us" sz="1300" cap="none">
                <a:solidFill>
                  <a:srgbClr val="495057"/>
                </a:solidFill>
              </a:rPr>
              <a:t>immediately updates the orders.</a:t>
            </a:r>
            <a:endParaRPr lang="en-us" sz="13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Fyx2g4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B0AAOAHAACQNgAA6A4AABAAAAAmAAAACAAAAP//////////"/>
              </a:ext>
            </a:extLst>
          </p:cNvSpPr>
          <p:nvPr/>
        </p:nvSpPr>
        <p:spPr>
          <a:xfrm>
            <a:off x="4846320" y="1280160"/>
            <a:ext cx="402336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i5W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5WlAP///wEAAAAAAAAAAAAAAAAAAAAAAAAAAAAAAAAAAAAAAAAAAAAAAAB/f38A5+bmA8zMzADAwP8Af39/AAAAAAAAAAAAAAAAAAAAAAAAAAAAIQAAABgAAAAUAAAA0B0AAOAHAAAmHgAA6A4AABAAAAAmAAAACAAAAP//////////"/>
              </a:ext>
            </a:extLst>
          </p:cNvSpPr>
          <p:nvPr/>
        </p:nvSpPr>
        <p:spPr>
          <a:xfrm>
            <a:off x="4846320" y="1280160"/>
            <a:ext cx="54610" cy="1143000"/>
          </a:xfrm>
          <a:prstGeom prst="rect">
            <a:avLst/>
          </a:prstGeom>
          <a:solidFill>
            <a:srgbClr val="8B95A5"/>
          </a:solidFill>
          <a:ln>
            <a:noFill/>
          </a:ln>
          <a:effectLst/>
        </p:spPr>
      </p:sp>
      <p:sp>
        <p:nvSpPr>
          <p:cNvPr id="11" name="Text 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B8AACgIAAB4KgAAIAoAABAAAAAmAAAACAAAAP//////////"/>
              </a:ext>
            </a:extLst>
          </p:cNvSpPr>
          <p:nvPr/>
        </p:nvSpPr>
        <p:spPr>
          <a:xfrm>
            <a:off x="5074920" y="132588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495057"/>
                </a:solidFill>
              </a:rPr>
              <a:t>Props</a:t>
            </a:r>
            <a:endParaRPr lang="en-us" sz="1400" cap="none"/>
          </a:p>
        </p:txBody>
      </p:sp>
      <p:sp>
        <p:nvSpPr>
          <p:cNvPr id="12" name="Text 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B8AACAKAACYNAAAEA4AABAAAAAmAAAACAAAAP//////////"/>
              </a:ext>
            </a:extLst>
          </p:cNvSpPr>
          <p:nvPr/>
        </p:nvSpPr>
        <p:spPr>
          <a:xfrm>
            <a:off x="5074920" y="1645920"/>
            <a:ext cx="347472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Data from parent, READ-ONLY</a:t>
            </a:r>
            <a:endParaRPr lang="en-us" sz="12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Component does NOT change them</a:t>
            </a:r>
            <a:endParaRPr lang="en-us" sz="1200" cap="none"/>
          </a:p>
        </p:txBody>
      </p:sp>
      <p:sp>
        <p:nvSpPr>
          <p:cNvPr id="13" name="Shape 10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f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B0AAAgQAACQNgAAoBcAABAAAAAmAAAACAAAAP//////////"/>
              </a:ext>
            </a:extLst>
          </p:cNvSpPr>
          <p:nvPr/>
        </p:nvSpPr>
        <p:spPr>
          <a:xfrm>
            <a:off x="4846320" y="2606040"/>
            <a:ext cx="40233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B0AAAgQAAAmHgAAoBcAABAAAAAmAAAACAAAAP//////////"/>
              </a:ext>
            </a:extLst>
          </p:cNvSpPr>
          <p:nvPr/>
        </p:nvSpPr>
        <p:spPr>
          <a:xfrm>
            <a:off x="4846320" y="2606040"/>
            <a:ext cx="54610" cy="1234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5" name="Text 1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B8AAFAQAAB4KgAASBIAABAAAAAmAAAACAAAAP//////////"/>
              </a:ext>
            </a:extLst>
          </p:cNvSpPr>
          <p:nvPr/>
        </p:nvSpPr>
        <p:spPr>
          <a:xfrm>
            <a:off x="5074920" y="2651760"/>
            <a:ext cx="18288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61DAFB"/>
                </a:solidFill>
              </a:rPr>
              <a:t>State</a:t>
            </a:r>
            <a:endParaRPr lang="en-us" sz="1400" cap="none"/>
          </a:p>
        </p:txBody>
      </p:sp>
      <p:sp>
        <p:nvSpPr>
          <p:cNvPr id="16" name="Text 1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B8AAEgSAACYNAAAyBYAABAAAAAmAAAACAAAAP//////////"/>
              </a:ext>
            </a:extLst>
          </p:cNvSpPr>
          <p:nvPr/>
        </p:nvSpPr>
        <p:spPr>
          <a:xfrm>
            <a:off x="5074920" y="2971800"/>
            <a:ext cx="347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495057"/>
                </a:solidFill>
              </a:rPr>
              <a:t>Internal component memory</a:t>
            </a:r>
            <a:endParaRPr lang="en-us" sz="12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495057"/>
                </a:solidFill>
              </a:rPr>
              <a:t>Can CHANGE over time</a:t>
            </a:r>
            <a:endParaRPr lang="en-us" sz="12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495057"/>
                </a:solidFill>
              </a:rPr>
              <a:t>Change = RERENDER!</a:t>
            </a:r>
            <a:endParaRPr lang="en-us" sz="1200" cap="none"/>
          </a:p>
        </p:txBody>
      </p:sp>
      <p:sp>
        <p:nvSpPr>
          <p:cNvPr id="17" name="Text 1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4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HOOK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useState - syntax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QAAAA0AAAAAkAAAAEgAAACQAAAASAAAAAAAAAAAAAAAAAAAAAEAAABQAAAAodY07zhFtz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OAHAABwNQAAQBQAABAAAAAmAAAACAAAAP//////////"/>
              </a:ext>
            </a:extLst>
          </p:cNvSpPr>
          <p:nvPr/>
        </p:nvSpPr>
        <p:spPr>
          <a:xfrm>
            <a:off x="457200" y="128016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LgIAABYBQAAkAkAABAAAAAmAAAACAAAAP//////////"/>
              </a:ext>
            </a:extLst>
          </p:cNvSpPr>
          <p:nvPr/>
        </p:nvSpPr>
        <p:spPr>
          <a:xfrm>
            <a:off x="731520" y="14173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oAUAALgIAAB4BgAAkAkAABAAAAAmAAAACAAAAP//////////"/>
              </a:ext>
            </a:extLst>
          </p:cNvSpPr>
          <p:nvPr/>
        </p:nvSpPr>
        <p:spPr>
          <a:xfrm>
            <a:off x="914400" y="14173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wAYAALgIAACYBwAAkAkAABAAAAAmAAAACAAAAP//////////"/>
              </a:ext>
            </a:extLst>
          </p:cNvSpPr>
          <p:nvPr/>
        </p:nvSpPr>
        <p:spPr>
          <a:xfrm>
            <a:off x="1097280" y="14173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GgKAABQNAAAqAwAABAAAAAmAAAACAAAAP//////////"/>
              </a:ext>
            </a:extLst>
          </p:cNvSpPr>
          <p:nvPr/>
        </p:nvSpPr>
        <p:spPr>
          <a:xfrm>
            <a:off x="731520" y="1691640"/>
            <a:ext cx="77724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5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</a:t>
            </a:r>
            <a:r>
              <a:rPr lang="en-us" sz="15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[count, setCount] = </a:t>
            </a:r>
            <a:r>
              <a:rPr lang="en-us" sz="15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useState</a:t>
            </a:r>
            <a:r>
              <a:rPr lang="en-us" sz="15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(0);</a:t>
            </a:r>
            <a:endParaRPr lang="en-us" sz="15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BAOAACwEwAAwA8AABAAAAAmAAAACAAAAP//////////"/>
              </a:ext>
            </a:extLst>
          </p:cNvSpPr>
          <p:nvPr/>
        </p:nvSpPr>
        <p:spPr>
          <a:xfrm>
            <a:off x="1188720" y="228600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cap="none">
                <a:solidFill>
                  <a:srgbClr val="61DAFB"/>
                </a:solidFill>
              </a:rPr>
              <a:t>Current value</a:t>
            </a:r>
            <a:endParaRPr lang="en-us" sz="11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GJ+6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GHa+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GHa+wB/f38A5+bmA8zMzADAwP8Af39/AAAAAAAAAAAAAAAAAAAAAAAAAAAAIQAAABgAAAAUAAAAgA0AADgNAACADQAAEA4AABAAAAAmAAAACAAAAP//////////"/>
              </a:ext>
            </a:extLst>
          </p:cNvSpPr>
          <p:nvPr/>
        </p:nvSpPr>
        <p:spPr>
          <a:xfrm>
            <a:off x="2194560" y="2148840"/>
            <a:ext cx="0" cy="137160"/>
          </a:xfrm>
          <a:prstGeom prst="line">
            <a:avLst/>
          </a:prstGeom>
          <a:noFill/>
          <a:ln w="19050" cap="flat" cmpd="sng" algn="ctr">
            <a:solidFill>
              <a:srgbClr val="61DAFB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MAABAOAAAQIAAAwA8AABAAAAAmAAAACAAAAP//////////"/>
              </a:ext>
            </a:extLst>
          </p:cNvSpPr>
          <p:nvPr/>
        </p:nvSpPr>
        <p:spPr>
          <a:xfrm>
            <a:off x="3200400" y="228600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cap="none">
                <a:solidFill>
                  <a:srgbClr val="50FA7B"/>
                </a:solidFill>
              </a:rPr>
              <a:t>Setter function</a:t>
            </a:r>
            <a:endParaRPr lang="en-us" sz="1100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5_GJ+6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FD6ew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FD6ewB/f38A5+bmA8zMzADAwP8Af39/AAAAAAAAAAAAAAAAAAAAAAAAAAAAIQAAABgAAAAUAAAA4BkAADgNAADgGQAAEA4AABAAAAAmAAAACAAAAP//////////"/>
              </a:ext>
            </a:extLst>
          </p:cNvSpPr>
          <p:nvPr/>
        </p:nvSpPr>
        <p:spPr>
          <a:xfrm>
            <a:off x="4206240" y="2148840"/>
            <a:ext cx="0" cy="137160"/>
          </a:xfrm>
          <a:prstGeom prst="line">
            <a:avLst/>
          </a:prstGeom>
          <a:noFill/>
          <a:ln w="19050" cap="flat" cmpd="sng" algn="ctr">
            <a:solidFill>
              <a:srgbClr val="50FA7B"/>
            </a:solidFill>
            <a:prstDash val="solid"/>
            <a:headEnd type="none"/>
            <a:tailEnd type="none"/>
          </a:ln>
          <a:effectLst/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HyEAABkOAAB/LQAAyQ8AABAAAAAmAAAACAAAAP//////////"/>
              </a:ext>
            </a:extLst>
          </p:cNvSpPr>
          <p:nvPr/>
        </p:nvSpPr>
        <p:spPr>
          <a:xfrm>
            <a:off x="5384165" y="2291715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cap="none">
                <a:solidFill>
                  <a:srgbClr val="FFB86C"/>
                </a:solidFill>
              </a:rPr>
              <a:t>Initial value</a:t>
            </a:r>
            <a:endParaRPr lang="en-us" sz="1100" cap="none"/>
          </a:p>
        </p:txBody>
      </p:sp>
      <p:sp>
        <p:nvSpPr>
          <p:cNvPr id="14" name="Shape 12"/>
          <p:cNvSpPr>
            <a:extLst>
              <a:ext uri="smNativeData">
                <pr:smNativeData xmlns:pr="smNativeData" xmlns="smNativeData" val="SMDATA_15_GJ+6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P+4bA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P+4bAB/f38A5+bmA8zMzADAwP8Af39/AAAAAAAAAAAAAAAAAAAAAAAAAAAAIQAAABgAAAAUAAAAKR0AAKwLAACkJwAAGA4AABAAAAAmAAAACAAAAP//////////"/>
              </a:ext>
            </a:extLst>
          </p:cNvSpPr>
          <p:nvPr/>
        </p:nvSpPr>
        <p:spPr>
          <a:xfrm>
            <a:off x="4740275" y="1897380"/>
            <a:ext cx="1703705" cy="393700"/>
          </a:xfrm>
          <a:prstGeom prst="line">
            <a:avLst/>
          </a:prstGeom>
          <a:noFill/>
          <a:ln w="19050" cap="flat" cmpd="sng" algn="ctr">
            <a:solidFill>
              <a:srgbClr val="FFB86C"/>
            </a:solidFill>
            <a:prstDash val="solid"/>
            <a:headEnd type="none"/>
            <a:tailEnd type="none"/>
          </a:ln>
          <a:effectLst/>
        </p:spPr>
      </p:sp>
      <p:sp>
        <p:nvSpPr>
          <p:cNvPr id="15" name="Shape 13"/>
          <p:cNvSpPr>
            <a:extLst>
              <a:ext uri="smNativeData">
                <pr:smNativeData xmlns:pr="smNativeData" xmlns="smNativeData" val="SMDATA_15_GJ+6aRMAAAAlAAAAZQAAAA0AAAAAkAAAAEgAAACQAAAASAAAAAAAAAAAAAAAAAAAAAEAAABQAAAAGHjuPVxyvD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JASAABwNQAAsBwAABAAAAAmAAAACAAAAP//////////"/>
              </a:ext>
            </a:extLst>
          </p:cNvSpPr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16" name="Shape 1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GgTAABYBQAAQBQAABAAAAAmAAAACAAAAP//////////"/>
              </a:ext>
            </a:extLst>
          </p:cNvSpPr>
          <p:nvPr/>
        </p:nvSpPr>
        <p:spPr>
          <a:xfrm>
            <a:off x="731520" y="315468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17" name="Shape 1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oAUAAGgTAAB4BgAAQBQAABAAAAAmAAAACAAAAP//////////"/>
              </a:ext>
            </a:extLst>
          </p:cNvSpPr>
          <p:nvPr/>
        </p:nvSpPr>
        <p:spPr>
          <a:xfrm>
            <a:off x="914400" y="315468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18" name="Shape 16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wAYAAGgTAACYBwAAQBQAABAAAAAmAAAACAAAAP//////////"/>
              </a:ext>
            </a:extLst>
          </p:cNvSpPr>
          <p:nvPr/>
        </p:nvSpPr>
        <p:spPr>
          <a:xfrm>
            <a:off x="1097280" y="315468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9" name="Text 17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PgTAABQNAAASBsAAAAAAAAmAAAACAAAAP//////////"/>
              </a:ext>
            </a:extLst>
          </p:cNvSpPr>
          <p:nvPr/>
        </p:nvSpPr>
        <p:spPr>
          <a:xfrm>
            <a:off x="731520" y="3246120"/>
            <a:ext cx="7772400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Usage in component</a:t>
            </a:r>
            <a:br/>
            <a:endParaRPr lang="en-us" sz="1200" cap="none"/>
          </a:p>
          <a:p>
            <a:pPr marL="0" indent="0">
              <a:buNone/>
            </a:pP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&lt;Text&gt;</a:t>
            </a: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Counter: {count}</a:t>
            </a: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&lt;/Text&gt;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&lt;Pressable </a:t>
            </a:r>
            <a:r>
              <a:rPr lang="en-us" sz="13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onPress</a:t>
            </a: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={() =&gt; setCount(count + 1)}</a:t>
            </a:r>
            <a:r>
              <a:rPr lang="en-us" sz="13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&gt;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</p:txBody>
      </p:sp>
      <p:sp>
        <p:nvSpPr>
          <p:cNvPr id="20" name="Text 18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5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UNDER THE HOOD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How does useState work?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AIAACgDgAAEBcAABAAAAAmAAAACAAAAP//////////"/>
              </a:ext>
            </a:extLst>
          </p:cNvSpPr>
          <p:nvPr/>
        </p:nvSpPr>
        <p:spPr>
          <a:xfrm>
            <a:off x="457200" y="137160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CAcAAEgJAABoCgAAqAwAABAAAAAmAAAACAAAAP//////////"/>
              </a:ext>
            </a:extLst>
          </p:cNvSpPr>
          <p:nvPr/>
        </p:nvSpPr>
        <p:spPr>
          <a:xfrm>
            <a:off x="1143000" y="1508760"/>
            <a:ext cx="548640" cy="548640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EgJAABoCgAAqAwAABAAAAAmAAAACAAAAP//////////"/>
              </a:ext>
            </a:extLst>
          </p:cNvSpPr>
          <p:nvPr/>
        </p:nvSpPr>
        <p:spPr>
          <a:xfrm>
            <a:off x="1143000" y="15087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b="1" cap="none">
                <a:solidFill>
                  <a:srgbClr val="FFFFFF"/>
                </a:solidFill>
              </a:rPr>
              <a:t>1</a:t>
            </a:r>
            <a:endParaRPr lang="en-us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MAAIANAADIDQAAeA8AABAAAAAmAAAACAAAAP//////////"/>
              </a:ext>
            </a:extLst>
          </p:cNvSpPr>
          <p:nvPr/>
        </p:nvSpPr>
        <p:spPr>
          <a:xfrm>
            <a:off x="594360" y="2194560"/>
            <a:ext cx="16459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b="1" cap="none">
                <a:solidFill>
                  <a:srgbClr val="212529"/>
                </a:solidFill>
              </a:rPr>
              <a:t>Initial state</a:t>
            </a:r>
            <a:endParaRPr lang="en-us" sz="12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MAAMAPAADIDQAAYBUAABAAAAAmAAAACAAAAP//////////"/>
              </a:ext>
            </a:extLst>
          </p:cNvSpPr>
          <p:nvPr/>
        </p:nvSpPr>
        <p:spPr>
          <a:xfrm>
            <a:off x="594360" y="2560320"/>
            <a:ext cx="164592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count = 0</a:t>
            </a:r>
            <a:endParaRPr lang="en-us" sz="1100" cap="none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React renders UI</a:t>
            </a:r>
            <a:endParaRPr lang="en-us" sz="1100" cap="none"/>
          </a:p>
        </p:txBody>
      </p:sp>
      <p:pic>
        <p:nvPicPr>
          <p:cNvPr id="9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AOAABYDgAACBAAAM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331720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" name="Shape 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Js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CBAAAHAIAADYGwAAEBcAABAAAAAmAAAACAAAAP//////////"/>
              </a:ext>
            </a:extLst>
          </p:cNvSpPr>
          <p:nvPr/>
        </p:nvSpPr>
        <p:spPr>
          <a:xfrm>
            <a:off x="2606040" y="137160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/7h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7hsAP///wEAAAAAAAAAAAAAAAAAAAAAAAAAAAAAAAAAAAAAAAAAAAAAAAB/f38A5+bmA8zMzADAwP8Af39/AAAAAAAAAAAAAAAAAAAAAAAAAAAAIQAAABgAAAAUAAAAQBQAAEgJAACgFwAAqAwAABAAAAAmAAAACAAAAP//////////"/>
              </a:ext>
            </a:extLst>
          </p:cNvSpPr>
          <p:nvPr/>
        </p:nvSpPr>
        <p:spPr>
          <a:xfrm>
            <a:off x="3291840" y="1508760"/>
            <a:ext cx="548640" cy="548640"/>
          </a:xfrm>
          <a:prstGeom prst="ellipse">
            <a:avLst/>
          </a:prstGeom>
          <a:solidFill>
            <a:srgbClr val="FFB86C"/>
          </a:solidFill>
          <a:ln>
            <a:noFill/>
          </a:ln>
          <a:effectLst/>
        </p:spPr>
      </p:sp>
      <p:sp>
        <p:nvSpPr>
          <p:cNvPr id="12" name="Text 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BQAAEgJAACgFwAAqAwAABAAAAAmAAAACAAAAP//////////"/>
              </a:ext>
            </a:extLst>
          </p:cNvSpPr>
          <p:nvPr/>
        </p:nvSpPr>
        <p:spPr>
          <a:xfrm>
            <a:off x="3291840" y="15087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b="1" cap="none">
                <a:solidFill>
                  <a:srgbClr val="FFFFFF"/>
                </a:solidFill>
              </a:rPr>
              <a:t>2</a:t>
            </a:r>
            <a:endParaRPr lang="en-us" cap="none"/>
          </a:p>
        </p:txBody>
      </p:sp>
      <p:sp>
        <p:nvSpPr>
          <p:cNvPr id="13" name="Text 10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SiJ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BAAAIANAAAAGwAAeA8AABAAAAAmAAAACAAAAP//////////"/>
              </a:ext>
            </a:extLst>
          </p:cNvSpPr>
          <p:nvPr/>
        </p:nvSpPr>
        <p:spPr>
          <a:xfrm>
            <a:off x="2743200" y="2194560"/>
            <a:ext cx="16459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b="1" cap="none">
                <a:solidFill>
                  <a:srgbClr val="212529"/>
                </a:solidFill>
              </a:rPr>
              <a:t>User taps</a:t>
            </a:r>
            <a:endParaRPr lang="en-us" sz="1200" cap="none"/>
          </a:p>
        </p:txBody>
      </p:sp>
      <p:sp>
        <p:nvSpPr>
          <p:cNvPr id="14" name="Text 1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BAAAMAPAAAAGwAAYBUAABAAAAAmAAAACAAAAP//////////"/>
              </a:ext>
            </a:extLst>
          </p:cNvSpPr>
          <p:nvPr/>
        </p:nvSpPr>
        <p:spPr>
          <a:xfrm>
            <a:off x="2743200" y="2560320"/>
            <a:ext cx="164592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onPress calls</a:t>
            </a:r>
            <a:endParaRPr lang="en-us" sz="1100" cap="none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setCount(1)</a:t>
            </a:r>
            <a:endParaRPr lang="en-us" sz="1100" cap="none"/>
          </a:p>
        </p:txBody>
      </p:sp>
      <p:pic>
        <p:nvPicPr>
          <p:cNvPr id="15" name="Image 1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NgbAABYDgAAQB0AAM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331720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Shape 1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QB0AAHAIAAAQKQAAEBcAABAAAAAmAAAACAAAAP//////////"/>
              </a:ext>
            </a:extLst>
          </p:cNvSpPr>
          <p:nvPr/>
        </p:nvSpPr>
        <p:spPr>
          <a:xfrm>
            <a:off x="4754880" y="137160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vZP5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yiK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vZP5AP///wEAAAAAAAAAAAAAAAAAAAAAAAAAAAAAAAAAAAAAAAAAAAAAAAB/f38A5+bmA8zMzADAwP8Af39/AAAAAAAAAAAAAAAAAAAAAAAAAAAAIQAAABgAAAAUAAAAeCEAAEgJAADYJAAAqAwAABAAAAAmAAAACAAAAP//////////"/>
              </a:ext>
            </a:extLst>
          </p:cNvSpPr>
          <p:nvPr/>
        </p:nvSpPr>
        <p:spPr>
          <a:xfrm>
            <a:off x="5440680" y="1508760"/>
            <a:ext cx="548640" cy="548640"/>
          </a:xfrm>
          <a:prstGeom prst="ellipse">
            <a:avLst/>
          </a:prstGeom>
          <a:solidFill>
            <a:srgbClr val="BD93F9"/>
          </a:solidFill>
          <a:ln>
            <a:noFill/>
          </a:ln>
          <a:effectLst/>
        </p:spPr>
      </p:sp>
      <p:sp>
        <p:nvSpPr>
          <p:cNvPr id="18" name="Text 1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EAAEgJAADYJAAAqAwAABAAAAAmAAAACAAAAP//////////"/>
              </a:ext>
            </a:extLst>
          </p:cNvSpPr>
          <p:nvPr/>
        </p:nvSpPr>
        <p:spPr>
          <a:xfrm>
            <a:off x="5440680" y="15087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b="1" cap="none">
                <a:solidFill>
                  <a:srgbClr val="FFFFFF"/>
                </a:solidFill>
              </a:rPr>
              <a:t>3</a:t>
            </a:r>
            <a:endParaRPr lang="en-us" cap="none"/>
          </a:p>
        </p:txBody>
      </p:sp>
      <p:sp>
        <p:nvSpPr>
          <p:cNvPr id="19" name="Text 15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B4AAIANAAA4KAAAeA8AABAAAAAmAAAACAAAAP//////////"/>
              </a:ext>
            </a:extLst>
          </p:cNvSpPr>
          <p:nvPr/>
        </p:nvSpPr>
        <p:spPr>
          <a:xfrm>
            <a:off x="4892040" y="2194560"/>
            <a:ext cx="16459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b="1" cap="none">
                <a:solidFill>
                  <a:srgbClr val="212529"/>
                </a:solidFill>
              </a:rPr>
              <a:t>React updates</a:t>
            </a:r>
            <a:endParaRPr lang="en-us" sz="1200" cap="none"/>
          </a:p>
        </p:txBody>
      </p:sp>
      <p:sp>
        <p:nvSpPr>
          <p:cNvPr id="20" name="Text 16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B4AAMAPAAA4KAAAYBUAABAAAAAmAAAACAAAAP//////////"/>
              </a:ext>
            </a:extLst>
          </p:cNvSpPr>
          <p:nvPr/>
        </p:nvSpPr>
        <p:spPr>
          <a:xfrm>
            <a:off x="4892040" y="2560320"/>
            <a:ext cx="164592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New value: 1</a:t>
            </a:r>
            <a:endParaRPr lang="en-us" sz="1100" cap="none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Schedule re-render</a:t>
            </a:r>
            <a:endParaRPr lang="en-us" sz="1100" cap="none"/>
          </a:p>
        </p:txBody>
      </p:sp>
      <p:pic>
        <p:nvPicPr>
          <p:cNvPr id="21" name="Image 2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ApAABYDgAAeCoAAMA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228600" cy="228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Shape 1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eCoAAHAIAABINgAAEBcAABAAAAAmAAAACAAAAP//////////"/>
              </a:ext>
            </a:extLst>
          </p:cNvSpPr>
          <p:nvPr/>
        </p:nvSpPr>
        <p:spPr>
          <a:xfrm>
            <a:off x="6903720" y="1371600"/>
            <a:ext cx="192024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sC4AAEgJAAAQMgAAqAwAABAAAAAmAAAACAAAAP//////////"/>
              </a:ext>
            </a:extLst>
          </p:cNvSpPr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24" name="Text 1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ytL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4AAEgJAAAQMgAAqAwAABAAAAAmAAAACAAAAP//////////"/>
              </a:ext>
            </a:extLst>
          </p:cNvSpPr>
          <p:nvPr/>
        </p:nvSpPr>
        <p:spPr>
          <a:xfrm>
            <a:off x="7589520" y="150876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b="1" cap="none">
                <a:solidFill>
                  <a:srgbClr val="FFFFFF"/>
                </a:solidFill>
              </a:rPr>
              <a:t>4</a:t>
            </a:r>
            <a:endParaRPr lang="en-us" cap="none"/>
          </a:p>
        </p:txBody>
      </p:sp>
      <p:sp>
        <p:nvSpPr>
          <p:cNvPr id="25" name="Text 20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sAAIANAABwNQAAeA8AABAAAAAmAAAACAAAAP//////////"/>
              </a:ext>
            </a:extLst>
          </p:cNvSpPr>
          <p:nvPr/>
        </p:nvSpPr>
        <p:spPr>
          <a:xfrm>
            <a:off x="7040880" y="2194560"/>
            <a:ext cx="164592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1200" b="1" cap="none">
                <a:solidFill>
                  <a:srgbClr val="212529"/>
                </a:solidFill>
              </a:rPr>
              <a:t>Re-render!</a:t>
            </a:r>
            <a:endParaRPr lang="en-us" sz="1200" cap="none"/>
          </a:p>
        </p:txBody>
      </p:sp>
      <p:sp>
        <p:nvSpPr>
          <p:cNvPr id="26" name="Text 2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sAAMAPAABwNQAAYBUAABAAAAAmAAAACAAAAP//////////"/>
              </a:ext>
            </a:extLst>
          </p:cNvSpPr>
          <p:nvPr/>
        </p:nvSpPr>
        <p:spPr>
          <a:xfrm>
            <a:off x="7040880" y="2560320"/>
            <a:ext cx="164592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Component re-renders</a:t>
            </a:r>
            <a:endParaRPr lang="en-us" sz="1100" cap="none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cap="none">
                <a:solidFill>
                  <a:srgbClr val="8B95A5"/>
                </a:solidFill>
              </a:rPr>
              <a:t>with new state</a:t>
            </a:r>
            <a:endParaRPr lang="en-us" sz="1100" cap="none"/>
          </a:p>
        </p:txBody>
      </p:sp>
      <p:sp>
        <p:nvSpPr>
          <p:cNvPr id="27" name="Shape 2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MAYAABwNQAAsBwAABAAAAAmAAAACAAAAP//////////"/>
              </a:ext>
            </a:extLst>
          </p:cNvSpPr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0AIAAMAYAAAmAwAAsBwAABAAAAAmAAAACAAAAP//////////"/>
              </a:ext>
            </a:extLst>
          </p:cNvSpPr>
          <p:nvPr/>
        </p:nvSpPr>
        <p:spPr>
          <a:xfrm>
            <a:off x="457200" y="4023360"/>
            <a:ext cx="54610" cy="6400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pic>
        <p:nvPicPr>
          <p:cNvPr id="29" name="Image 3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DAAM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BQGQAAMAYAAEgb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0" name="Text 2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TUM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MAYAADAMwAAsBwAABAAAAAmAAAACAAAAP//////////"/>
              </a:ext>
            </a:extLst>
          </p:cNvSpPr>
          <p:nvPr/>
        </p:nvSpPr>
        <p:spPr>
          <a:xfrm>
            <a:off x="1097280" y="4023360"/>
            <a:ext cx="73152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495057"/>
                </a:solidFill>
              </a:rPr>
              <a:t>Key rule: NEVER modify state directly (count = 5). Always use the setter (setCount(5))!</a:t>
            </a:r>
            <a:endParaRPr lang="en-us" sz="1300" cap="none"/>
          </a:p>
        </p:txBody>
      </p:sp>
      <p:sp>
        <p:nvSpPr>
          <p:cNvPr id="31" name="Text 2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6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RULES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Rules of Hooks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OAHAABwNQAAWA4AABAAAAAmAAAACAAAAP//////////"/>
              </a:ext>
            </a:extLst>
          </p:cNvSpPr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OAHAAAmAwAAWA4AABAAAAAmAAAACAAAAP//////////"/>
              </a:ext>
            </a:extLst>
          </p:cNvSpPr>
          <p:nvPr/>
        </p:nvSpPr>
        <p:spPr>
          <a:xfrm>
            <a:off x="457200" y="1280160"/>
            <a:ext cx="54610" cy="105156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CgIAAB4BgAAIAoAABAAAAAmAAAACAAAAP//////////"/>
              </a:ext>
            </a:extLst>
          </p:cNvSpPr>
          <p:nvPr/>
        </p:nvSpPr>
        <p:spPr>
          <a:xfrm>
            <a:off x="685800" y="1325880"/>
            <a:ext cx="3657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61DAFB"/>
                </a:solidFill>
              </a:rPr>
              <a:t>1.</a:t>
            </a:r>
            <a:endParaRPr lang="en-us" sz="16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CgIAABwGgAAIAoAABAAAAAmAAAACAAAAP//////////"/>
              </a:ext>
            </a:extLst>
          </p:cNvSpPr>
          <p:nvPr/>
        </p:nvSpPr>
        <p:spPr>
          <a:xfrm>
            <a:off x="1097280" y="132588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FFFFFF"/>
                </a:solidFill>
              </a:rPr>
              <a:t>Only at the top level of component</a:t>
            </a:r>
            <a:endParaRPr lang="en-us" sz="1400" cap="none"/>
          </a:p>
        </p:txBody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CAKAABwGgAA0AsAABAAAAAmAAAACAAAAP//////////"/>
              </a:ext>
            </a:extLst>
          </p:cNvSpPr>
          <p:nvPr/>
        </p:nvSpPr>
        <p:spPr>
          <a:xfrm>
            <a:off x="1097280" y="164592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Not in if, not in for, not in nested functions.</a:t>
            </a:r>
            <a:endParaRPr lang="en-us" sz="11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B0AAHAIAADAMwAAIAoAABAAAAAmAAAACAAAAP//////////"/>
              </a:ext>
            </a:extLst>
          </p:cNvSpPr>
          <p:nvPr/>
        </p:nvSpPr>
        <p:spPr>
          <a:xfrm>
            <a:off x="4754880" y="13716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[x, setX] = useState(0);</a:t>
            </a:r>
            <a:endParaRPr lang="en-us" sz="1000" cap="none"/>
          </a:p>
        </p:txBody>
      </p:sp>
      <p:sp>
        <p:nvSpPr>
          <p:cNvPr id="10" name="Text 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B0AAPgKAADAMwAAqAwAABAAAAAmAAAACAAAAP//////////"/>
              </a:ext>
            </a:extLst>
          </p:cNvSpPr>
          <p:nvPr/>
        </p:nvSpPr>
        <p:spPr>
          <a:xfrm>
            <a:off x="4754880" y="178308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E94560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if (ready) { useState(0); }</a:t>
            </a:r>
            <a:endParaRPr lang="en-us" sz="1000" cap="none"/>
          </a:p>
        </p:txBody>
      </p:sp>
      <p:sp>
        <p:nvSpPr>
          <p:cNvPr id="11" name="Shape 9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DAPAABwNQAAqBUAABAAAAAmAAAACAAAAP//////////"/>
              </a:ext>
            </a:extLst>
          </p:cNvSpPr>
          <p:nvPr/>
        </p:nvSpPr>
        <p:spPr>
          <a:xfrm>
            <a:off x="457200" y="2468880"/>
            <a:ext cx="8229600" cy="10515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2" name="Shape 10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DAPAAAmAwAAqBUAABAAAAAmAAAACAAAAP//////////"/>
              </a:ext>
            </a:extLst>
          </p:cNvSpPr>
          <p:nvPr/>
        </p:nvSpPr>
        <p:spPr>
          <a:xfrm>
            <a:off x="457200" y="2468880"/>
            <a:ext cx="54610" cy="105156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HgPAAB4BgAAcBEAABAAAAAmAAAACAAAAP//////////"/>
              </a:ext>
            </a:extLst>
          </p:cNvSpPr>
          <p:nvPr/>
        </p:nvSpPr>
        <p:spPr>
          <a:xfrm>
            <a:off x="685800" y="2514600"/>
            <a:ext cx="3657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61DAFB"/>
                </a:solidFill>
              </a:rPr>
              <a:t>2.</a:t>
            </a:r>
            <a:endParaRPr lang="en-us" sz="16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HgPAABwGgAAcBEAABAAAAAmAAAACAAAAP//////////"/>
              </a:ext>
            </a:extLst>
          </p:cNvSpPr>
          <p:nvPr/>
        </p:nvSpPr>
        <p:spPr>
          <a:xfrm>
            <a:off x="1097280" y="251460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FFFFFF"/>
                </a:solidFill>
              </a:rPr>
              <a:t>Only in functional components</a:t>
            </a:r>
            <a:endParaRPr lang="en-us" sz="1400" cap="none"/>
          </a:p>
        </p:txBody>
      </p:sp>
      <p:sp>
        <p:nvSpPr>
          <p:cNvPr id="15" name="Text 13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HARAABwGgAAIBMAABAAAAAmAAAACAAAAP//////////"/>
              </a:ext>
            </a:extLst>
          </p:cNvSpPr>
          <p:nvPr/>
        </p:nvSpPr>
        <p:spPr>
          <a:xfrm>
            <a:off x="1097280" y="283464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Not in regular JS functions, not in classes.</a:t>
            </a:r>
            <a:endParaRPr lang="en-us" sz="11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B0AAMAPAADAMwAAcBEAABAAAAAmAAAACAAAAP//////////"/>
              </a:ext>
            </a:extLst>
          </p:cNvSpPr>
          <p:nvPr/>
        </p:nvSpPr>
        <p:spPr>
          <a:xfrm>
            <a:off x="4754880" y="256032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function MyComp() { useState(); }</a:t>
            </a:r>
            <a:endParaRPr lang="en-us" sz="10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B0AAEgSAADAMwAA+BMAABAAAAAmAAAACAAAAP//////////"/>
              </a:ext>
            </a:extLst>
          </p:cNvSpPr>
          <p:nvPr/>
        </p:nvSpPr>
        <p:spPr>
          <a:xfrm>
            <a:off x="4754880" y="2971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E94560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function helper() { useState(); }</a:t>
            </a:r>
            <a:endParaRPr lang="en-us" sz="1000" cap="none"/>
          </a:p>
        </p:txBody>
      </p:sp>
      <p:sp>
        <p:nvSpPr>
          <p:cNvPr id="18" name="Shape 1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L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IAWAABwNQAA+BwAABAAAAAmAAAACAAAAP//////////"/>
              </a:ext>
            </a:extLst>
          </p:cNvSpPr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9" name="Shape 1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IAWAAAmAwAA+BwAABAAAAAmAAAACAAAAP//////////"/>
              </a:ext>
            </a:extLst>
          </p:cNvSpPr>
          <p:nvPr/>
        </p:nvSpPr>
        <p:spPr>
          <a:xfrm>
            <a:off x="457200" y="3657600"/>
            <a:ext cx="54610" cy="105156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20" name="Text 1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MgWAAB4BgAAwBgAABAAAAAmAAAACAAAAP//////////"/>
              </a:ext>
            </a:extLst>
          </p:cNvSpPr>
          <p:nvPr/>
        </p:nvSpPr>
        <p:spPr>
          <a:xfrm>
            <a:off x="685800" y="3703320"/>
            <a:ext cx="36576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61DAFB"/>
                </a:solidFill>
              </a:rPr>
              <a:t>3.</a:t>
            </a:r>
            <a:endParaRPr lang="en-us" sz="160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MgWAABwGgAAwBgAABAAAAAmAAAACAAAAP//////////"/>
              </a:ext>
            </a:extLst>
          </p:cNvSpPr>
          <p:nvPr/>
        </p:nvSpPr>
        <p:spPr>
          <a:xfrm>
            <a:off x="1097280" y="3703320"/>
            <a:ext cx="32004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FFFFFF"/>
                </a:solidFill>
              </a:rPr>
              <a:t>Prefiks 'use'</a:t>
            </a:r>
            <a:endParaRPr lang="en-us" sz="1400" cap="none"/>
          </a:p>
        </p:txBody>
      </p:sp>
      <p:sp>
        <p:nvSpPr>
          <p:cNvPr id="22" name="Text 20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wAYAAMAYAABwGgAAcBoAABAAAAAmAAAACAAAAP//////////"/>
              </a:ext>
            </a:extLst>
          </p:cNvSpPr>
          <p:nvPr/>
        </p:nvSpPr>
        <p:spPr>
          <a:xfrm>
            <a:off x="1097280" y="4023360"/>
            <a:ext cx="3200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Custom hooks must start with 'use'</a:t>
            </a:r>
            <a:endParaRPr lang="en-us" sz="1100" cap="none"/>
          </a:p>
        </p:txBody>
      </p:sp>
      <p:sp>
        <p:nvSpPr>
          <p:cNvPr id="23" name="Text 2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B0AABAXAADAMwAAwBgAABAAAAAmAAAACAAAAP//////////"/>
              </a:ext>
            </a:extLst>
          </p:cNvSpPr>
          <p:nvPr/>
        </p:nvSpPr>
        <p:spPr>
          <a:xfrm>
            <a:off x="4754880" y="374904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function useTrips() { ... }</a:t>
            </a:r>
            <a:endParaRPr lang="en-us" sz="1000" cap="none"/>
          </a:p>
        </p:txBody>
      </p:sp>
      <p:sp>
        <p:nvSpPr>
          <p:cNvPr id="24" name="Text 2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B0AAJgZAADAMwAASBsAABAAAAAmAAAACAAAAP//////////"/>
              </a:ext>
            </a:extLst>
          </p:cNvSpPr>
          <p:nvPr/>
        </p:nvSpPr>
        <p:spPr>
          <a:xfrm>
            <a:off x="4754880" y="416052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E94560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function getTrips() { useState(); }</a:t>
            </a:r>
            <a:endParaRPr lang="en-us" sz="1000" cap="none"/>
          </a:p>
        </p:txBody>
      </p:sp>
      <p:sp>
        <p:nvSpPr>
          <p:cNvPr id="25" name="Text 2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P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7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NACAACQJAAAsBMAABAAAAAmAAAACAAAAP//////////"/>
              </a:ext>
            </a:extLst>
          </p:cNvSpPr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1B7YH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MgWAADoBQAAeCEAAJgQ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960120"/>
            <a:ext cx="1737360" cy="17373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JASAABwNQAAYBUAABAAAAAmAAAACAAAAP//////////"/>
              </a:ext>
            </a:extLst>
          </p:cNvSpPr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b="1" cap="none" spc="80">
                <a:solidFill>
                  <a:srgbClr val="61DAFB"/>
                </a:solidFill>
              </a:rPr>
              <a:t>LIVE CODING</a:t>
            </a:r>
            <a:endParaRPr lang="en-us" sz="1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AUAABwNQAAMBgAABAAAAAmAAAACAAAAP//////////"/>
              </a:ext>
            </a:extLst>
          </p:cNvSpPr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FFFFFF"/>
                </a:solidFill>
              </a:rPr>
              <a:t>Counter with useState</a:t>
            </a:r>
            <a:endParaRPr lang="en-us" sz="28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MAYAACgMgAAABsAABAAAAAmAAAACAAAAP//////////"/>
              </a:ext>
            </a:extLst>
          </p:cNvSpPr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8B95A5"/>
                </a:solidFill>
              </a:rPr>
              <a:t>You press a button -&gt; number goes up. Magic? No - it's state!</a:t>
            </a:r>
            <a:endParaRPr lang="en-us" sz="13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ylTR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8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COMPONENT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TextInput - text fields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QAAAA0AAAAAkAAAAEgAAACQAAAASAAAAAAAAAAAAAAAAAAAAAEAAABQAAAAexSuR+F6tD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4gIAAOkHAADSIQAAdxgAABAAAAAmAAAACAAAAP//////////"/>
              </a:ext>
            </a:extLst>
          </p:cNvSpPr>
          <p:nvPr/>
        </p:nvSpPr>
        <p:spPr>
          <a:xfrm>
            <a:off x="468630" y="1285875"/>
            <a:ext cx="5029200" cy="2691130"/>
          </a:xfrm>
          <a:prstGeom prst="roundRect">
            <a:avLst>
              <a:gd name="adj" fmla="val 4000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LgIAABYBQAAkAkAABAAAAAmAAAACAAAAP//////////"/>
              </a:ext>
            </a:extLst>
          </p:cNvSpPr>
          <p:nvPr/>
        </p:nvSpPr>
        <p:spPr>
          <a:xfrm>
            <a:off x="731520" y="14173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oAUAALgIAAB4BgAAkAkAABAAAAAmAAAACAAAAP//////////"/>
              </a:ext>
            </a:extLst>
          </p:cNvSpPr>
          <p:nvPr/>
        </p:nvSpPr>
        <p:spPr>
          <a:xfrm>
            <a:off x="914400" y="14173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f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wAYAALgIAACYBwAAkAkAABAAAAAmAAAACAAAAP//////////"/>
              </a:ext>
            </a:extLst>
          </p:cNvSpPr>
          <p:nvPr/>
        </p:nvSpPr>
        <p:spPr>
          <a:xfrm>
            <a:off x="1097280" y="14173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JAJAACgIAAA0BQAAAAAAAAmAAAACAAAAP//////////"/>
              </a:ext>
            </a:extLst>
          </p:cNvSpPr>
          <p:nvPr/>
        </p:nvSpPr>
        <p:spPr>
          <a:xfrm>
            <a:off x="731520" y="1554480"/>
            <a:ext cx="4572000" cy="1828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import 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{ TextInput } </a:t>
            </a: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from </a:t>
            </a: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'react-native';</a:t>
            </a:r>
            <a:br/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&lt;TextInput</a:t>
            </a:r>
            <a:br/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placeholder</a:t>
            </a:r>
            <a:r>
              <a:rPr lang="en-us" sz="12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="Wpisz tekst..."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value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={text}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onChangeText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={setText}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style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={styles.input}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/&gt;</a:t>
            </a:r>
            <a:endParaRPr lang="en-us" sz="1200" cap="none"/>
          </a:p>
        </p:txBody>
      </p:sp>
      <p:sp>
        <p:nvSpPr>
          <p:cNvPr id="9" name="Shape 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cCMAAHAIAACQNgAAGAwAABAAAAAmAAAACAAAAP//////////"/>
              </a:ext>
            </a:extLst>
          </p:cNvSpPr>
          <p:nvPr/>
        </p:nvSpPr>
        <p:spPr>
          <a:xfrm>
            <a:off x="5760720" y="1371600"/>
            <a:ext cx="31089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QAALgIAAAoNQAASwoAABAAAAAmAAAACAAAAP//////////"/>
              </a:ext>
            </a:extLst>
          </p:cNvSpPr>
          <p:nvPr/>
        </p:nvSpPr>
        <p:spPr>
          <a:xfrm>
            <a:off x="5897880" y="1417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value</a:t>
            </a:r>
            <a:endParaRPr lang="en-us" sz="13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QAAEsKAAAoNQAAswsAABAAAAAmAAAACAAAAP//////////"/>
              </a:ext>
            </a:extLst>
          </p:cNvSpPr>
          <p:nvPr/>
        </p:nvSpPr>
        <p:spPr>
          <a:xfrm>
            <a:off x="5897880" y="1673225"/>
            <a:ext cx="2743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Current text (controlled)</a:t>
            </a:r>
            <a:endParaRPr lang="en-us" sz="1100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cCMAAPAMAACQNgAAmBAAABAAAAAmAAAACAAAAP//////////"/>
              </a:ext>
            </a:extLst>
          </p:cNvSpPr>
          <p:nvPr/>
        </p:nvSpPr>
        <p:spPr>
          <a:xfrm>
            <a:off x="5760720" y="2103120"/>
            <a:ext cx="31089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QAADgNAAAoNQAAyw4AABAAAAAmAAAACAAAAP//////////"/>
              </a:ext>
            </a:extLst>
          </p:cNvSpPr>
          <p:nvPr/>
        </p:nvSpPr>
        <p:spPr>
          <a:xfrm>
            <a:off x="5897880" y="214884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onChangeText</a:t>
            </a:r>
            <a:endParaRPr lang="en-us" sz="1300" cap="none"/>
          </a:p>
        </p:txBody>
      </p:sp>
      <p:sp>
        <p:nvSpPr>
          <p:cNvPr id="14" name="Text 1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QAAMsOAAAoNQAAMxAAABAAAAAmAAAACAAAAP//////////"/>
              </a:ext>
            </a:extLst>
          </p:cNvSpPr>
          <p:nvPr/>
        </p:nvSpPr>
        <p:spPr>
          <a:xfrm>
            <a:off x="5897880" y="2404745"/>
            <a:ext cx="2743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Callback on every change</a:t>
            </a:r>
            <a:endParaRPr lang="en-us" sz="1100" cap="none"/>
          </a:p>
        </p:txBody>
      </p:sp>
      <p:sp>
        <p:nvSpPr>
          <p:cNvPr id="15" name="Shape 1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7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cCMAAHARAACQNgAAGBUAABAAAAAmAAAACAAAAP//////////"/>
              </a:ext>
            </a:extLst>
          </p:cNvSpPr>
          <p:nvPr/>
        </p:nvSpPr>
        <p:spPr>
          <a:xfrm>
            <a:off x="5760720" y="2834640"/>
            <a:ext cx="31089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b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QAALgRAAAoNQAASxMAABAAAAAmAAAACAAAAP//////////"/>
              </a:ext>
            </a:extLst>
          </p:cNvSpPr>
          <p:nvPr/>
        </p:nvSpPr>
        <p:spPr>
          <a:xfrm>
            <a:off x="5897880" y="288036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placeholder</a:t>
            </a:r>
            <a:endParaRPr lang="en-us" sz="13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QAAEsTAAAoNQAAsxQAABAAAAAmAAAACAAAAP//////////"/>
              </a:ext>
            </a:extLst>
          </p:cNvSpPr>
          <p:nvPr/>
        </p:nvSpPr>
        <p:spPr>
          <a:xfrm>
            <a:off x="5897880" y="3136265"/>
            <a:ext cx="27432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Hint text in empty field</a:t>
            </a:r>
            <a:endParaRPr lang="en-us" sz="1100" cap="none"/>
          </a:p>
        </p:txBody>
      </p:sp>
      <p:sp>
        <p:nvSpPr>
          <p:cNvPr id="18" name="Shape 1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j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2QIAAH0ZAAB5NQAAbR0AABAAAAAmAAAACAAAAP//////////"/>
              </a:ext>
            </a:extLst>
          </p:cNvSpPr>
          <p:nvPr/>
        </p:nvSpPr>
        <p:spPr>
          <a:xfrm>
            <a:off x="462915" y="4143375"/>
            <a:ext cx="8229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7h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7hsAP///wEAAAAAAAAAAAAAAAAAAAAAAAAAAAAAAAAAAAAAAAAAAAAAAAB/f38A5+bmA8zMzADAwP8Af39/AAAAAAAAAAAAAAAAAAAAAAAAAAAAIQAAABgAAAAUAAAA0AIAADAYAAAmAwAAIBwAABAAAAAmAAAACAAAAP//////////"/>
              </a:ext>
            </a:extLst>
          </p:cNvSpPr>
          <p:nvPr/>
        </p:nvSpPr>
        <p:spPr>
          <a:xfrm>
            <a:off x="457200" y="3931920"/>
            <a:ext cx="54610" cy="640080"/>
          </a:xfrm>
          <a:prstGeom prst="rect">
            <a:avLst/>
          </a:prstGeom>
          <a:solidFill>
            <a:srgbClr val="FFB86C"/>
          </a:solidFill>
          <a:ln>
            <a:noFill/>
          </a:ln>
          <a:effectLst/>
        </p:spPr>
      </p:sp>
      <p:sp>
        <p:nvSpPr>
          <p:cNvPr id="20" name="Text 1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DAYAABQNAAAIBwAABAAAAAmAAAACAAAAP//////////"/>
              </a:ext>
            </a:extLst>
          </p:cNvSpPr>
          <p:nvPr/>
        </p:nvSpPr>
        <p:spPr>
          <a:xfrm>
            <a:off x="731520" y="3931920"/>
            <a:ext cx="77724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495057"/>
                </a:solidFill>
              </a:rPr>
              <a:t>React Native uses onChangeText (not onChange like web!). You get a string directly, not an event.</a:t>
            </a:r>
            <a:endParaRPr lang="en-us" sz="1200" cap="none"/>
          </a:p>
        </p:txBody>
      </p:sp>
      <p:sp>
        <p:nvSpPr>
          <p:cNvPr id="21" name="Text 1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9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PATTERN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Controlled vs uncontrolled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T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AIAAAAGwAAcBoAABAAAAAmAAAACAAAAP//////////"/>
              </a:ext>
            </a:extLst>
          </p:cNvSpPr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0AIAAHAIAAAAGwAAuAgAABAAAAAmAAAACAAAAP//////////"/>
              </a:ext>
            </a:extLst>
          </p:cNvSpPr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50FA7B"/>
          </a:solidFill>
          <a:ln>
            <a:noFill/>
          </a:ln>
          <a:effectLst/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6CPkI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CQCQAA6AUAAIg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xsW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YAAJAJAABYFwAAiAsAABAAAAAmAAAACAAAAP//////////"/>
              </a:ext>
            </a:extLst>
          </p:cNvSpPr>
          <p:nvPr/>
        </p:nvSpPr>
        <p:spPr>
          <a:xfrm>
            <a:off x="1051560" y="155448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50FA7B"/>
                </a:solidFill>
              </a:rPr>
              <a:t>Controlled (recommended)</a:t>
            </a:r>
            <a:endParaRPr lang="en-us" sz="14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GAMAABQGQAAwA8AABAAAAAmAAAACAAAAP//////////"/>
              </a:ext>
            </a:extLst>
          </p:cNvSpPr>
          <p:nvPr/>
        </p:nvSpPr>
        <p:spPr>
          <a:xfrm>
            <a:off x="640080" y="2011680"/>
            <a:ext cx="34747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React manages the value.</a:t>
            </a:r>
            <a:endParaRPr lang="en-us" sz="12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value + onChangeText = full control</a:t>
            </a:r>
            <a:endParaRPr lang="en-us" sz="12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GJ+6aRMAAAAlAAAAZQAAAA0AAAAAkAAAAEgAAACQAAAASAAAAAAAAAAAAAAAAAAAAAEAAABQAAAAb9Of/UgRwT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8AMAAFAQAABQGQAAwBgAABAAAAAmAAAACAAAAP//////////"/>
              </a:ext>
            </a:extLst>
          </p:cNvSpPr>
          <p:nvPr/>
        </p:nvSpPr>
        <p:spPr>
          <a:xfrm>
            <a:off x="640080" y="265176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10" name="Shape 7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oAUAACgRAAB4BgAAABIAABAAAAAmAAAACAAAAP//////////"/>
              </a:ext>
            </a:extLst>
          </p:cNvSpPr>
          <p:nvPr/>
        </p:nvSpPr>
        <p:spPr>
          <a:xfrm>
            <a:off x="914400" y="27889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11" name="Shape 8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wAYAACgRAACYBwAAABIAABAAAAAmAAAACAAAAP//////////"/>
              </a:ext>
            </a:extLst>
          </p:cNvSpPr>
          <p:nvPr/>
        </p:nvSpPr>
        <p:spPr>
          <a:xfrm>
            <a:off x="1097280" y="27889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12" name="Shape 9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4AcAACgRAAC4CAAAABIAABAAAAAmAAAACAAAAP//////////"/>
              </a:ext>
            </a:extLst>
          </p:cNvSpPr>
          <p:nvPr/>
        </p:nvSpPr>
        <p:spPr>
          <a:xfrm>
            <a:off x="1280160" y="27889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3" name="Text 1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LgRAAAwGAAAeBgAABAAAAAmAAAACAAAAP//////////"/>
              </a:ext>
            </a:extLst>
          </p:cNvSpPr>
          <p:nvPr/>
        </p:nvSpPr>
        <p:spPr>
          <a:xfrm>
            <a:off x="822960" y="2880360"/>
            <a:ext cx="310896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[name, setName]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= useState('');</a:t>
            </a:r>
            <a:endParaRPr lang="en-us" sz="1100" cap="none"/>
          </a:p>
          <a:p>
            <a:pPr marL="0" indent="0">
              <a:buNone/>
            </a:pP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&lt;TextInput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value={name}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onChangeText={setName}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/&gt;</a:t>
            </a:r>
            <a:endParaRPr lang="en-us" sz="1100" cap="none"/>
          </a:p>
        </p:txBody>
      </p:sp>
      <p:sp>
        <p:nvSpPr>
          <p:cNvPr id="14" name="Shape 11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B0AAHAIAACQNgAAcBoAABAAAAAmAAAACAAAAP//////////"/>
              </a:ext>
            </a:extLst>
          </p:cNvSpPr>
          <p:nvPr/>
        </p:nvSpPr>
        <p:spPr>
          <a:xfrm>
            <a:off x="4846320" y="1371600"/>
            <a:ext cx="402336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i5W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5WlAP///wEAAAAAAAAAAAAAAAAAAAAAAAAAAAAAAAAAAAAAAAAAAAAAAAB/f38A5+bmA8zMzADAwP8Af39/AAAAAAAAAAAAAAAAAAAAAAAAAAAAIQAAABgAAAAUAAAA0B0AAHAIAACQNgAAuAgAABAAAAAmAAAACAAAAP//////////"/>
              </a:ext>
            </a:extLst>
          </p:cNvSpPr>
          <p:nvPr/>
        </p:nvSpPr>
        <p:spPr>
          <a:xfrm>
            <a:off x="4846320" y="1371600"/>
            <a:ext cx="4023360" cy="45720"/>
          </a:xfrm>
          <a:prstGeom prst="rect">
            <a:avLst/>
          </a:prstGeom>
          <a:solidFill>
            <a:srgbClr val="8B95A5"/>
          </a:solidFill>
          <a:ln>
            <a:noFill/>
          </a:ln>
          <a:effectLst/>
        </p:spPr>
      </p:sp>
      <p:pic>
        <p:nvPicPr>
          <p:cNvPr id="16" name="Image 1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DAAM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eAACQCQAA6CAAAIgL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448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 13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EAAJAJAABYMgAAiAsAABAAAAAmAAAACAAAAP//////////"/>
              </a:ext>
            </a:extLst>
          </p:cNvSpPr>
          <p:nvPr/>
        </p:nvSpPr>
        <p:spPr>
          <a:xfrm>
            <a:off x="5440680" y="155448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8B95A5"/>
                </a:solidFill>
              </a:rPr>
              <a:t>Uncontrolled</a:t>
            </a:r>
            <a:endParaRPr lang="en-us" sz="1400" cap="none"/>
          </a:p>
        </p:txBody>
      </p:sp>
      <p:sp>
        <p:nvSpPr>
          <p:cNvPr id="18" name="Text 1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sX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4AAGAMAABQNAAAwA8AABAAAAAmAAAACAAAAP//////////"/>
              </a:ext>
            </a:extLst>
          </p:cNvSpPr>
          <p:nvPr/>
        </p:nvSpPr>
        <p:spPr>
          <a:xfrm>
            <a:off x="5029200" y="2011680"/>
            <a:ext cx="347472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Input holds its own value.</a:t>
            </a:r>
            <a:endParaRPr lang="en-us" sz="12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200" cap="none">
                <a:solidFill>
                  <a:srgbClr val="8B95A5"/>
                </a:solidFill>
              </a:rPr>
              <a:t>Without value - React doesn't know what's typed.</a:t>
            </a:r>
            <a:endParaRPr lang="en-us" sz="1200" cap="none"/>
          </a:p>
        </p:txBody>
      </p:sp>
      <p:sp>
        <p:nvSpPr>
          <p:cNvPr id="19" name="Shape 15"/>
          <p:cNvSpPr>
            <a:extLst>
              <a:ext uri="smNativeData">
                <pr:smNativeData xmlns:pr="smNativeData" xmlns="smNativeData" val="SMDATA_15_GJ+6aRMAAAAlAAAAZQAAAA0AAAAAkAAAAEgAAACQAAAASAAAAAAAAAAAAAAAAAAAAAEAAABQAAAAb9Of/UgRwT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8B4AAFAQAADgNAAAwBgAABAAAAAmAAAACAAAAP//////////"/>
              </a:ext>
            </a:extLst>
          </p:cNvSpPr>
          <p:nvPr/>
        </p:nvSpPr>
        <p:spPr>
          <a:xfrm>
            <a:off x="5029200" y="2651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20" name="Shape 16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oCAAACgRAAB4IQAAABIAABAAAAAmAAAACAAAAP//////////"/>
              </a:ext>
            </a:extLst>
          </p:cNvSpPr>
          <p:nvPr/>
        </p:nvSpPr>
        <p:spPr>
          <a:xfrm>
            <a:off x="5303520" y="27889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21" name="Shape 17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wCEAACgRAACYIgAAABIAABAAAAAmAAAACAAAAP//////////"/>
              </a:ext>
            </a:extLst>
          </p:cNvSpPr>
          <p:nvPr/>
        </p:nvSpPr>
        <p:spPr>
          <a:xfrm>
            <a:off x="5486400" y="27889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22" name="Shape 18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4CIAACgRAAC4IwAAABIAABAAAAAmAAAACAAAAP//////////"/>
              </a:ext>
            </a:extLst>
          </p:cNvSpPr>
          <p:nvPr/>
        </p:nvSpPr>
        <p:spPr>
          <a:xfrm>
            <a:off x="5669280" y="27889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23" name="Text 1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AAALgRAADAMwAAeBgAABAAAAAmAAAACAAAAP//////////"/>
              </a:ext>
            </a:extLst>
          </p:cNvSpPr>
          <p:nvPr/>
        </p:nvSpPr>
        <p:spPr>
          <a:xfrm>
            <a:off x="5212080" y="2880360"/>
            <a:ext cx="320040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Brak state!</a:t>
            </a:r>
            <a:endParaRPr lang="en-us" sz="1100" cap="none"/>
          </a:p>
          <a:p>
            <a:pPr marL="0" indent="0">
              <a:buNone/>
            </a:pP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&lt;TextInput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placeholder="Wpisz..."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/&gt;</a:t>
            </a:r>
            <a:endParaRPr lang="en-us" sz="1100" cap="none"/>
          </a:p>
        </p:txBody>
      </p:sp>
      <p:sp>
        <p:nvSpPr>
          <p:cNvPr id="24" name="Text 2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10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NACAACQJAAAsBMAABAAAAAmAAAACAAAAP//////////"/>
              </a:ext>
            </a:extLst>
          </p:cNvSpPr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DAAM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gXAAB4BgAA6CAAAAgQ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51560"/>
            <a:ext cx="1554480" cy="1554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JASAABwNQAAYBUAABAAAAAmAAAACAAAAP//////////"/>
              </a:ext>
            </a:extLst>
          </p:cNvSpPr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b="1" cap="none" spc="80">
                <a:solidFill>
                  <a:srgbClr val="61DAFB"/>
                </a:solidFill>
              </a:rPr>
              <a:t>LIVE CODING</a:t>
            </a:r>
            <a:endParaRPr lang="en-us" sz="1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AUAABwNQAAMBgAABAAAAAmAAAACAAAAP//////////"/>
              </a:ext>
            </a:extLst>
          </p:cNvSpPr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FFFFFF"/>
                </a:solidFill>
              </a:rPr>
              <a:t>Controlled TextInput</a:t>
            </a:r>
            <a:endParaRPr lang="en-us" sz="28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wxZ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MAYAACgMgAAABsAABAAAAAmAAAACAAAAP//////////"/>
              </a:ext>
            </a:extLst>
          </p:cNvSpPr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8B95A5"/>
                </a:solidFill>
              </a:rPr>
              <a:t>You type -&gt; state updates -&gt; text below input changes</a:t>
            </a:r>
            <a:endParaRPr lang="en-us" sz="13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11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PROJECT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Form - Add a Trip</a:t>
            </a:r>
            <a:endParaRPr lang="en-us" sz="3000" cap="none"/>
          </a:p>
        </p:txBody>
      </p:sp>
      <p:sp>
        <p:nvSpPr>
          <p:cNvPr id="4" name="Text 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DAGAADYJAAA4AcAABAAAAAmAAAACAAAAP//////////"/>
              </a:ext>
            </a:extLst>
          </p:cNvSpPr>
          <p:nvPr/>
        </p:nvSpPr>
        <p:spPr>
          <a:xfrm>
            <a:off x="502920" y="1005840"/>
            <a:ext cx="54864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8B95A5"/>
                </a:solidFill>
              </a:rPr>
              <a:t>Fields matching TripCard props:</a:t>
            </a:r>
            <a:endParaRPr lang="en-us" sz="1400" cap="none"/>
          </a:p>
        </p:txBody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LgIAABwNQAAxQwAABAAAAAmAAAACAAAAP//////////"/>
              </a:ext>
            </a:extLst>
          </p:cNvSpPr>
          <p:nvPr/>
        </p:nvSpPr>
        <p:spPr>
          <a:xfrm>
            <a:off x="457200" y="1417320"/>
            <a:ext cx="8229600" cy="65849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WE1cT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CQCQAAMAYAANA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NUIAAAwGAAAhQoAABAAAAAmAAAACAAAAP//////////"/>
              </a:ext>
            </a:extLst>
          </p:cNvSpPr>
          <p:nvPr/>
        </p:nvSpPr>
        <p:spPr>
          <a:xfrm>
            <a:off x="1188720" y="1435735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212529"/>
                </a:solidFill>
              </a:rPr>
              <a:t>Trip title</a:t>
            </a:r>
            <a:endParaRPr lang="en-us" sz="14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xAa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L4KAACAMQAAJgwAABAAAAAmAAAACAAAAP//////////"/>
              </a:ext>
            </a:extLst>
          </p:cNvSpPr>
          <p:nvPr/>
        </p:nvSpPr>
        <p:spPr>
          <a:xfrm>
            <a:off x="1188720" y="1746250"/>
            <a:ext cx="6858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[title, setTitle] = useState('');</a:t>
            </a:r>
            <a:endParaRPr lang="en-us" sz="11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IANAABwNQAAjREAABAAAAAmAAAACAAAAP//////////"/>
              </a:ext>
            </a:extLst>
          </p:cNvSpPr>
          <p:nvPr/>
        </p:nvSpPr>
        <p:spPr>
          <a:xfrm>
            <a:off x="457200" y="2194560"/>
            <a:ext cx="8229600" cy="65849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NCg4K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BYDgAAMAYAAJgQ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3172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 7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J0NAAAwGAAATQ8AABAAAAAmAAAACAAAAP//////////"/>
              </a:ext>
            </a:extLst>
          </p:cNvSpPr>
          <p:nvPr/>
        </p:nvSpPr>
        <p:spPr>
          <a:xfrm>
            <a:off x="1188720" y="2212975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212529"/>
                </a:solidFill>
              </a:rPr>
              <a:t>Destination</a:t>
            </a:r>
            <a:endParaRPr lang="en-us" sz="1400" cap="none"/>
          </a:p>
        </p:txBody>
      </p:sp>
      <p:sp>
        <p:nvSpPr>
          <p:cNvPr id="12" name="Text 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RAbB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IYPAACAMQAA7hAAABAAAAAmAAAACAAAAP//////////"/>
              </a:ext>
            </a:extLst>
          </p:cNvSpPr>
          <p:nvPr/>
        </p:nvSpPr>
        <p:spPr>
          <a:xfrm>
            <a:off x="1188720" y="2523490"/>
            <a:ext cx="6858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[destination, setDest] = useState('');</a:t>
            </a:r>
            <a:endParaRPr lang="en-us" sz="1100" cap="none"/>
          </a:p>
        </p:txBody>
      </p:sp>
      <p:sp>
        <p:nvSpPr>
          <p:cNvPr id="13" name="Shape 9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EgSAABwNQAAVRYAABAAAAAmAAAACAAAAP//////////"/>
              </a:ext>
            </a:extLst>
          </p:cNvSpPr>
          <p:nvPr/>
        </p:nvSpPr>
        <p:spPr>
          <a:xfrm>
            <a:off x="457200" y="2971800"/>
            <a:ext cx="8229600" cy="65849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9k/n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AgEwAAMAYAAGAV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" name="Text 10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2T+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GUSAAAwGAAAFRQAABAAAAAmAAAACAAAAP//////////"/>
              </a:ext>
            </a:extLst>
          </p:cNvSpPr>
          <p:nvPr/>
        </p:nvSpPr>
        <p:spPr>
          <a:xfrm>
            <a:off x="1188720" y="2990215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212529"/>
                </a:solidFill>
              </a:rPr>
              <a:t>Trip date</a:t>
            </a:r>
            <a:endParaRPr lang="en-us" sz="1400" cap="none"/>
          </a:p>
        </p:txBody>
      </p:sp>
      <p:sp>
        <p:nvSpPr>
          <p:cNvPr id="16" name="Text 1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2T+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E4UAACAMQAAthUAABAAAAAmAAAACAAAAP//////////"/>
              </a:ext>
            </a:extLst>
          </p:cNvSpPr>
          <p:nvPr/>
        </p:nvSpPr>
        <p:spPr>
          <a:xfrm>
            <a:off x="1188720" y="3300730"/>
            <a:ext cx="6858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[date, setDate] = useState('');</a:t>
            </a:r>
            <a:endParaRPr lang="en-us" sz="1100" cap="none"/>
          </a:p>
        </p:txBody>
      </p:sp>
      <p:sp>
        <p:nvSpPr>
          <p:cNvPr id="17" name="Shape 1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GRccBI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BAXAABwNQAAHRsAABAAAAAmAAAACAAAAP//////////"/>
              </a:ext>
            </a:extLst>
          </p:cNvSpPr>
          <p:nvPr/>
        </p:nvSpPr>
        <p:spPr>
          <a:xfrm>
            <a:off x="457200" y="3749040"/>
            <a:ext cx="8229600" cy="65849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5/72T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DoFwAAMAYAACgaAAAQAAAAJgAAAAgAAAD//////////w==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8620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Text 13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C0XAAAwGAAA3RgAABAAAAAmAAAACAAAAP//////////"/>
              </a:ext>
            </a:extLst>
          </p:cNvSpPr>
          <p:nvPr/>
        </p:nvSpPr>
        <p:spPr>
          <a:xfrm>
            <a:off x="1188720" y="3767455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400" b="1" cap="none">
                <a:solidFill>
                  <a:srgbClr val="212529"/>
                </a:solidFill>
              </a:rPr>
              <a:t>Rating (1-5)</a:t>
            </a:r>
            <a:endParaRPr lang="en-us" sz="1400" cap="none"/>
          </a:p>
        </p:txBody>
      </p:sp>
      <p:sp>
        <p:nvSpPr>
          <p:cNvPr id="20" name="Text 1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AcAABYZAACAMQAAfhoAABAAAAAmAAAACAAAAP//////////"/>
              </a:ext>
            </a:extLst>
          </p:cNvSpPr>
          <p:nvPr/>
        </p:nvSpPr>
        <p:spPr>
          <a:xfrm>
            <a:off x="1188720" y="4077970"/>
            <a:ext cx="68580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[rating, setRating] = useState('');</a:t>
            </a:r>
            <a:endParaRPr lang="en-us" sz="1100" cap="none"/>
          </a:p>
        </p:txBody>
      </p:sp>
      <p:sp>
        <p:nvSpPr>
          <p:cNvPr id="21" name="Shape 15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Pz///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NgbAABwNQAAqB4AABAAAAAmAAAACAAAAP//////////"/>
              </a:ext>
            </a:extLst>
          </p:cNvSpPr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NgbAAAmAwAAqB4AABAAAAAmAAAACAAAAP//////////"/>
              </a:ext>
            </a:extLst>
          </p:cNvSpPr>
          <p:nvPr/>
        </p:nvSpPr>
        <p:spPr>
          <a:xfrm>
            <a:off x="457200" y="4526280"/>
            <a:ext cx="54610" cy="4572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23" name="Text 17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NgbAABQNAAAqB4AAAAAAAAmAAAACAAAAP//////////"/>
              </a:ext>
            </a:extLst>
          </p:cNvSpPr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>
              <a:defRPr lang="en-us" sz="1200" cap="none">
                <a:solidFill>
                  <a:srgbClr val="495057"/>
                </a:solidFill>
              </a:defRPr>
            </a:pPr>
            <a:r>
              <a:t>4 fields = 4 x useState. Each input has its own state - simple rule.</a:t>
            </a:r>
          </a:p>
        </p:txBody>
      </p:sp>
      <p:sp>
        <p:nvSpPr>
          <p:cNvPr id="24" name="Text 18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12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PATTERN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Multiple useState in one component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QAAAA0AAAAAkAAAAEgAAACQAAAASAAAAAAAAAAAAAAAAAAAAAEAAABQAAAAICQLmMCtqz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OAHAABwNQAAQh8AABAAAAAmAAAACAAAAP//////////"/>
              </a:ext>
            </a:extLst>
          </p:cNvSpPr>
          <p:nvPr/>
        </p:nvSpPr>
        <p:spPr>
          <a:xfrm>
            <a:off x="457200" y="1280160"/>
            <a:ext cx="8229600" cy="3801110"/>
          </a:xfrm>
          <a:prstGeom prst="roundRect">
            <a:avLst>
              <a:gd name="adj" fmla="val 2703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LgIAABYBQAAkAkAABAAAAAmAAAACAAAAP//////////"/>
              </a:ext>
            </a:extLst>
          </p:cNvSpPr>
          <p:nvPr/>
        </p:nvSpPr>
        <p:spPr>
          <a:xfrm>
            <a:off x="731520" y="14173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oAUAALgIAAB4BgAAkAkAABAAAAAmAAAACAAAAP//////////"/>
              </a:ext>
            </a:extLst>
          </p:cNvSpPr>
          <p:nvPr/>
        </p:nvSpPr>
        <p:spPr>
          <a:xfrm>
            <a:off x="914400" y="14173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wAYAALgIAACYBwAAkAkAABAAAAAmAAAACAAAAP//////////"/>
              </a:ext>
            </a:extLst>
          </p:cNvSpPr>
          <p:nvPr/>
        </p:nvSpPr>
        <p:spPr>
          <a:xfrm>
            <a:off x="1097280" y="14173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JAJAABQNAAAkBsAAAAAAAAmAAAACAAAAP//////////"/>
              </a:ext>
            </a:extLst>
          </p:cNvSpPr>
          <p:nvPr/>
        </p:nvSpPr>
        <p:spPr>
          <a:xfrm>
            <a:off x="731520" y="1554480"/>
            <a:ext cx="7772400" cy="2926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export default function </a:t>
            </a: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HomeScreen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() {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// Form fields</a:t>
            </a:r>
            <a:br/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[title, setTitle] = useState</a:t>
            </a:r>
            <a:r>
              <a:rPr lang="en-us" sz="12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('');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[destination, setDest] = useState</a:t>
            </a:r>
            <a:r>
              <a:rPr lang="en-us" sz="12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('');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[date, setDate] = useState</a:t>
            </a:r>
            <a:r>
              <a:rPr lang="en-us" sz="12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('');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[rating, setRating] = useState</a:t>
            </a:r>
            <a:r>
              <a:rPr lang="en-us" sz="12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('');</a:t>
            </a:r>
            <a:br/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// Trip list</a:t>
            </a:r>
            <a:br/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[trips, setTrips] = useState</a:t>
            </a:r>
            <a:r>
              <a:rPr lang="en-us" sz="12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&lt;Trip[]&gt;</a:t>
            </a:r>
            <a:r>
              <a:rPr lang="en-us" sz="1200" cap="none">
                <a:solidFill>
                  <a:srgbClr val="FFB86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([]);</a:t>
            </a:r>
            <a:endParaRPr lang="en-us" sz="1200" cap="none">
              <a:solidFill>
                <a:srgbClr val="FFB86C"/>
              </a:solidFill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  <a:defRPr lang="en-us" sz="1200" cap="none">
                <a:latin typeface="Consolas" pitchFamily="3" charset="-18"/>
                <a:ea typeface="Consolas" pitchFamily="3" charset="-18"/>
                <a:cs typeface="Consolas" pitchFamily="3" charset="-18"/>
              </a:defRPr>
            </a:pPr>
          </a:p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// Each state is independent!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// setTitle does NOT affect rating or trips</a:t>
            </a:r>
            <a:endParaRPr lang="en-us" sz="12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13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NACAACQJAAAsBMAABAAAAAmAAAACAAAAP//////////"/>
              </a:ext>
            </a:extLst>
          </p:cNvSpPr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vZP5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gXAAB4BgAA6CAAAAgQ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51560"/>
            <a:ext cx="1554480" cy="1554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JASAABwNQAAYBUAABAAAAAmAAAACAAAAP//////////"/>
              </a:ext>
            </a:extLst>
          </p:cNvSpPr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b="1" cap="none" spc="80">
                <a:solidFill>
                  <a:srgbClr val="61DAFB"/>
                </a:solidFill>
              </a:rPr>
              <a:t>LIVE CODING</a:t>
            </a:r>
            <a:endParaRPr lang="en-us" sz="1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AUAABwNQAAMBgAABAAAAAmAAAACAAAAP//////////"/>
              </a:ext>
            </a:extLst>
          </p:cNvSpPr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FFFFFF"/>
                </a:solidFill>
              </a:rPr>
              <a:t>Add trip form</a:t>
            </a:r>
            <a:endParaRPr lang="en-us" sz="28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MAYAACgMgAAABsAABAAAAAmAAAACAAAAP//////////"/>
              </a:ext>
            </a:extLst>
          </p:cNvSpPr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8B95A5"/>
                </a:solidFill>
              </a:rPr>
              <a:t>Four fields + button = complete TravelSnap form</a:t>
            </a:r>
            <a:endParaRPr lang="en-us" sz="13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14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EVOLUTION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Rveh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From static to dynamic list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HAIAAAAGwAAUBkAABAAAAAmAAAACAAAAP//////////"/>
              </a:ext>
            </a:extLst>
          </p:cNvSpPr>
          <p:nvPr/>
        </p:nvSpPr>
        <p:spPr>
          <a:xfrm>
            <a:off x="457200" y="1371600"/>
            <a:ext cx="39319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i5W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5WlAP///wEAAAAAAAAAAAAAAAAAAAAAAAAAAAAAAAAAAAAAAAAAAAAAAAB/f38A5+bmA8zMzADAwP8Af39/AAAAAAAAAAAAAAAAAAAAAAAAAAAAIQAAABgAAAAUAAAA0AIAAHAIAAAAGwAAuAgAABAAAAAmAAAACAAAAP//////////"/>
              </a:ext>
            </a:extLst>
          </p:cNvSpPr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8B95A5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JAJAABQGQAAQAsAABAAAAAmAAAACAAAAP//////////"/>
              </a:ext>
            </a:extLst>
          </p:cNvSpPr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8B95A5"/>
                </a:solidFill>
              </a:rPr>
              <a:t>Lecture 2 (static)</a:t>
            </a:r>
            <a:endParaRPr lang="en-us" sz="1300" cap="none"/>
          </a:p>
        </p:txBody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QAAAA0AAAAAkAAAAEgAAACQAAAASAAAAAAAAAAAAAAAAAAAAAEAAABQAAAAmpmZmZmZuT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8AMAABgMAABQGQAAWBcAABAAAAAmAAAACAAAAP//////////"/>
              </a:ext>
            </a:extLst>
          </p:cNvSpPr>
          <p:nvPr/>
        </p:nvSpPr>
        <p:spPr>
          <a:xfrm>
            <a:off x="640080" y="196596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8" name="Shape 6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oAUAAPAMAAB4BgAAyA0AABAAAAAmAAAACAAAAP//////////"/>
              </a:ext>
            </a:extLst>
          </p:cNvSpPr>
          <p:nvPr/>
        </p:nvSpPr>
        <p:spPr>
          <a:xfrm>
            <a:off x="914400" y="21031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wAYAAPAMAACYBwAAyA0AABAAAAAmAAAACAAAAP//////////"/>
              </a:ext>
            </a:extLst>
          </p:cNvSpPr>
          <p:nvPr/>
        </p:nvSpPr>
        <p:spPr>
          <a:xfrm>
            <a:off x="1097280" y="21031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10" name="Shape 8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4AcAAPAMAAC4CAAAyA0AABAAAAAmAAAACAAAAP//////////"/>
              </a:ext>
            </a:extLst>
          </p:cNvSpPr>
          <p:nvPr/>
        </p:nvSpPr>
        <p:spPr>
          <a:xfrm>
            <a:off x="1280160" y="21031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AUAAIANAAAwGAAAEBcAABAAAAAmAAAACAAAAP//////////"/>
              </a:ext>
            </a:extLst>
          </p:cNvSpPr>
          <p:nvPr/>
        </p:nvSpPr>
        <p:spPr>
          <a:xfrm>
            <a:off x="822960" y="2194560"/>
            <a:ext cx="3108960" cy="1554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Data hardcoded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trips = [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{ title: 'Zakopane',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destination: 'Tatry',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date: '2024-01', rating: 5 },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];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Always the same cards</a:t>
            </a:r>
            <a:endParaRPr lang="en-us" sz="1000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B0AAHAIAACQNgAAUBkAABAAAAAmAAAACAAAAP//////////"/>
              </a:ext>
            </a:extLst>
          </p:cNvSpPr>
          <p:nvPr/>
        </p:nvSpPr>
        <p:spPr>
          <a:xfrm>
            <a:off x="4846320" y="1371600"/>
            <a:ext cx="402336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0B0AAHAIAACQNgAAuAgAABAAAAAmAAAACAAAAP//////////"/>
              </a:ext>
            </a:extLst>
          </p:cNvSpPr>
          <p:nvPr/>
        </p:nvSpPr>
        <p:spPr>
          <a:xfrm>
            <a:off x="4846320" y="1371600"/>
            <a:ext cx="4023360" cy="45720"/>
          </a:xfrm>
          <a:prstGeom prst="rect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4" name="Text 1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4AAJAJAABQNAAAQAsAABAAAAAmAAAACAAAAP//////////"/>
              </a:ext>
            </a:extLst>
          </p:cNvSpPr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50FA7B"/>
                </a:solidFill>
              </a:rPr>
              <a:t>Lecture 3 (dynamic!)</a:t>
            </a:r>
            <a:endParaRPr lang="en-us" sz="1300" cap="none"/>
          </a:p>
        </p:txBody>
      </p:sp>
      <p:sp>
        <p:nvSpPr>
          <p:cNvPr id="15" name="Shape 13"/>
          <p:cNvSpPr>
            <a:extLst>
              <a:ext uri="smNativeData">
                <pr:smNativeData xmlns:pr="smNativeData" xmlns="smNativeData" val="SMDATA_15_GJ+6aRMAAAAlAAAAZQAAAA0AAAAAkAAAAEgAAACQAAAASAAAAAAAAAAAAAAAAAAAAAEAAABQAAAAmpmZmZmZuT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8B4AABgMAADgNAAAWBcAABAAAAAmAAAACAAAAP//////////"/>
              </a:ext>
            </a:extLst>
          </p:cNvSpPr>
          <p:nvPr/>
        </p:nvSpPr>
        <p:spPr>
          <a:xfrm>
            <a:off x="5029200" y="19659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16" name="Shape 1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oCAAAPAMAAB4IQAAyA0AABAAAAAmAAAACAAAAP//////////"/>
              </a:ext>
            </a:extLst>
          </p:cNvSpPr>
          <p:nvPr/>
        </p:nvSpPr>
        <p:spPr>
          <a:xfrm>
            <a:off x="5303520" y="21031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17" name="Shape 1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wCEAAPAMAACYIgAAyA0AABAAAAAmAAAACAAAAP//////////"/>
              </a:ext>
            </a:extLst>
          </p:cNvSpPr>
          <p:nvPr/>
        </p:nvSpPr>
        <p:spPr>
          <a:xfrm>
            <a:off x="5486400" y="21031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18" name="Shape 16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4CIAAPAMAAC4IwAAyA0AABAAAAAmAAAACAAAAP//////////"/>
              </a:ext>
            </a:extLst>
          </p:cNvSpPr>
          <p:nvPr/>
        </p:nvSpPr>
        <p:spPr>
          <a:xfrm>
            <a:off x="5669280" y="21031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9" name="Text 17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ECAAAIANAADAMwAAEBcAABAAAAAmAAAACAAAAP//////////"/>
              </a:ext>
            </a:extLst>
          </p:cNvSpPr>
          <p:nvPr/>
        </p:nvSpPr>
        <p:spPr>
          <a:xfrm>
            <a:off x="5212080" y="2194560"/>
            <a:ext cx="3200400" cy="15544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Data in STATE!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[trips, setTrips]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= useState&lt;Trip[]&gt;([]);</a:t>
            </a:r>
            <a:endParaRPr lang="en-us" sz="1000" cap="none"/>
          </a:p>
          <a:p>
            <a:pPr marL="0" indent="0">
              <a:buNone/>
            </a:pP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Adding at runtime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setTrips([...trips,</a:t>
            </a:r>
            <a:endParaRPr lang="en-us" sz="1000" cap="none"/>
          </a:p>
          <a:p>
            <a:pPr marL="0" indent="0">
              <a:buNone/>
            </a:pPr>
            <a:r>
              <a:rPr lang="en-us" sz="10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newTrip]);</a:t>
            </a:r>
            <a:endParaRPr lang="en-us" sz="1000" cap="none"/>
          </a:p>
        </p:txBody>
      </p:sp>
      <p:pic>
        <p:nvPicPr>
          <p:cNvPr id="20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T+f+9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AZAADADwAAsBwAAJAS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56032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Text 18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15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KEY CONCEPT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Spread operator and immutability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OAHAAAAGwAAYBUAABAAAAAmAAAACAAAAP//////////"/>
              </a:ext>
            </a:extLst>
          </p:cNvSpPr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0AIAAOAHAAAAGwAAKAgAABAAAAAmAAAACAAAAP//////////"/>
              </a:ext>
            </a:extLst>
          </p:cNvSpPr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50FA7B"/>
          </a:solidFill>
          <a:ln>
            <a:noFill/>
          </a:ln>
          <a:effectLst/>
        </p:spPr>
      </p:sp>
      <p:pic>
        <p:nvPicPr>
          <p:cNvPr id="6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DAAAACQAAoAUAALA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AYAALgIAAAQFwAAsAoAABAAAAAmAAAACAAAAP//////////"/>
              </a:ext>
            </a:extLst>
          </p:cNvSpPr>
          <p:nvPr/>
        </p:nvSpPr>
        <p:spPr>
          <a:xfrm>
            <a:off x="1005840" y="141732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50FA7B"/>
                </a:solidFill>
              </a:rPr>
              <a:t>YES - new array</a:t>
            </a:r>
            <a:endParaRPr lang="en-us" sz="13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IgLAABQGQAA+BMAABAAAAAmAAAACAAAAP//////////"/>
              </a:ext>
            </a:extLst>
          </p:cNvSpPr>
          <p:nvPr/>
        </p:nvSpPr>
        <p:spPr>
          <a:xfrm>
            <a:off x="640080" y="1874520"/>
            <a:ext cx="347472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Adding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setTrips([...trips, newTrip]);</a:t>
            </a:r>
            <a:endParaRPr lang="en-us" sz="1200" cap="none"/>
          </a:p>
          <a:p>
            <a:pPr marL="0" indent="0">
              <a:buNone/>
            </a:pP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Removing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setTrips(trips.filter(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t =&gt; t.id !== id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));</a:t>
            </a:r>
            <a:endParaRPr lang="en-us" sz="1200" cap="none"/>
          </a:p>
        </p:txBody>
      </p:sp>
      <p:sp>
        <p:nvSpPr>
          <p:cNvPr id="9" name="Shape 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QQi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B0AAOAHAACQNgAAYBUAABAAAAAmAAAACAAAAP//////////"/>
              </a:ext>
            </a:extLst>
          </p:cNvSpPr>
          <p:nvPr/>
        </p:nvSpPr>
        <p:spPr>
          <a:xfrm>
            <a:off x="4846320" y="1280160"/>
            <a:ext cx="4023360" cy="21945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0" name="Shape 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0B0AAOAHAACQNgAAKAgAABAAAAAmAAAACAAAAP//////////"/>
              </a:ext>
            </a:extLst>
          </p:cNvSpPr>
          <p:nvPr/>
        </p:nvSpPr>
        <p:spPr>
          <a:xfrm>
            <a:off x="4846320" y="1280160"/>
            <a:ext cx="4023360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pic>
        <p:nvPicPr>
          <p:cNvPr id="11" name="Image 1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5/72T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PAeAAAACQAAoCAAALAK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 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Qrj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MCEAALgIAAAQMgAAsAoAABAAAAAmAAAACAAAAP//////////"/>
              </a:ext>
            </a:extLst>
          </p:cNvSpPr>
          <p:nvPr/>
        </p:nvSpPr>
        <p:spPr>
          <a:xfrm>
            <a:off x="5394960" y="141732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E94560"/>
                </a:solidFill>
              </a:rPr>
              <a:t>NO - mutation!</a:t>
            </a:r>
            <a:endParaRPr lang="en-us" sz="1300" cap="none"/>
          </a:p>
        </p:txBody>
      </p:sp>
      <p:sp>
        <p:nvSpPr>
          <p:cNvPr id="13" name="Text 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B4AAIgLAABQNAAA+BMAABAAAAAmAAAACAAAAP//////////"/>
              </a:ext>
            </a:extLst>
          </p:cNvSpPr>
          <p:nvPr/>
        </p:nvSpPr>
        <p:spPr>
          <a:xfrm>
            <a:off x="5029200" y="1874520"/>
            <a:ext cx="347472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NEVER!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trips.push(newTrip);</a:t>
            </a:r>
            <a:endParaRPr lang="en-us" sz="1200" cap="none"/>
          </a:p>
          <a:p>
            <a:pPr marL="0" indent="0">
              <a:buNone/>
            </a:pP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NEVER!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trips.splice(index, 1);</a:t>
            </a:r>
            <a:endParaRPr lang="en-us" sz="1200" cap="none"/>
          </a:p>
          <a:p>
            <a:pPr marL="0" indent="0">
              <a:buNone/>
            </a:pP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React won't detect the change!</a:t>
            </a:r>
            <a:endParaRPr lang="en-us" sz="1200" cap="none"/>
          </a:p>
        </p:txBody>
      </p:sp>
      <p:sp>
        <p:nvSpPr>
          <p:cNvPr id="14" name="Shape 10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357i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BAXAABwNQAAIBwAABAAAAAmAAAACAAAAP//////////"/>
              </a:ext>
            </a:extLst>
          </p:cNvSpPr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5" name="Shape 11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0AIAABAXAAAmAwAAIBwAABAAAAAmAAAACAAAAP//////////"/>
              </a:ext>
            </a:extLst>
          </p:cNvSpPr>
          <p:nvPr/>
        </p:nvSpPr>
        <p:spPr>
          <a:xfrm>
            <a:off x="457200" y="3749040"/>
            <a:ext cx="54610" cy="822960"/>
          </a:xfrm>
          <a:prstGeom prst="rect">
            <a:avLst/>
          </a:prstGeom>
          <a:solidFill>
            <a:srgbClr val="F1FA8C"/>
          </a:solidFill>
          <a:ln>
            <a:noFill/>
          </a:ln>
          <a:effectLst/>
        </p:spPr>
      </p:sp>
      <p:pic>
        <p:nvPicPr>
          <p:cNvPr id="16" name="Image 2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T+f+9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gEAADoFwAAMAYAAOAZ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86200"/>
            <a:ext cx="320040" cy="320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Text 12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CAcAABAXAAAINAAAIBwAABAAAAAmAAAACAAAAP//////////"/>
              </a:ext>
            </a:extLst>
          </p:cNvSpPr>
          <p:nvPr/>
        </p:nvSpPr>
        <p:spPr>
          <a:xfrm>
            <a:off x="1143000" y="3749040"/>
            <a:ext cx="7315200" cy="822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cap="none">
                <a:solidFill>
                  <a:srgbClr val="CED4DA"/>
                </a:solidFill>
              </a:rPr>
              <a:t>Spread (...) creates a COPY of the array + adds new element.</a:t>
            </a:r>
            <a:endParaRPr lang="en-us" sz="1200" cap="none"/>
          </a:p>
          <a:p>
            <a:pPr marL="0" indent="0">
              <a:lnSpc>
                <a:spcPct val="150000"/>
              </a:lnSpc>
              <a:buNone/>
            </a:pPr>
            <a:r>
              <a:rPr lang="en-us" sz="1200" cap="none">
                <a:solidFill>
                  <a:srgbClr val="CED4DA"/>
                </a:solidFill>
              </a:rPr>
              <a:t>React compares references: old !== new -&gt; re-render!</a:t>
            </a:r>
            <a:endParaRPr lang="en-us" sz="1200" cap="none"/>
          </a:p>
        </p:txBody>
      </p:sp>
      <p:sp>
        <p:nvSpPr>
          <p:cNvPr id="18" name="Text 1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16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RENDERING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Rendering lists: .map() and key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QAAAA0AAAAAkAAAAEgAAACQAAAASAAAAAAAAAAAAAAAAAAAAAEAAABQAAAAUYiAQ6hSsz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CAMAACcHAACoNQAApRYAABAAAAAmAAAACAAAAP//////////"/>
              </a:ext>
            </a:extLst>
          </p:cNvSpPr>
          <p:nvPr/>
        </p:nvSpPr>
        <p:spPr>
          <a:xfrm>
            <a:off x="492760" y="1162685"/>
            <a:ext cx="8229600" cy="2518410"/>
          </a:xfrm>
          <a:prstGeom prst="roundRect">
            <a:avLst>
              <a:gd name="adj" fmla="val 3774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yCW+bZpU7z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iQQAAMIHAABhBQAAmggAABAAAAAmAAAACAAAAP//////////"/>
              </a:ext>
            </a:extLst>
          </p:cNvSpPr>
          <p:nvPr/>
        </p:nvSpPr>
        <p:spPr>
          <a:xfrm>
            <a:off x="737235" y="1261110"/>
            <a:ext cx="137160" cy="137160"/>
          </a:xfrm>
          <a:prstGeom prst="pie">
            <a:avLst>
              <a:gd name="adj1" fmla="val 16651925"/>
              <a:gd name="adj2" fmla="val 16200000"/>
            </a:avLst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2AUAAMIHAACwBgAAmggAABAAAAAmAAAACAAAAP//////////"/>
              </a:ext>
            </a:extLst>
          </p:cNvSpPr>
          <p:nvPr/>
        </p:nvSpPr>
        <p:spPr>
          <a:xfrm>
            <a:off x="949960" y="126111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EgcAAMQHAADqBwAAnAgAABAAAAAmAAAACAAAAP//////////"/>
              </a:ext>
            </a:extLst>
          </p:cNvSpPr>
          <p:nvPr/>
        </p:nvSpPr>
        <p:spPr>
          <a:xfrm>
            <a:off x="1149350" y="126238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XAQAACYJAAAsNAAAzhUAAAAAAAAmAAAACAAAAP//////////"/>
              </a:ext>
            </a:extLst>
          </p:cNvSpPr>
          <p:nvPr/>
        </p:nvSpPr>
        <p:spPr>
          <a:xfrm>
            <a:off x="708660" y="1487170"/>
            <a:ext cx="7772400" cy="205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Rendering dynamic TripCard list</a:t>
            </a:r>
            <a:br/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{trips.</a:t>
            </a: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map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((trip) =&gt; (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&lt;TripCard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key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={trip.id}          </a:t>
            </a:r>
            <a:r>
              <a:rPr lang="en-us" sz="12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REQUIRED!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title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={trip.title}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destination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={trip.destination}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date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={trip.date}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rating</a:t>
            </a: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={trip.rating}</a:t>
            </a:r>
            <a:endParaRPr lang="en-us" sz="12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200" cap="none">
                <a:solidFill>
                  <a:srgbClr val="FF79C6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/&gt;</a:t>
            </a:r>
            <a:endParaRPr lang="en-us" sz="1200" cap="none"/>
          </a:p>
          <a:p>
            <a:pPr marL="0" indent="0">
              <a:buNone/>
            </a:pPr>
            <a:r>
              <a:rPr lang="en-us" sz="12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))}</a:t>
            </a:r>
            <a:endParaRPr lang="en-us" sz="1200" cap="none"/>
          </a:p>
        </p:txBody>
      </p:sp>
      <p:sp>
        <p:nvSpPr>
          <p:cNvPr id="9" name="Shape 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MAYAAAAGwAAQB0AABAAAAAmAAAACAAAAP//////////"/>
              </a:ext>
            </a:extLst>
          </p:cNvSpPr>
          <p:nvPr/>
        </p:nvSpPr>
        <p:spPr>
          <a:xfrm>
            <a:off x="457200" y="4023360"/>
            <a:ext cx="39319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0AIAAMAYAAAmAwAAQB0AABAAAAAmAAAACAAAAP//////////"/>
              </a:ext>
            </a:extLst>
          </p:cNvSpPr>
          <p:nvPr/>
        </p:nvSpPr>
        <p:spPr>
          <a:xfrm>
            <a:off x="457200" y="4023360"/>
            <a:ext cx="54610" cy="731520"/>
          </a:xfrm>
          <a:prstGeom prst="rect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N0YAACYGQAAjRoAABAAAAAmAAAACAAAAP//////////"/>
              </a:ext>
            </a:extLst>
          </p:cNvSpPr>
          <p:nvPr/>
        </p:nvSpPr>
        <p:spPr>
          <a:xfrm>
            <a:off x="685800" y="4041775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b="1" cap="none">
                <a:solidFill>
                  <a:srgbClr val="212529"/>
                </a:solidFill>
              </a:rPr>
              <a:t>key = unique identifier</a:t>
            </a:r>
            <a:endParaRPr lang="en-us" sz="12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I0aAACYGQAAPRwAABAAAAAmAAAACAAAAP//////////"/>
              </a:ext>
            </a:extLst>
          </p:cNvSpPr>
          <p:nvPr/>
        </p:nvSpPr>
        <p:spPr>
          <a:xfrm>
            <a:off x="685800" y="4316095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React uses key to track changes</a:t>
            </a:r>
            <a:endParaRPr lang="en-us" sz="1100" cap="none"/>
          </a:p>
        </p:txBody>
      </p:sp>
      <p:sp>
        <p:nvSpPr>
          <p:cNvPr id="13" name="Shape 11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Iz68f8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B0AAMAYAACQNgAAQB0AABAAAAAmAAAACAAAAP//////////"/>
              </a:ext>
            </a:extLst>
          </p:cNvSpPr>
          <p:nvPr/>
        </p:nvSpPr>
        <p:spPr>
          <a:xfrm>
            <a:off x="4846320" y="4023360"/>
            <a:ext cx="40233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0B0AAMAYAAAmHgAAQB0AABAAAAAmAAAACAAAAP//////////"/>
              </a:ext>
            </a:extLst>
          </p:cNvSpPr>
          <p:nvPr/>
        </p:nvSpPr>
        <p:spPr>
          <a:xfrm>
            <a:off x="4846320" y="4023360"/>
            <a:ext cx="54610" cy="7315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15" name="Text 13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B8AAN0YAACYNAAAjRoAABAAAAAmAAAACAAAAP//////////"/>
              </a:ext>
            </a:extLst>
          </p:cNvSpPr>
          <p:nvPr/>
        </p:nvSpPr>
        <p:spPr>
          <a:xfrm>
            <a:off x="5074920" y="4041775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200" b="1" cap="none">
                <a:solidFill>
                  <a:srgbClr val="E94560"/>
                </a:solidFill>
              </a:rPr>
              <a:t>Do NOT use index as key!</a:t>
            </a:r>
            <a:endParaRPr lang="en-us" sz="12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B8AAI0aAACYNAAAPRwAABAAAAAmAAAACAAAAP//////////"/>
              </a:ext>
            </a:extLst>
          </p:cNvSpPr>
          <p:nvPr/>
        </p:nvSpPr>
        <p:spPr>
          <a:xfrm>
            <a:off x="5074920" y="4316095"/>
            <a:ext cx="34747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</a:rPr>
              <a:t>Causes rendering bugs when removing items</a:t>
            </a:r>
            <a:endParaRPr lang="en-us" sz="11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17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LOGIC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A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Add trip function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QAAAA0AAAAAkAAAAEgAAACQAAAASAAAAAAAAAAAAAAAAAAAAAEAAABQAAAA5j+k374OrD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LgIAABwNQAAQB0AABAAAAAmAAAACAAAAP//////////"/>
              </a:ext>
            </a:extLst>
          </p:cNvSpPr>
          <p:nvPr/>
        </p:nvSpPr>
        <p:spPr>
          <a:xfrm>
            <a:off x="457200" y="1417320"/>
            <a:ext cx="8229600" cy="3337560"/>
          </a:xfrm>
          <a:prstGeom prst="roundRect">
            <a:avLst>
              <a:gd name="adj" fmla="val 2740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JAJAABYBQAAaAoAABAAAAAmAAAACAAAAP//////////"/>
              </a:ext>
            </a:extLst>
          </p:cNvSpPr>
          <p:nvPr/>
        </p:nvSpPr>
        <p:spPr>
          <a:xfrm>
            <a:off x="731520" y="155448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oAUAAJAJAAB4BgAAaAoAABAAAAAmAAAACAAAAP//////////"/>
              </a:ext>
            </a:extLst>
          </p:cNvSpPr>
          <p:nvPr/>
        </p:nvSpPr>
        <p:spPr>
          <a:xfrm>
            <a:off x="914400" y="155448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wAYAAJAJAACYBwAAaAoAABAAAAAmAAAACAAAAP//////////"/>
              </a:ext>
            </a:extLst>
          </p:cNvSpPr>
          <p:nvPr/>
        </p:nvSpPr>
        <p:spPr>
          <a:xfrm>
            <a:off x="1097280" y="155448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CAKAABQNAAAaBwAAAAAAAAmAAAACAAAAP//////////"/>
              </a:ext>
            </a:extLst>
          </p:cNvSpPr>
          <p:nvPr/>
        </p:nvSpPr>
        <p:spPr>
          <a:xfrm>
            <a:off x="731520" y="1645920"/>
            <a:ext cx="7772400" cy="2971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1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</a:t>
            </a: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handleAddTrip = () =&gt; {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// Validation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if 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(!title.trim() || !destination.trim()) </a:t>
            </a:r>
            <a:r>
              <a:rPr lang="en-us" sz="11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return;</a:t>
            </a:r>
            <a:br/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1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newTrip</a:t>
            </a:r>
            <a:r>
              <a:rPr lang="en-us" sz="1100" cap="none">
                <a:solidFill>
                  <a:srgbClr val="61DAF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: Trip </a:t>
            </a: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= {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id: Date.now().toString(),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title: title.trim(),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destination: destination.trim(),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date: date.trim(),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rating: Number(rating) || 1,</a:t>
            </a:r>
            <a:r>
              <a:rPr lang="en-us" sz="11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// string -&gt; number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};</a:t>
            </a:r>
            <a:br/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setTrips([...trips, newTrip]);</a:t>
            </a:r>
            <a:r>
              <a:rPr lang="en-us" sz="1100" cap="none">
                <a:solidFill>
                  <a:srgbClr val="F1FA8C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// SPREAD!</a:t>
            </a:r>
            <a:endParaRPr lang="en-us" sz="11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setTitle(''); setDest(''); setDate(''); setRating('');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};</a:t>
            </a:r>
            <a:endParaRPr lang="en-us" sz="11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18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NACAACQJAAAsBMAABAAAAAmAAAACAAAAP//////////"/>
              </a:ext>
            </a:extLst>
          </p:cNvSpPr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9k/n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gXAAB4BgAA6CAAAAgQ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51560"/>
            <a:ext cx="1554480" cy="1554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JASAABwNQAAYBUAABAAAAAmAAAACAAAAP//////////"/>
              </a:ext>
            </a:extLst>
          </p:cNvSpPr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b="1" cap="none" spc="80">
                <a:solidFill>
                  <a:srgbClr val="61DAFB"/>
                </a:solidFill>
              </a:rPr>
              <a:t>LIVE CODING</a:t>
            </a:r>
            <a:endParaRPr lang="en-us" sz="1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AUAABwNQAAMBgAABAAAAAmAAAACAAAAP//////////"/>
              </a:ext>
            </a:extLst>
          </p:cNvSpPr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FFFFFF"/>
                </a:solidFill>
              </a:rPr>
              <a:t>Dynamic TripCard list</a:t>
            </a:r>
            <a:endParaRPr lang="en-us" sz="28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MAYAACgMgAAABsAABAAAAAmAAAACAAAAP//////////"/>
              </a:ext>
            </a:extLst>
          </p:cNvSpPr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8B95A5"/>
                </a:solidFill>
              </a:rPr>
              <a:t>Form + button -&gt; new card appears on the list!</a:t>
            </a:r>
            <a:endParaRPr lang="en-us" sz="13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Qsl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19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OPERATIONS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Removing from list - filter()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QAAAA0AAAAAkAAAAEgAAACQAAAASAAAAAAAAAAAAAAAAAAAAAEAAABQAAAAodY07zhFtz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OAHAABwNQAAQBQAABAAAAAmAAAACAAAAP//////////"/>
              </a:ext>
            </a:extLst>
          </p:cNvSpPr>
          <p:nvPr/>
        </p:nvSpPr>
        <p:spPr>
          <a:xfrm>
            <a:off x="457200" y="128016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LgIAABYBQAAkAkAABAAAAAmAAAACAAAAP//////////"/>
              </a:ext>
            </a:extLst>
          </p:cNvSpPr>
          <p:nvPr/>
        </p:nvSpPr>
        <p:spPr>
          <a:xfrm>
            <a:off x="731520" y="141732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oAUAALgIAAB4BgAAkAkAABAAAAAmAAAACAAAAP//////////"/>
              </a:ext>
            </a:extLst>
          </p:cNvSpPr>
          <p:nvPr/>
        </p:nvSpPr>
        <p:spPr>
          <a:xfrm>
            <a:off x="914400" y="141732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wAYAALgIAACYBwAAkAkAABAAAAAmAAAACAAAAP//////////"/>
              </a:ext>
            </a:extLst>
          </p:cNvSpPr>
          <p:nvPr/>
        </p:nvSpPr>
        <p:spPr>
          <a:xfrm>
            <a:off x="1097280" y="141732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EgJAABQNAAAaBMAAAAAAAAmAAAACAAAAP//////////"/>
              </a:ext>
            </a:extLst>
          </p:cNvSpPr>
          <p:nvPr/>
        </p:nvSpPr>
        <p:spPr>
          <a:xfrm>
            <a:off x="731520" y="1508760"/>
            <a:ext cx="7772400" cy="1645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const </a:t>
            </a:r>
            <a:r>
              <a:rPr lang="en-us" sz="13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handleDelete = (id: string) =&gt; {</a:t>
            </a:r>
            <a:endParaRPr lang="en-us" sz="13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setTrips(trips.</a:t>
            </a:r>
            <a:r>
              <a:rPr lang="en-us" sz="13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filter</a:t>
            </a: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(trip =&gt; trip.id !== id));</a:t>
            </a:r>
            <a:endParaRPr lang="en-us" sz="1300" cap="none"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</a:pPr>
            <a:r>
              <a:rPr lang="en-us" sz="13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};</a:t>
            </a:r>
            <a:endParaRPr lang="en-us" sz="1300" cap="none">
              <a:solidFill>
                <a:srgbClr val="FFFFFF"/>
              </a:solidFill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  <a:defRPr lang="en-us" sz="1300" cap="none"/>
            </a:pPr>
          </a:p>
          <a:p>
            <a:pPr marL="0" indent="0">
              <a:buNone/>
            </a:pPr>
            <a:r>
              <a:rPr lang="en-us" sz="13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filter() creates a NEW array</a:t>
            </a:r>
            <a:endParaRPr lang="en-us" sz="1300" cap="none"/>
          </a:p>
          <a:p>
            <a:pPr marL="0" indent="0">
              <a:buNone/>
            </a:pPr>
            <a:r>
              <a:rPr lang="en-us" sz="13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// without the element with given id</a:t>
            </a:r>
            <a:endParaRPr lang="en-us" sz="13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KgVAABYDgAAWBcAABAAAAAmAAAACAAAAP//////////"/>
              </a:ext>
            </a:extLst>
          </p:cNvSpPr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212529"/>
                </a:solidFill>
              </a:rPr>
              <a:t>Visually:</a:t>
            </a:r>
            <a:endParaRPr lang="en-us" sz="13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KAXAACwCgAAcBoAABAAAAAmAAAACAAAAP//////////"/>
              </a:ext>
            </a:extLst>
          </p:cNvSpPr>
          <p:nvPr/>
        </p:nvSpPr>
        <p:spPr>
          <a:xfrm>
            <a:off x="457200" y="3840480"/>
            <a:ext cx="1280160" cy="4572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KAXAACwCgAAcBoAABAAAAAmAAAACAAAAP//////////"/>
              </a:ext>
            </a:extLst>
          </p:cNvSpPr>
          <p:nvPr/>
        </p:nvSpPr>
        <p:spPr>
          <a:xfrm>
            <a:off x="457200" y="3840480"/>
            <a:ext cx="12801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b="1" cap="none">
                <a:solidFill>
                  <a:srgbClr val="FFFFFF"/>
                </a:solidFill>
              </a:rPr>
              <a:t>Zakopane</a:t>
            </a:r>
            <a:endParaRPr lang="en-us" sz="1100" cap="none"/>
          </a:p>
        </p:txBody>
      </p:sp>
      <p:sp>
        <p:nvSpPr>
          <p:cNvPr id="12" name="Shape 10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0AsAAKAXAACwEwAAcBoAABAAAAAmAAAACAAAAP//////////"/>
              </a:ext>
            </a:extLst>
          </p:cNvSpPr>
          <p:nvPr/>
        </p:nvSpPr>
        <p:spPr>
          <a:xfrm>
            <a:off x="1920240" y="3840480"/>
            <a:ext cx="1280160" cy="457200"/>
          </a:xfrm>
          <a:prstGeom prst="rect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3" name="Text 1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sAAKAXAACwEwAAcBoAABAAAAAmAAAACAAAAP//////////"/>
              </a:ext>
            </a:extLst>
          </p:cNvSpPr>
          <p:nvPr/>
        </p:nvSpPr>
        <p:spPr>
          <a:xfrm>
            <a:off x="1920240" y="3840480"/>
            <a:ext cx="12801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b="1" cap="none">
                <a:solidFill>
                  <a:srgbClr val="FFFFFF"/>
                </a:solidFill>
              </a:rPr>
              <a:t>Gdansk</a:t>
            </a:r>
            <a:endParaRPr lang="en-us" sz="1100" cap="none"/>
          </a:p>
        </p:txBody>
      </p:sp>
      <p:sp>
        <p:nvSpPr>
          <p:cNvPr id="14" name="Shape 1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7h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7hsAP///wEAAAAAAAAAAAAAAAAAAAAAAAAAAAAAAAAAAAAAAAAAAAAAAAB/f38A5+bmA8zMzADAwP8Af39/AAAAAAAAAAAAAAAAAAAAAAAAAAAAIQAAABgAAAAUAAAA0BQAAKAXAACwHAAAcBoAABAAAAAmAAAACAAAAP//////////"/>
              </a:ext>
            </a:extLst>
          </p:cNvSpPr>
          <p:nvPr/>
        </p:nvSpPr>
        <p:spPr>
          <a:xfrm>
            <a:off x="3383280" y="3840480"/>
            <a:ext cx="1280160" cy="457200"/>
          </a:xfrm>
          <a:prstGeom prst="rect">
            <a:avLst/>
          </a:prstGeom>
          <a:solidFill>
            <a:srgbClr val="FFB86C"/>
          </a:solidFill>
          <a:ln>
            <a:noFill/>
          </a:ln>
          <a:effectLst/>
        </p:spPr>
      </p:sp>
      <p:sp>
        <p:nvSpPr>
          <p:cNvPr id="15" name="Text 1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QAAKAXAACwHAAAcBoAABAAAAAmAAAACAAAAP//////////"/>
              </a:ext>
            </a:extLst>
          </p:cNvSpPr>
          <p:nvPr/>
        </p:nvSpPr>
        <p:spPr>
          <a:xfrm>
            <a:off x="3383280" y="3840480"/>
            <a:ext cx="128016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b="1" cap="none">
                <a:solidFill>
                  <a:srgbClr val="FFFFFF"/>
                </a:solidFill>
              </a:rPr>
              <a:t>Krakow</a:t>
            </a:r>
            <a:endParaRPr lang="en-us" sz="1100" cap="none"/>
          </a:p>
        </p:txBody>
      </p:sp>
      <p:sp>
        <p:nvSpPr>
          <p:cNvPr id="16" name="Text 1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IBwAAIAWAAAQKQAAMBgAABAAAAAmAAAACAAAAP//////////"/>
              </a:ext>
            </a:extLst>
          </p:cNvSpPr>
          <p:nvPr/>
        </p:nvSpPr>
        <p:spPr>
          <a:xfrm>
            <a:off x="4572000" y="3657600"/>
            <a:ext cx="210312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000" cap="none">
                <a:solidFill>
                  <a:srgbClr val="E94560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filter(id !== 'gdansk')</a:t>
            </a:r>
            <a:endParaRPr lang="en-us" sz="1000" cap="none"/>
          </a:p>
        </p:txBody>
      </p:sp>
      <p:pic>
        <p:nvPicPr>
          <p:cNvPr id="17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L2T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KAgAAB4GAAA4CIAALg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977640"/>
            <a:ext cx="365760" cy="3657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Shape 15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wsmx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YCcAAKAXAAAgLgAAcBoAABAAAAAmAAAACAAAAP//////////"/>
              </a:ext>
            </a:extLst>
          </p:cNvSpPr>
          <p:nvPr/>
        </p:nvSpPr>
        <p:spPr>
          <a:xfrm>
            <a:off x="6400800" y="3840480"/>
            <a:ext cx="1097280" cy="4572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9" name="Text 16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CcAAKAXAAAgLgAAcBoAABAAAAAmAAAACAAAAP//////////"/>
              </a:ext>
            </a:extLst>
          </p:cNvSpPr>
          <p:nvPr/>
        </p:nvSpPr>
        <p:spPr>
          <a:xfrm>
            <a:off x="6400800" y="3840480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b="1" cap="none">
                <a:solidFill>
                  <a:srgbClr val="FFFFFF"/>
                </a:solidFill>
              </a:rPr>
              <a:t>Zakopane</a:t>
            </a:r>
            <a:endParaRPr lang="en-us" sz="1100" cap="none"/>
          </a:p>
        </p:txBody>
      </p:sp>
      <p:sp>
        <p:nvSpPr>
          <p:cNvPr id="20" name="Shape 1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7h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7hsAP///wEAAAAAAAAAAAAAAAAAAAAAAAAAAAAAAAAAAAAAAAAAAAAAAAB/f38A5+bmA8zMzADAwP8Af39/AAAAAAAAAAAAAAAAAAAAAAAAAAAAIQAAABgAAAAUAAAAsC4AAKAXAABwNQAAcBoAABAAAAAmAAAACAAAAP//////////"/>
              </a:ext>
            </a:extLst>
          </p:cNvSpPr>
          <p:nvPr/>
        </p:nvSpPr>
        <p:spPr>
          <a:xfrm>
            <a:off x="7589520" y="3840480"/>
            <a:ext cx="1097280" cy="457200"/>
          </a:xfrm>
          <a:prstGeom prst="rect">
            <a:avLst/>
          </a:prstGeom>
          <a:solidFill>
            <a:srgbClr val="FFB86C"/>
          </a:solidFill>
          <a:ln>
            <a:noFill/>
          </a:ln>
          <a:effectLst/>
        </p:spPr>
      </p:sp>
      <p:sp>
        <p:nvSpPr>
          <p:cNvPr id="21" name="Text 18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z6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C4AAKAXAABwNQAAcBoAABAAAAAmAAAACAAAAP//////////"/>
              </a:ext>
            </a:extLst>
          </p:cNvSpPr>
          <p:nvPr/>
        </p:nvSpPr>
        <p:spPr>
          <a:xfrm>
            <a:off x="7589520" y="3840480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100" b="1" cap="none">
                <a:solidFill>
                  <a:srgbClr val="FFFFFF"/>
                </a:solidFill>
              </a:rPr>
              <a:t>Krakow</a:t>
            </a:r>
            <a:endParaRPr lang="en-us" sz="1100" cap="none"/>
          </a:p>
        </p:txBody>
      </p:sp>
      <p:sp>
        <p:nvSpPr>
          <p:cNvPr id="22" name="Text 1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20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NACAACQJAAAsBMAABAAAAAmAAAACAAAAP//////////"/>
              </a:ext>
            </a:extLst>
          </p:cNvSpPr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T+f+9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gXAAB4BgAA6CAAAAgQ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051560"/>
            <a:ext cx="1554480" cy="15544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JASAABwNQAAYBUAABAAAAAmAAAACAAAAP//////////"/>
              </a:ext>
            </a:extLst>
          </p:cNvSpPr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200" b="1" cap="none" spc="80">
                <a:solidFill>
                  <a:srgbClr val="61DAFB"/>
                </a:solidFill>
              </a:rPr>
              <a:t>LIVE CODING</a:t>
            </a:r>
            <a:endParaRPr lang="en-us" sz="1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AUAABwNQAAMBgAABAAAAAmAAAACAAAAP//////////"/>
              </a:ext>
            </a:extLst>
          </p:cNvSpPr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FFFFFF"/>
                </a:solidFill>
              </a:rPr>
              <a:t>Full app: add + delete</a:t>
            </a:r>
            <a:endParaRPr lang="en-us" sz="28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MAYAACgMgAAABsAABAAAAAmAAAACAAAAP//////////"/>
              </a:ext>
            </a:extLst>
          </p:cNvSpPr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8B95A5"/>
                </a:solidFill>
              </a:rPr>
              <a:t>Combining form + list + deletion into one working screen</a:t>
            </a:r>
            <a:endParaRPr lang="en-us" sz="13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21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SwpR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REFERENCE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Full HomeScreen code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QAAAA0AAAAAkAAAAEgAAACQAAAASAAAAAAAAAAAAAAAAAAAAAEAAABQAAAA3UHsTKHzqj8AAAAAAADwvwAAAAAAAOA/AAAAAAAA4D8AAAAAAADgPwAAAAAAAOA/AAAAAAAA4D8AAAAAAADgPwAAAAAAAOA/AAAAAAAA4D8CAAAAjAAAAAEAAAAAAAAAHh8p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h8pAP///wEAAAAAAAAAAAAAAAAAAAAAAAAAAAAAAAAAAAAAAAAAAAAAAAB/f38A5+bmA8zMzADAwP8Af39/AAAAAAAAAAAAAAAAAAAAAAAAAAAAIQAAABgAAAAUAAAA0AIAAFAHAABwNQAAsBwAABAAAAAmAAAACAAAAP//////////"/>
              </a:ext>
            </a:extLst>
          </p:cNvSpPr>
          <p:nvPr/>
        </p:nvSpPr>
        <p:spPr>
          <a:xfrm>
            <a:off x="457200" y="118872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1E1F29"/>
          </a:solidFill>
          <a:ln>
            <a:noFill/>
          </a:ln>
          <a:effectLst/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6UVg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UVgAP///wEAAAAAAAAAAAAAAAAAAAAAAAAAAAAAAAAAAAAAAAAAAAAAAAB/f38A5+bmA8zMzADAwP8Af39/AAAAAAAAAAAAAAAAAAAAAAAAAAAAIQAAABgAAAAUAAAAgAQAACgIAABYBQAAAAkAABAAAAAmAAAACAAAAP//////////"/>
              </a:ext>
            </a:extLst>
          </p:cNvSpPr>
          <p:nvPr/>
        </p:nvSpPr>
        <p:spPr>
          <a:xfrm>
            <a:off x="731520" y="1325880"/>
            <a:ext cx="137160" cy="137160"/>
          </a:xfrm>
          <a:prstGeom prst="ellipse">
            <a:avLst/>
          </a:prstGeom>
          <a:solidFill>
            <a:srgbClr val="E94560"/>
          </a:solidFill>
          <a:ln>
            <a:noFill/>
          </a:ln>
          <a:effectLst/>
        </p:spPr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8fqM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fqMAP///wEAAAAAAAAAAAAAAAAAAAAAAAAAAAAAAAAAAAAAAAAAAAAAAAB/f38A5+bmA8zMzADAwP8Af39/AAAAAAAAAAAAAAAAAAAAAAAAAAAAIQAAABgAAAAUAAAAoAUAACgIAAB4BgAAAAkAABAAAAAmAAAACAAAAP//////////"/>
              </a:ext>
            </a:extLst>
          </p:cNvSpPr>
          <p:nvPr/>
        </p:nvSpPr>
        <p:spPr>
          <a:xfrm>
            <a:off x="914400" y="1325880"/>
            <a:ext cx="137160" cy="137160"/>
          </a:xfrm>
          <a:prstGeom prst="ellipse">
            <a:avLst/>
          </a:prstGeom>
          <a:solidFill>
            <a:srgbClr val="F1FA8C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wAYAACgIAACYBwAAAAkAABAAAAAmAAAACAAAAP//////////"/>
              </a:ext>
            </a:extLst>
          </p:cNvSpPr>
          <p:nvPr/>
        </p:nvSpPr>
        <p:spPr>
          <a:xfrm>
            <a:off x="1097280" y="1325880"/>
            <a:ext cx="137160" cy="137160"/>
          </a:xfrm>
          <a:prstGeom prst="ellipse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LgIAABQNAAA2BsAAAAAAAAmAAAACAAAAP//////////"/>
              </a:ext>
            </a:extLst>
          </p:cNvSpPr>
          <p:nvPr/>
        </p:nvSpPr>
        <p:spPr>
          <a:xfrm>
            <a:off x="731520" y="1417320"/>
            <a:ext cx="7772400" cy="3108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br/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import { useState } from 'react';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import { View, TextInput, Pressable, Text, ScrollView } from 'react-native';</a:t>
            </a:r>
            <a:br/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BD93F9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export default function HomeScreen() {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[title, setTitle] = useState('');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[dest, setDest] = useState('');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[date, setDate] = useState('');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[rating, setRating] = useState('');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[trips, setTrips] = useState&lt;Trip[]&gt;([]);</a:t>
            </a:r>
            <a:br/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50FA7B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addTrip = () =&gt; { ... };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E94560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const deleteTrip = (id) =&gt; { ... };</a:t>
            </a:r>
            <a:endParaRPr lang="en-us" sz="1100" cap="none">
              <a:solidFill>
                <a:srgbClr val="E94560"/>
              </a:solidFill>
              <a:latin typeface="Consolas" pitchFamily="3" charset="-18"/>
              <a:ea typeface="Consolas" pitchFamily="3" charset="-18"/>
              <a:cs typeface="Consolas" pitchFamily="3" charset="-18"/>
            </a:endParaRPr>
          </a:p>
          <a:p>
            <a:pPr marL="0" indent="0">
              <a:buNone/>
              <a:defRPr lang="en-us" sz="1100" cap="none"/>
            </a:pPr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return (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8B95A5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&lt;ScrollView&gt; {/* Form + TripCard list */}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  &lt;/ScrollView&gt;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  );</a:t>
            </a:r>
            <a:endParaRPr lang="en-us" sz="1100" cap="none"/>
          </a:p>
          <a:p>
            <a:pPr marL="0" indent="0">
              <a:buNone/>
            </a:pPr>
            <a:r>
              <a:rPr lang="en-us" sz="1100" cap="none">
                <a:solidFill>
                  <a:srgbClr val="FFFFFF"/>
                </a:solidFill>
                <a:latin typeface="Consolas" pitchFamily="3" charset="-18"/>
                <a:ea typeface="Consolas" pitchFamily="3" charset="-18"/>
                <a:cs typeface="Consolas" pitchFamily="3" charset="-18"/>
              </a:rPr>
              <a:t>}</a:t>
            </a:r>
            <a:endParaRPr lang="en-us" sz="11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22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sBMAAIAEAACQJAAAYBUAABAAAAAmAAAACAAAAP//////////"/>
              </a:ext>
            </a:extLst>
          </p:cNvSpPr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pic>
        <p:nvPicPr>
          <p:cNvPr id="3" name="Image 0" descr="preencoded.png"/>
          <p:cNvPicPr>
            <a:picLocks noChangeAspect="1"/>
            <a:extLst>
              <a:ext uri="smNativeData">
                <pr:smNativeData xmlns:pr="smNativeData" xmlns="smNativeData" val="SMDATA_17_GJ+6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9k/n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BAXAACYBwAAMCEAALgR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234440"/>
            <a:ext cx="1645920" cy="1645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 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VAABwNQAAUBkAABAAAAAmAAAACAAAAP//////////"/>
              </a:ext>
            </a:extLst>
          </p:cNvSpPr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3600" b="1" cap="none">
                <a:solidFill>
                  <a:srgbClr val="FFFFFF"/>
                </a:solidFill>
              </a:rPr>
              <a:t>Questions?</a:t>
            </a:r>
            <a:endParaRPr lang="en-us" sz="36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UAAFAZAACgMgAAkBsAABAAAAAmAAAACAAAAP//////////"/>
              </a:ext>
            </a:extLst>
          </p:cNvSpPr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400" cap="none">
                <a:solidFill>
                  <a:srgbClr val="8B95A5"/>
                </a:solidFill>
              </a:rPr>
              <a:t>Doubts? Something not working? Now is the time!</a:t>
            </a:r>
            <a:endParaRPr lang="en-us" sz="14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23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TASK</a:t>
            </a:r>
            <a:endParaRPr lang="en-us" sz="800" cap="none"/>
          </a:p>
        </p:txBody>
      </p:sp>
      <p:sp>
        <p:nvSpPr>
          <p:cNvPr id="3" name="Text 1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212529"/>
                </a:solidFill>
              </a:rPr>
              <a:t>Practical Task</a:t>
            </a:r>
            <a:endParaRPr lang="en-us" sz="3000" cap="none"/>
          </a:p>
        </p:txBody>
      </p:sp>
      <p:sp>
        <p:nvSpPr>
          <p:cNvPr id="4" name="Shape 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4wIAAOAHAACDNQAAoBcAABAAAAAmAAAACAAAAP//////////"/>
              </a:ext>
            </a:extLst>
          </p:cNvSpPr>
          <p:nvPr/>
        </p:nvSpPr>
        <p:spPr>
          <a:xfrm>
            <a:off x="469265" y="1280160"/>
            <a:ext cx="82296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OAHAAAmAwAAoBcAABAAAAAmAAAACAAAAP//////////"/>
              </a:ext>
            </a:extLst>
          </p:cNvSpPr>
          <p:nvPr/>
        </p:nvSpPr>
        <p:spPr>
          <a:xfrm>
            <a:off x="457200" y="1280160"/>
            <a:ext cx="54610" cy="25603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6" name="Text 4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CgIAACAMQAAIAoAABAAAAAmAAAACAAAAP//////////"/>
              </a:ext>
            </a:extLst>
          </p:cNvSpPr>
          <p:nvPr/>
        </p:nvSpPr>
        <p:spPr>
          <a:xfrm>
            <a:off x="731520" y="1325880"/>
            <a:ext cx="7315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61DAFB"/>
                </a:solidFill>
              </a:rPr>
              <a:t>Core Task</a:t>
            </a:r>
            <a:endParaRPr lang="en-us" sz="1500" cap="none"/>
          </a:p>
        </p:txBody>
      </p:sp>
      <p:sp>
        <p:nvSpPr>
          <p:cNvPr id="7" name="Text 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GgKAABQNAAAyBYAAAAAAAAmAAAACAAAAP//////////"/>
              </a:ext>
            </a:extLst>
          </p:cNvSpPr>
          <p:nvPr/>
        </p:nvSpPr>
        <p:spPr>
          <a:xfrm>
            <a:off x="731520" y="1691640"/>
            <a:ext cx="7772400" cy="2011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1. Add useState to HomeScreen with empty trips array</a:t>
            </a:r>
            <a:endParaRPr lang="en-us" sz="1300" cap="none"/>
          </a:p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2. Create a form with 4 TextInput fields:</a:t>
            </a:r>
            <a:r>
              <a:rPr lang="en-us" sz="1300" cap="none"/>
              <a:t> </a:t>
            </a:r>
            <a:r>
              <a:rPr lang="en-us" sz="1200" cap="none">
                <a:solidFill>
                  <a:srgbClr val="61DAFB"/>
                </a:solidFill>
              </a:rPr>
              <a:t>title, destination, date, rating</a:t>
            </a:r>
            <a:endParaRPr lang="en-us" sz="1300" cap="none"/>
          </a:p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3. "Add" button -&gt; handleAddTrip -&gt; new TripCard</a:t>
            </a:r>
            <a:endParaRPr lang="en-us" sz="1300" cap="none"/>
          </a:p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4. Display trips list using .map() with TripCard</a:t>
            </a:r>
            <a:endParaRPr lang="en-us" sz="1300" cap="none"/>
          </a:p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5. Remember key={trip.id} and empty field validation!</a:t>
            </a:r>
            <a:endParaRPr lang="en-us" sz="1300" cap="none"/>
          </a:p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6. Rating: TextInput -&gt; Number() -&gt; prop to TripCard</a:t>
            </a:r>
            <a:endParaRPr lang="en-us" sz="1300" cap="none"/>
          </a:p>
        </p:txBody>
      </p:sp>
      <p:sp>
        <p:nvSpPr>
          <p:cNvPr id="8" name="Shape 6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QAAAAAAAAAGAAAAAAAAAAEAAAAAAAAAWAAAAOT///8cAAAAZAAAAGQAAAAAAAAAy8vLAFgAAADk////HAAAAGQAAABkAAAAAAAAABcAAAAUAAAAAAAAAAAAAAD/fwAA/38AAAAAAAAJAAAABAAAAAAAAAAeAAAAaAAAAAAAAAAAAAAAAAAAAAAAAAAAAAAAECcAABAnAAAAAAAAAAAAAAAAAAAAAAAAAAAAAAAAAAAAAAAAAAAAAHgAAAAAAAAAwMD/AAAAAAAAAAAAAA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B/f38AAAAAAMvLywDAwP8Af39/AAAAAAAAAAAAAAAAAAAAAAAAAAAAIQAAABgAAAAUAAAA0AIAAMAYAABwNQAA0B0AABAAAAAmAAAACAAAAP//////////"/>
              </a:ext>
            </a:extLst>
          </p:cNvSpPr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145" dir="8100000" algn="bl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/7hs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7hsAP///wEAAAAAAAAAAAAAAAAAAAAAAAAAAAAAAAAAAAAAAAAAAAAAAAB/f38A5+bmA8zMzADAwP8Af39/AAAAAAAAAAAAAAAAAAAAAAAAAAAAIQAAABgAAAAUAAAA0AIAAMAYAAAmAwAA0B0AABAAAAAmAAAACAAAAP//////////"/>
              </a:ext>
            </a:extLst>
          </p:cNvSpPr>
          <p:nvPr/>
        </p:nvSpPr>
        <p:spPr>
          <a:xfrm>
            <a:off x="457200" y="4023360"/>
            <a:ext cx="54610" cy="822960"/>
          </a:xfrm>
          <a:prstGeom prst="rect">
            <a:avLst/>
          </a:prstGeom>
          <a:solidFill>
            <a:srgbClr val="FFB86C"/>
          </a:solidFill>
          <a:ln>
            <a:noFill/>
          </a:ln>
          <a:effectLst/>
        </p:spPr>
      </p:sp>
      <p:sp>
        <p:nvSpPr>
          <p:cNvPr id="10" name="Text 8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N0YAACAMQAAjRoAABAAAAAmAAAACAAAAP//////////"/>
              </a:ext>
            </a:extLst>
          </p:cNvSpPr>
          <p:nvPr/>
        </p:nvSpPr>
        <p:spPr>
          <a:xfrm>
            <a:off x="731520" y="4041775"/>
            <a:ext cx="73152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FFB86C"/>
                </a:solidFill>
              </a:rPr>
              <a:t>Extension ★</a:t>
            </a:r>
            <a:endParaRPr lang="en-us" sz="1500" cap="none"/>
          </a:p>
        </p:txBody>
      </p:sp>
      <p:sp>
        <p:nvSpPr>
          <p:cNvPr id="11" name="Text 9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LgaAABQNAAAiB0AABAAAAAmAAAACAAAAP//////////"/>
              </a:ext>
            </a:extLst>
          </p:cNvSpPr>
          <p:nvPr/>
        </p:nvSpPr>
        <p:spPr>
          <a:xfrm>
            <a:off x="731520" y="4343400"/>
            <a:ext cx="7772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Add delete button to TripCard (onDelete prop)</a:t>
            </a:r>
            <a:endParaRPr lang="en-us" sz="1300" cap="none"/>
          </a:p>
          <a:p>
            <a:pPr marL="0" indent="0">
              <a:spcAft>
                <a:spcPts val="400"/>
              </a:spcAft>
              <a:buNone/>
            </a:pPr>
            <a:r>
              <a:rPr lang="en-us" sz="1300" cap="none">
                <a:solidFill>
                  <a:srgbClr val="495057"/>
                </a:solidFill>
              </a:rPr>
              <a:t>Add validation: rating only 1-5, date in YYYY-MM format</a:t>
            </a:r>
            <a:endParaRPr lang="en-us" sz="1300" cap="none"/>
          </a:p>
        </p:txBody>
      </p:sp>
      <p:sp>
        <p:nvSpPr>
          <p:cNvPr id="12" name="Text 1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8B95A5"/>
                </a:solidFill>
              </a:rPr>
              <a:t>24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YPr//2D6//9ACwAAQAsAABAAAAAmAAAACAAAAP//////////"/>
              </a:ext>
            </a:extLst>
          </p:cNvSpPr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3" name="Shape 1"/>
          <p:cNvSpPr>
            <a:extLst>
              <a:ext uri="smNativeData">
                <pr:smNativeData xmlns:pr="smNativeData" xmlns="smNativeData" val="SMDATA_15_GJ+6aRMAAAAlAAAAZgAAAA0AAAAAkAAAAEgAAACQAAAASAAAAAAAAAAAAAAAAAAAAAEAAABQAAAAAAAAAAAA8D8AAAAAAADw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AC0AALATAACAQwAAMCoAABAAAAAmAAAACAAAAP//////////"/>
              </a:ext>
            </a:extLst>
          </p:cNvSpPr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4" name="Text 2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ABAAD4EwAAQwMAABAAAAAmAAAACAAAAP//////////"/>
              </a:ext>
            </a:extLst>
          </p:cNvSpPr>
          <p:nvPr/>
        </p:nvSpPr>
        <p:spPr>
          <a:xfrm>
            <a:off x="502920" y="274320"/>
            <a:ext cx="27432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800" b="1" cap="none" spc="60">
                <a:solidFill>
                  <a:srgbClr val="61DAFB"/>
                </a:solidFill>
              </a:rPr>
              <a:t>SUMMARY</a:t>
            </a:r>
            <a:endParaRPr lang="en-us" sz="800" cap="none"/>
          </a:p>
        </p:txBody>
      </p:sp>
      <p:sp>
        <p:nvSpPr>
          <p:cNvPr id="5" name="Text 3"/>
          <p:cNvSpPr>
            <a:extLst>
              <a:ext uri="smNativeData">
                <pr:smNativeData xmlns:pr="smNativeData" xmlns="smNativeData" val="SMDATA_15_GJ+6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GADAABwNQAAwAYAABAAAAAmAAAACAAAAP//////////"/>
              </a:ext>
            </a:extLst>
          </p:cNvSpPr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>
              <a:buNone/>
            </a:pPr>
            <a:r>
              <a:rPr lang="en-us" sz="3000" b="1" cap="none">
                <a:solidFill>
                  <a:srgbClr val="FFFFFF"/>
                </a:solidFill>
              </a:rPr>
              <a:t>TravelSnap Progress</a:t>
            </a:r>
            <a:endParaRPr lang="en-us" sz="3000" cap="none"/>
          </a:p>
        </p:txBody>
      </p:sp>
      <p:sp>
        <p:nvSpPr>
          <p:cNvPr id="6" name="Shape 4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HAIAAAAGwAAsBMAABAAAAAmAAAACAAAAP//////////"/>
              </a:ext>
            </a:extLst>
          </p:cNvSpPr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7" name="Shape 5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i5Wl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5WlAP///wEAAAAAAAAAAAAAAAAAAAAAAAAAAAAAAAAAAAAAAAAAAAAAAAB/f38A5+bmA8zMzADAwP8Af39/AAAAAAAAAAAAAAAAAAAAAAAAAAAAIQAAABgAAAAUAAAA0AIAAHAIAAAAGwAAuAgAABAAAAAmAAAACAAAAP//////////"/>
              </a:ext>
            </a:extLst>
          </p:cNvSpPr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8B95A5"/>
          </a:solidFill>
          <a:ln>
            <a:noFill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AAJAADQFAAA+AoAABAAAAAmAAAACAAAAP//////////"/>
              </a:ext>
            </a:extLst>
          </p:cNvSpPr>
          <p:nvPr/>
        </p:nvSpPr>
        <p:spPr>
          <a:xfrm>
            <a:off x="640080" y="146304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8B95A5"/>
                </a:solidFill>
              </a:rPr>
              <a:t>After Lecture 2:</a:t>
            </a:r>
            <a:endParaRPr lang="en-us" sz="13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AMAAEALAABQGQAAwA8AABAAAAAmAAAACAAAAP//////////"/>
              </a:ext>
            </a:extLst>
          </p:cNvSpPr>
          <p:nvPr/>
        </p:nvSpPr>
        <p:spPr>
          <a:xfrm>
            <a:off x="640080" y="1828800"/>
            <a:ext cx="347472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cap="none">
                <a:solidFill>
                  <a:srgbClr val="CED4DA"/>
                </a:solidFill>
              </a:rPr>
              <a:t>Static TripCard list</a:t>
            </a:r>
            <a:endParaRPr lang="en-us" sz="14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400" cap="none">
                <a:solidFill>
                  <a:srgbClr val="CED4DA"/>
                </a:solidFill>
              </a:rPr>
              <a:t>with props and TypeScript</a:t>
            </a:r>
            <a:endParaRPr lang="en-us" sz="14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QB0AAHAIAACQNgAAsBMAABAAAAAmAAAACAAAAP//////////"/>
              </a:ext>
            </a:extLst>
          </p:cNvSpPr>
          <p:nvPr/>
        </p:nvSpPr>
        <p:spPr>
          <a:xfrm>
            <a:off x="4754880" y="1371600"/>
            <a:ext cx="4114800" cy="182880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1" name="Shape 9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UPp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Pp7AP///wEAAAAAAAAAAAAAAAAAAAAAAAAAAAAAAAAAAAAAAAAAAAAAAAB/f38A5+bmA8zMzADAwP8Af39/AAAAAAAAAAAAAAAAAAAAAAAAAAAAIQAAABgAAAAUAAAAQB0AAHAIAACQNgAAuAgAABAAAAAmAAAACAAAAP//////////"/>
              </a:ext>
            </a:extLst>
          </p:cNvSpPr>
          <p:nvPr/>
        </p:nvSpPr>
        <p:spPr>
          <a:xfrm>
            <a:off x="4754880" y="1371600"/>
            <a:ext cx="4114800" cy="45720"/>
          </a:xfrm>
          <a:prstGeom prst="rect">
            <a:avLst/>
          </a:prstGeom>
          <a:solidFill>
            <a:srgbClr val="50FA7B"/>
          </a:solidFill>
          <a:ln>
            <a:noFill/>
          </a:ln>
          <a:effectLst/>
        </p:spPr>
      </p:sp>
      <p:sp>
        <p:nvSpPr>
          <p:cNvPr id="12" name="Text 10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AAJAABALwAA+AoAABAAAAAmAAAACAAAAP//////////"/>
              </a:ext>
            </a:extLst>
          </p:cNvSpPr>
          <p:nvPr/>
        </p:nvSpPr>
        <p:spPr>
          <a:xfrm>
            <a:off x="4937760" y="1463040"/>
            <a:ext cx="2743200" cy="320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300" b="1" cap="none">
                <a:solidFill>
                  <a:srgbClr val="50FA7B"/>
                </a:solidFill>
              </a:rPr>
              <a:t>After Lecture 3:</a:t>
            </a:r>
            <a:endParaRPr lang="en-us" sz="1300" cap="none"/>
          </a:p>
        </p:txBody>
      </p:sp>
      <p:sp>
        <p:nvSpPr>
          <p:cNvPr id="13" name="Text 11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YB4AAEALAADgNAAA4BAAABAAAAAmAAAACAAAAP//////////"/>
              </a:ext>
            </a:extLst>
          </p:cNvSpPr>
          <p:nvPr/>
        </p:nvSpPr>
        <p:spPr>
          <a:xfrm>
            <a:off x="4937760" y="1828800"/>
            <a:ext cx="36576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cap="none">
                <a:solidFill>
                  <a:srgbClr val="CED4DA"/>
                </a:solidFill>
              </a:rPr>
              <a:t>Interactive form + dynamic</a:t>
            </a:r>
            <a:endParaRPr lang="en-us" sz="1400" cap="none"/>
          </a:p>
          <a:p>
            <a:pPr marL="0" indent="0">
              <a:lnSpc>
                <a:spcPct val="140000"/>
              </a:lnSpc>
              <a:buNone/>
            </a:pPr>
            <a:r>
              <a:rPr lang="en-us" sz="1400" cap="none">
                <a:solidFill>
                  <a:srgbClr val="CED4DA"/>
                </a:solidFill>
              </a:rPr>
              <a:t>list + adding and removing trips!</a:t>
            </a:r>
            <a:endParaRPr lang="en-us" sz="1400" cap="none"/>
          </a:p>
        </p:txBody>
      </p:sp>
      <p:sp>
        <p:nvSpPr>
          <p:cNvPr id="14" name="Shape 12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ER01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R01AP///wEAAAAAAAAAAAAAAAAAAAAAAAAAAAAAAAAAAAAAAAAAAAAAAAB/f38A5+bmA8zMzADAwP8Af39/AAAAAAAAAAAAAAAAAAAAAAAAAAAAIQAAABgAAAAUAAAA0AIAAGAVAABwNQAAQB0AABAAAAAmAAAACAAAAP//////////"/>
              </a:ext>
            </a:extLst>
          </p:cNvSpPr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111D35"/>
          </a:solidFill>
          <a:ln>
            <a:noFill/>
          </a:ln>
          <a:effectLst/>
        </p:spPr>
      </p:sp>
      <p:sp>
        <p:nvSpPr>
          <p:cNvPr id="15" name="Shape 13"/>
          <p:cNvSpPr>
            <a:extLst>
              <a:ext uri="smNativeData">
                <pr:smNativeData xmlns:pr="smNativeData" xmlns="smNativeData" val="SMDATA_15_GJ+6aRMAAAAlAAAAZAAAAA0AAAAAkAAAAEgAAACQAAAASAAAAAAAAAAAAAAAAAAAAAEAAABQAAAAAAAAAAAA4D8AAAAAAADgPwAAAAAAAOA/AAAAAAAA4D8AAAAAAADgPwAAAAAAAOA/AAAAAAAA4D8AAAAAAADgPwAAAAAAAOA/AAAAAAAA4D8CAAAAjAAAAAEAAAAAAAAAYdr7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Ydr7AP///wEAAAAAAAAAAAAAAAAAAAAAAAAAAAAAAAAAAAAAAAAAAAAAAAB/f38A5+bmA8zMzADAwP8Af39/AAAAAAAAAAAAAAAAAAAAAAAAAAAAIQAAABgAAAAUAAAA0AIAAGAVAAAYAwAAQB0AABAAAAAmAAAACAAAAP//////////"/>
              </a:ext>
            </a:extLst>
          </p:cNvSpPr>
          <p:nvPr/>
        </p:nvSpPr>
        <p:spPr>
          <a:xfrm>
            <a:off x="457200" y="3474720"/>
            <a:ext cx="45720" cy="128016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</p:sp>
      <p:sp>
        <p:nvSpPr>
          <p:cNvPr id="16" name="Text 14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PAVAACAMQAAMBgAABAAAAAmAAAACAAAAP//////////"/>
              </a:ext>
            </a:extLst>
          </p:cNvSpPr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61DAFB"/>
                </a:solidFill>
              </a:rPr>
              <a:t>Lecture 4: Styling and Layout</a:t>
            </a:r>
            <a:endParaRPr lang="en-us" sz="1600" cap="none"/>
          </a:p>
        </p:txBody>
      </p:sp>
      <p:sp>
        <p:nvSpPr>
          <p:cNvPr id="17" name="Text 15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QAAHgYAACAMQAA+BwAABAAAAAmAAAACAAAAP//////////"/>
              </a:ext>
            </a:extLst>
          </p:cNvSpPr>
          <p:nvPr/>
        </p:nvSpPr>
        <p:spPr>
          <a:xfrm>
            <a:off x="731520" y="3977640"/>
            <a:ext cx="7315200" cy="7315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300" cap="none">
                <a:solidFill>
                  <a:srgbClr val="CED4DA"/>
                </a:solidFill>
              </a:rPr>
              <a:t>StyleSheet.create() - advanced styling</a:t>
            </a:r>
            <a:endParaRPr lang="en-us" sz="1300" cap="none"/>
          </a:p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300" cap="none">
                <a:solidFill>
                  <a:srgbClr val="CED4DA"/>
                </a:solidFill>
              </a:rPr>
              <a:t>Flexbox - responsive layout in React Native</a:t>
            </a:r>
            <a:endParaRPr lang="en-us" sz="1300" cap="none"/>
          </a:p>
          <a:p>
            <a:pPr marL="342900" indent="-342900">
              <a:spcAft>
                <a:spcPts val="400"/>
              </a:spcAft>
              <a:buSzTx/>
              <a:buChar char="•"/>
            </a:pPr>
            <a:r>
              <a:rPr lang="en-us" sz="1300" cap="none">
                <a:solidFill>
                  <a:srgbClr val="CED4DA"/>
                </a:solidFill>
              </a:rPr>
              <a:t>TripCard gets full design with gradients and shadows!</a:t>
            </a:r>
            <a:endParaRPr lang="en-us" sz="1300" cap="none"/>
          </a:p>
        </p:txBody>
      </p:sp>
      <p:sp>
        <p:nvSpPr>
          <p:cNvPr id="18" name="Text 16"/>
          <p:cNvSpPr>
            <a:extLst>
              <a:ext uri="smNativeData">
                <pr:smNativeData xmlns:pr="smNativeData" xmlns="smNativeData" val="SMDATA_15_GJ+6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C8AAEAdAACQNgAA8B4AABAAAAAmAAAACAAAAP//////////"/>
              </a:ext>
            </a:extLst>
          </p:cNvSpPr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r">
              <a:buNone/>
            </a:pPr>
            <a:r>
              <a:rPr lang="en-us" sz="900" cap="none">
                <a:solidFill>
                  <a:srgbClr val="4A6FA5"/>
                </a:solidFill>
              </a:rPr>
              <a:t>25 / 25</a:t>
            </a:r>
            <a:endParaRPr lang="en-us" sz="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3 - State, Hooks and Interactivity</dc:title>
  <dc:subject>PptxGenJS Presentation</dc:subject>
  <dc:creator>React Native Lecturer</dc:creator>
  <cp:keywords/>
  <dc:description/>
  <cp:lastModifiedBy>kajet</cp:lastModifiedBy>
  <cp:revision>0</cp:revision>
  <dcterms:created xsi:type="dcterms:W3CDTF">2026-03-18T11:47:38Z</dcterms:created>
  <dcterms:modified xsi:type="dcterms:W3CDTF">2026-03-18T12:48:24Z</dcterms:modified>
</cp:coreProperties>
</file>