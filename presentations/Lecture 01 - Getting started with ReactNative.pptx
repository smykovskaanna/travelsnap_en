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/>
  <p:notesSz cx="51435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2639824" val="1068" revOS="4"/>
      <pr:smFileRevision xmlns:pr="smNativeData" xmlns="smNativeData" dt="1772639824" val="101"/>
      <pr:guideOptions xmlns:pr="smNativeData" xmlns="smNativeData" dt="1772639824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130" d="100"/>
          <a:sy n="130" d="100"/>
        </p:scale>
        <p:origin x="285" y="240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>
        <p:scale>
          <a:sx n="130" d="100"/>
          <a:sy n="130" d="100"/>
        </p:scale>
        <p:origin x="285" y="240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3708714C-02DA-5D87-94B0-F4D23FFE62A1}" type="datetime1">
              <a:t>7/23/19</a:t>
            </a:fld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e10U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endParaRPr lang="en-us" cap="none"/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G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G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3708142C-62DA-5DE2-94B0-94B75AFE62C1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i07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7DB1-FFDA-5D8B-94B0-09DE33FE625C}" type="slidenum">
              <a:t>1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RX4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JsbH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xCgA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3F03-4DDA-5DC9-94B0-BB9C71FE62EE}" type="slidenum">
              <a:rPr lang="en-us" cap="none"/>
              <a:t>2</a:t>
            </a:fld>
            <a:endParaRPr lang="en-us" cap="none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DAw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62EB-A5DA-5D94-94B0-53C12CFE6206}" type="slidenum">
              <a:rPr lang="en-us" cap="none"/>
              <a:t>3</a:t>
            </a:fld>
            <a:endParaRPr lang="en-us" cap="none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/1LJ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r7/2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Yd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3C4B-05DA-5DCA-94B0-F39F72FE62A6}" type="slidenum">
              <a:rPr lang="en-us" cap="none"/>
              <a:t>4</a:t>
            </a:fld>
            <a:endParaRPr lang="en-us" cap="none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2D3E-70DA-5DDB-94B0-868E63FE62D3}" type="slidenum">
              <a:rPr lang="en-us" cap="none"/>
              <a:t>5</a:t>
            </a:fld>
            <a:endParaRPr lang="en-us" cap="none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4AA4-EADA-5DBC-94B0-1CE904FE6249}" type="slidenum">
              <a:rPr lang="en-us" cap="none"/>
              <a:t>6</a:t>
            </a:fld>
            <a:endParaRPr lang="en-us" cap="none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0DF2-BCDA-5DFB-94B0-4AAE43FE621F}" type="slidenum">
              <a:rPr lang="en-us" cap="none"/>
              <a:t>7</a:t>
            </a:fld>
            <a:endParaRPr lang="en-us" cap="none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7DE7-A9DA-5D8B-94B0-5FDE33FE620A}" type="slidenum">
              <a:rPr lang="en-us" cap="none"/>
              <a:t>8</a:t>
            </a:fld>
            <a:endParaRPr lang="en-us" cap="none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Q8a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GFAA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40B8-F6DA-5DB6-94B0-00E30EFE6255}" type="slidenum">
              <a:rPr lang="en-us" cap="none"/>
              <a:t>9</a:t>
            </a:fld>
            <a:endParaRPr lang="en-us" cap="none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xxg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4917-59DA-5DBF-94B0-AFEA07FE62FA}" type="slidenum">
              <a:rPr lang="en-us" cap="none"/>
              <a:t>10</a:t>
            </a:fld>
            <a:endParaRPr lang="en-us" cap="none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4EE2-ACDA-5DB8-94B0-5AED00FE620F}" type="slidenum">
              <a:rPr lang="en-us" cap="none"/>
              <a:t>11</a:t>
            </a:fld>
            <a:endParaRPr lang="en-us" cap="none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5395-DBDA-5DA5-94B0-2DF01DFE6278}" type="slidenum">
              <a:rPr lang="en-us" cap="none"/>
              <a:t>12</a:t>
            </a:fld>
            <a:endParaRPr lang="en-us" cap="none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6F65-2BDA-5D99-94B0-DDCC21FE6288}" type="slidenum">
              <a:rPr lang="en-us" cap="none"/>
              <a:t>13</a:t>
            </a:fld>
            <a:endParaRPr lang="en-us" cap="none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2FB4-FADA-5DD9-94B0-0C8C61FE6259}" type="slidenum">
              <a:rPr lang="en-us" cap="none"/>
              <a:t>14</a:t>
            </a:fld>
            <a:endParaRPr lang="en-us" cap="none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2953-1DDA-5DDF-94B0-EB8A67FE62BE}" type="slidenum">
              <a:rPr lang="en-us" cap="none"/>
              <a:t>15</a:t>
            </a:fld>
            <a:endParaRPr lang="en-us" cap="none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67CE-80DA-5D91-94B0-76C429FE6223}" type="slidenum">
              <a:rPr lang="en-us" cap="none"/>
              <a:t>16</a:t>
            </a:fld>
            <a:endParaRPr lang="en-us" cap="none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64AF-E1DA-5D92-94B0-17C72AFE6242}" type="slidenum">
              <a:rPr lang="en-us" cap="none"/>
              <a:t>17</a:t>
            </a:fld>
            <a:endParaRPr lang="en-us" cap="none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QX5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5DE9-A7DA-5DAB-94B0-51FE13FE6204}" type="slidenum">
              <a:rPr lang="en-us" cap="none"/>
              <a:t>18</a:t>
            </a:fld>
            <a:endParaRPr lang="en-us" cap="none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9h2v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r7/2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2773-3DDA-5DD1-94B0-CB8469FE629E}" type="slidenum">
              <a:rPr lang="en-us" cap="none"/>
              <a:t>19</a:t>
            </a:fld>
            <a:endParaRPr lang="en-us" cap="none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Yd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546C-22DA-5DA2-94B0-D4F71AFE6281}" type="slidenum">
              <a:rPr lang="en-us" cap="none"/>
              <a:t>20</a:t>
            </a:fld>
            <a:endParaRPr lang="en-us" cap="none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Gh/9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qAF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ZBh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6804-4ADA-5D9E-94B0-BCCB26FE62E9}" type="slidenum">
              <a:rPr lang="en-us" cap="none"/>
              <a:t>21</a:t>
            </a:fld>
            <a:endParaRPr lang="en-us" cap="none"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YWBh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y8DL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5858-16DA-5DAE-94B0-E0FB16FE62B5}" type="slidenum">
              <a:rPr lang="en-us" cap="none"/>
              <a:t>22</a:t>
            </a:fld>
            <a:endParaRPr lang="en-us" cap="none"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uAA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kAv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DRAB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4BA8-E6DA-5DBD-94B0-10E805FE6245}" type="slidenum">
              <a:rPr lang="en-us" cap="none"/>
              <a:t>23</a:t>
            </a:fld>
            <a:endParaRPr lang="en-us" cap="none"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CR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REi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1AA2-ECDA-5DEC-94B0-1AB954FE624F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Fao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t4W3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Fao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UAG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7082DA7-E9DA-5DDB-94B0-1F8E63FE624A}" type="slidenum">
              <a:rPr lang="en-us" cap="none"/>
              <a:t>25</a:t>
            </a:fld>
            <a:endParaRPr lang="en-us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1"/>
          </a:solidFill>
          <a:effectLst/>
          <a:latin typeface="Calibri Light" pitchFamily="2" charset="-18"/>
          <a:ea typeface="Calibri Light" pitchFamily="2" charset="-18"/>
          <a:cs typeface="Calibri Light" pitchFamily="2" charset="-18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8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gPv//4D7//9gDAAAYAwAABAAAAAmAAAACAAAAP//////////"/>
              </a:ext>
            </a:extLst>
          </p:cNvSpPr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zc7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MCoAALATAACwQAAAMCoAABAAAAAmAAAACAAAAP//////////"/>
              </a:ext>
            </a:extLst>
          </p:cNvSpPr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7iA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8AMAAAAJAABQBwAAVgkAABAAAAAmAAAACAAAAP//////////"/>
              </a:ext>
            </a:extLst>
          </p:cNvSpPr>
          <p:nvPr/>
        </p:nvSpPr>
        <p:spPr>
          <a:xfrm>
            <a:off x="640080" y="1463040"/>
            <a:ext cx="548640" cy="5461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AqAADABgAAcDUAAAAS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clWn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HgGAADQFAAAcAgAABAAAAAmAAAACAAAAP//////////"/>
              </a:ext>
            </a:extLst>
          </p:cNvSpPr>
          <p:nvPr/>
        </p:nvSpPr>
        <p:spPr>
          <a:xfrm>
            <a:off x="640080" y="105156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b="1" cap="none" spc="100">
                <a:solidFill>
                  <a:srgbClr val="61DAFB"/>
                </a:solidFill>
              </a:rPr>
              <a:t>LECTURE 1</a:t>
            </a:r>
            <a:endParaRPr lang="en-us" sz="11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/p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GgKAACAKAAAaBMAABAAAAAmAAAACAAAAP//////////"/>
              </a:ext>
            </a:extLst>
          </p:cNvSpPr>
          <p:nvPr/>
        </p:nvSpPr>
        <p:spPr>
          <a:xfrm>
            <a:off x="640080" y="1691640"/>
            <a:ext cx="5943600" cy="1463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cap="none">
                <a:solidFill>
                  <a:srgbClr val="FFFFFF"/>
                </a:solidFill>
              </a:rPr>
              <a:t>Getting Started with</a:t>
            </a:r>
            <a:endParaRPr lang="en-us" sz="4000" cap="none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cap="none">
                <a:solidFill>
                  <a:srgbClr val="FFFFFF"/>
                </a:solidFill>
              </a:rPr>
              <a:t>React Native</a:t>
            </a:r>
            <a:endParaRPr lang="en-us" sz="40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g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LATAACwJQAA8BUAABAAAAAmAAAACAAAAP//////////"/>
              </a:ext>
            </a:extLst>
          </p:cNvSpPr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8B95A5"/>
                </a:solidFill>
              </a:rPr>
              <a:t>Mobile Programming Languages — React Native with Expo</a:t>
            </a:r>
            <a:endParaRPr lang="en-us" sz="140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UFaoaRMAAAAlAAAAZQAAAA0AAAAAkAAAAEgAAACQAAAASAAAAAAAAAAAAAAAAAAAAAEAAABQAAAANgLxun7B1j8AAAAAAADwvwAAAAAAAOA/AAAAAAAA4D8AAAAAAADgPwAAAAAAAOA/AAAAAAAA4D8AAAAAAADgPwAAAAAAAOA/AAAAAAAA4D8CAAAAjAAAAAEAAAAAAAAAFiE+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iE+AP///wEAAAAAAAAAAAAAAAAAAAAAAAAAAAAAAAAAAAAAAAAAAAAAAAB/f38A5+bmA8zMzADAwP8Af39/AAAAAAAAAAAAAAAAAAAAAAAAAAAAIQAAABgAAAAUAAAA8AMAAKAXAACwEwAAKBoAABAAAAAmAAAACAAAAP//////////"/>
              </a:ext>
            </a:extLst>
          </p:cNvSpPr>
          <p:nvPr/>
        </p:nvSpPr>
        <p:spPr>
          <a:xfrm>
            <a:off x="640080" y="384048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16213E"/>
          </a:solidFill>
          <a:ln>
            <a:noFill/>
          </a:ln>
          <a:effectLst/>
        </p:spPr>
      </p:sp>
      <p:pic>
        <p:nvPicPr>
          <p:cNvPr id="10" name="Image 1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5b/Dg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gEAAAFGAAAMAYAAG0Z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04615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h+p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KAXAADYEgAAKBoAABAAAAAmAAAACAAAAP//////////"/>
              </a:ext>
            </a:extLst>
          </p:cNvSpPr>
          <p:nvPr/>
        </p:nvSpPr>
        <p:spPr>
          <a:xfrm>
            <a:off x="1051560" y="3840480"/>
            <a:ext cx="201168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>
                <a:solidFill>
                  <a:srgbClr val="FFFFFF"/>
                </a:solidFill>
              </a:rPr>
              <a:t>Project: TravelSnap</a:t>
            </a:r>
            <a:endParaRPr lang="en-us" sz="1200" cap="none"/>
          </a:p>
        </p:txBody>
      </p:sp>
      <p:sp>
        <p:nvSpPr>
          <p:cNvPr id="12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NSl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AGENDA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200" b="1" cap="none">
                <a:solidFill>
                  <a:srgbClr val="212529"/>
                </a:solidFill>
              </a:rPr>
              <a:t>What are we doing today?</a:t>
            </a:r>
            <a:endParaRPr lang="en-us" sz="32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QAAAA0AAAAAkAAAAEgAAACQAAAASAAAAAAAAAAAAAAAAAAAAAEAAABQAAAA4q/JGvUQ0T8AAAAAAADwv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HAIAABwNQAA0AsAABAAAAAmAAAACAAAAP//////////"/>
              </a:ext>
            </a:extLst>
          </p:cNvSpPr>
          <p:nvPr/>
        </p:nvSpPr>
        <p:spPr>
          <a:xfrm>
            <a:off x="457200" y="13716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AdCQAA6AUAABU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45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AH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cAAHAIAADoMgAA0AsAABAAAAAmAAAACAAAAP//////////"/>
              </a:ext>
            </a:extLst>
          </p:cNvSpPr>
          <p:nvPr/>
        </p:nvSpPr>
        <p:spPr>
          <a:xfrm>
            <a:off x="1143000" y="1371600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cap="none">
                <a:solidFill>
                  <a:srgbClr val="212529"/>
                </a:solidFill>
              </a:rPr>
              <a:t>What is React Native and how does it work under the hood</a:t>
            </a:r>
            <a:endParaRPr lang="en-us" sz="1500" cap="none"/>
          </a:p>
        </p:txBody>
      </p:sp>
      <p:sp>
        <p:nvSpPr>
          <p:cNvPr id="7" name="Shape 4"/>
          <p:cNvSpPr>
            <a:extLst>
              <a:ext uri="smNativeData">
                <pr:smNativeData xmlns:pr="smNativeData" xmlns="smNativeData" val="SMDATA_15_UFaoaRMAAAAlAAAAZQAAAA0AAAAAkAAAAEgAAACQAAAASAAAAAAAAAAAAAAAAAAAAAEAAABQAAAA4q/JGvUQ0T8AAAAAAADwv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Fwkwg0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KgMAABwNQAACBAAABAAAAAmAAAACAAAAP//////////"/>
              </a:ext>
            </a:extLst>
          </p:cNvSpPr>
          <p:nvPr/>
        </p:nvSpPr>
        <p:spPr>
          <a:xfrm>
            <a:off x="457200" y="2057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BVDQAA6AUAAE0P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6725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OwM6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cAAKgMAADoMgAACBAAABAAAAAmAAAACAAAAP//////////"/>
              </a:ext>
            </a:extLst>
          </p:cNvSpPr>
          <p:nvPr/>
        </p:nvSpPr>
        <p:spPr>
          <a:xfrm>
            <a:off x="1143000" y="2057400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cap="none">
                <a:solidFill>
                  <a:srgbClr val="212529"/>
                </a:solidFill>
              </a:rPr>
              <a:t>The Expo ecosystem — our best friend</a:t>
            </a:r>
            <a:endParaRPr lang="en-us" sz="1500" cap="none"/>
          </a:p>
        </p:txBody>
      </p:sp>
      <p:sp>
        <p:nvSpPr>
          <p:cNvPr id="10" name="Shape 6"/>
          <p:cNvSpPr>
            <a:extLst>
              <a:ext uri="smNativeData">
                <pr:smNativeData xmlns:pr="smNativeData" xmlns="smNativeData" val="SMDATA_15_UFaoaRMAAAAlAAAAZQAAAA0AAAAAkAAAAEgAAACQAAAASAAAAAAAAAAAAAAAAAAAAAEAAABQAAAA4q/JGvUQ0T8AAAAAAADwv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BzYIRw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OAQAABwNQAAQBQAABAAAAAmAAAACAAAAP//////////"/>
              </a:ext>
            </a:extLst>
          </p:cNvSpPr>
          <p:nvPr/>
        </p:nvSpPr>
        <p:spPr>
          <a:xfrm>
            <a:off x="457200" y="27432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CNEQAA6AUAAIUT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5305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R2YA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cAAOAQAADoMgAAQBQAABAAAAAmAAAACAAAAP//////////"/>
              </a:ext>
            </a:extLst>
          </p:cNvSpPr>
          <p:nvPr/>
        </p:nvSpPr>
        <p:spPr>
          <a:xfrm>
            <a:off x="1143000" y="2743200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cap="none">
                <a:solidFill>
                  <a:srgbClr val="212529"/>
                </a:solidFill>
              </a:rPr>
              <a:t>Setting up the TravelSnap project from scratch</a:t>
            </a:r>
            <a:endParaRPr lang="en-us" sz="1500" cap="none"/>
          </a:p>
        </p:txBody>
      </p:sp>
      <p:sp>
        <p:nvSpPr>
          <p:cNvPr id="13" name="Shape 8"/>
          <p:cNvSpPr>
            <a:extLst>
              <a:ext uri="smNativeData">
                <pr:smNativeData xmlns:pr="smNativeData" xmlns="smNativeData" val="SMDATA_15_UFaoaRMAAAAlAAAAZQAAAA0AAAAAkAAAAEgAAACQAAAASAAAAAAAAAAAAAAAAAAAAAEAAABQAAAA4q/JGvUQ0T8AAAAAAADwv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GVDYWM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BgVAABwNQAAeBgAABAAAAAmAAAACAAAAP//////////"/>
              </a:ext>
            </a:extLst>
          </p:cNvSpPr>
          <p:nvPr/>
        </p:nvSpPr>
        <p:spPr>
          <a:xfrm>
            <a:off x="457200" y="34290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DFFQAA6AUAAL0X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53885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xh5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cAABgVAADoMgAAeBgAABAAAAAmAAAACAAAAP//////////"/>
              </a:ext>
            </a:extLst>
          </p:cNvSpPr>
          <p:nvPr/>
        </p:nvSpPr>
        <p:spPr>
          <a:xfrm>
            <a:off x="1143000" y="3429000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cap="none">
                <a:solidFill>
                  <a:srgbClr val="212529"/>
                </a:solidFill>
              </a:rPr>
              <a:t>Running the app on your phone</a:t>
            </a:r>
            <a:endParaRPr lang="en-us" sz="1500" cap="none"/>
          </a:p>
        </p:txBody>
      </p:sp>
      <p:sp>
        <p:nvSpPr>
          <p:cNvPr id="16" name="Shape 10"/>
          <p:cNvSpPr>
            <a:extLst>
              <a:ext uri="smNativeData">
                <pr:smNativeData xmlns:pr="smNativeData" xmlns="smNativeData" val="SMDATA_15_UFaoaRMAAAAlAAAAZQAAAA0AAAAAkAAAAEgAAACQAAAASAAAAAAAAAAAAAAAAAAAAAEAAABQAAAA4q/JGvUQ0T8AAAAAAADwv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NRl6w0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FAZAABwNQAAsBwAABAAAAAmAAAACAAAAP//////////"/>
              </a:ext>
            </a:extLst>
          </p:cNvSpPr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KKzHZ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D9GQAA6AUAAPUb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2465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57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cAAFAZAADoMgAAsBwAABAAAAAmAAAACAAAAP//////////"/>
              </a:ext>
            </a:extLst>
          </p:cNvSpPr>
          <p:nvPr/>
        </p:nvSpPr>
        <p:spPr>
          <a:xfrm>
            <a:off x="1143000" y="4114800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cap="none">
                <a:solidFill>
                  <a:srgbClr val="212529"/>
                </a:solidFill>
              </a:rPr>
              <a:t>Task: Your first welcome screen</a:t>
            </a:r>
            <a:endParaRPr lang="en-us" sz="1500" cap="none"/>
          </a:p>
        </p:txBody>
      </p:sp>
      <p:sp>
        <p:nvSpPr>
          <p:cNvPr id="19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FQZ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2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CONTEXT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200" b="1" cap="none">
                <a:solidFill>
                  <a:srgbClr val="212529"/>
                </a:solidFill>
              </a:rPr>
              <a:t>How are mobile apps built?</a:t>
            </a:r>
            <a:endParaRPr lang="en-us" sz="32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AAJAADoDgAAABsAABAAAAAmAAAACAAAAP//////////"/>
              </a:ext>
            </a:extLst>
          </p:cNvSpPr>
          <p:nvPr/>
        </p:nvSpPr>
        <p:spPr>
          <a:xfrm>
            <a:off x="457200" y="1463040"/>
            <a:ext cx="19659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lFY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0AIAAAAJAADoDgAAVgkAABAAAAAmAAAACAAAAP//////////"/>
              </a:ext>
            </a:extLst>
          </p:cNvSpPr>
          <p:nvPr/>
        </p:nvSpPr>
        <p:spPr>
          <a:xfrm>
            <a:off x="457200" y="1463040"/>
            <a:ext cx="1965960" cy="5461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wAYAAPgKAACwCgAA6A4AABAAAAAmAAAACAAAAP//////////"/>
              </a:ext>
            </a:extLst>
          </p:cNvSpPr>
          <p:nvPr/>
        </p:nvSpPr>
        <p:spPr>
          <a:xfrm>
            <a:off x="1097280" y="178308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PgKAACwCgAA6A4AABAAAAAmAAAACAAAAP//////////"/>
              </a:ext>
            </a:extLst>
          </p:cNvSpPr>
          <p:nvPr/>
        </p:nvSpPr>
        <p:spPr>
          <a:xfrm>
            <a:off x="1097280" y="178308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1</a:t>
            </a:r>
            <a:endParaRPr lang="en-us" sz="22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MAAMAPAAAQDgAASBIAABAAAAAmAAAACAAAAP//////////"/>
              </a:ext>
            </a:extLst>
          </p:cNvSpPr>
          <p:nvPr/>
        </p:nvSpPr>
        <p:spPr>
          <a:xfrm>
            <a:off x="594360" y="2560320"/>
            <a:ext cx="1691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212529"/>
                </a:solidFill>
              </a:rPr>
              <a:t>Native</a:t>
            </a:r>
            <a:endParaRPr lang="en-us" sz="16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MAAJASAAAQDgAAoBcAABAAAAAmAAAACAAAAP//////////"/>
              </a:ext>
            </a:extLst>
          </p:cNvSpPr>
          <p:nvPr/>
        </p:nvSpPr>
        <p:spPr>
          <a:xfrm>
            <a:off x="594360" y="3017520"/>
            <a:ext cx="16916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Swift / Kotlin</a:t>
            </a:r>
            <a:endParaRPr lang="en-us" sz="1200" cap="none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2 separate projects</a:t>
            </a:r>
            <a:endParaRPr lang="en-us" sz="12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CBAAAAAJAAAgHAAAABsAABAAAAAmAAAACAAAAP//////////"/>
              </a:ext>
            </a:extLst>
          </p:cNvSpPr>
          <p:nvPr/>
        </p:nvSpPr>
        <p:spPr>
          <a:xfrm>
            <a:off x="2606040" y="1463040"/>
            <a:ext cx="19659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i5W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5WlAP///wEAAAAAAAAAAAAAAAAAAAAAAAAAAAAAAAAAAAAAAAAAAAAAAAB/f38A5+bmA8zMzADAwP8Af39/AAAAAAAAAAAAAAAAAAAAAAAAAAAAIQAAABgAAAAUAAAACBAAAAAJAAAgHAAAVgkAABAAAAAmAAAACAAAAP//////////"/>
              </a:ext>
            </a:extLst>
          </p:cNvSpPr>
          <p:nvPr/>
        </p:nvSpPr>
        <p:spPr>
          <a:xfrm>
            <a:off x="2606040" y="1463040"/>
            <a:ext cx="1965960" cy="54610"/>
          </a:xfrm>
          <a:prstGeom prst="rect">
            <a:avLst/>
          </a:prstGeom>
          <a:solidFill>
            <a:srgbClr val="8B95A5"/>
          </a:solidFill>
          <a:ln>
            <a:noFill/>
          </a:ln>
          <a:effectLst/>
        </p:spPr>
      </p:sp>
      <p:sp>
        <p:nvSpPr>
          <p:cNvPr id="12" name="Shape 10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i5W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5WlAP///wEAAAAAAAAAAAAAAAAAAAAAAAAAAAAAAAAAAAAAAAAAAAAAAAB/f38A5+bmA8zMzADAwP8Af39/AAAAAAAAAAAAAAAAAAAAAAAAAAAAIQAAABgAAAAUAAAA+BMAAPgKAADoFwAA6A4AABAAAAAmAAAACAAAAP//////////"/>
              </a:ext>
            </a:extLst>
          </p:cNvSpPr>
          <p:nvPr/>
        </p:nvSpPr>
        <p:spPr>
          <a:xfrm>
            <a:off x="3246120" y="1783080"/>
            <a:ext cx="640080" cy="640080"/>
          </a:xfrm>
          <a:prstGeom prst="ellipse">
            <a:avLst/>
          </a:prstGeom>
          <a:solidFill>
            <a:srgbClr val="8B95A5"/>
          </a:solidFill>
          <a:ln>
            <a:noFill/>
          </a:ln>
          <a:effectLst/>
        </p:spPr>
      </p:sp>
      <p:sp>
        <p:nvSpPr>
          <p:cNvPr id="13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+BMAAPgKAADoFwAA6A4AABAAAAAmAAAACAAAAP//////////"/>
              </a:ext>
            </a:extLst>
          </p:cNvSpPr>
          <p:nvPr/>
        </p:nvSpPr>
        <p:spPr>
          <a:xfrm>
            <a:off x="3246120" y="178308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2</a:t>
            </a:r>
            <a:endParaRPr lang="en-us" sz="22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BAAAMAPAABIGwAASBIAABAAAAAmAAAACAAAAP//////////"/>
              </a:ext>
            </a:extLst>
          </p:cNvSpPr>
          <p:nvPr/>
        </p:nvSpPr>
        <p:spPr>
          <a:xfrm>
            <a:off x="2743200" y="2560320"/>
            <a:ext cx="1691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212529"/>
                </a:solidFill>
              </a:rPr>
              <a:t>PWA</a:t>
            </a:r>
            <a:endParaRPr lang="en-us" sz="160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BAAAJASAABIGwAAoBcAABAAAAAmAAAACAAAAP//////////"/>
              </a:ext>
            </a:extLst>
          </p:cNvSpPr>
          <p:nvPr/>
        </p:nvSpPr>
        <p:spPr>
          <a:xfrm>
            <a:off x="2743200" y="3017520"/>
            <a:ext cx="16916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HTML/CSS/JS</a:t>
            </a:r>
            <a:endParaRPr lang="en-us" sz="1200" cap="none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Limited access</a:t>
            </a:r>
            <a:endParaRPr lang="en-us" sz="1200" cap="none"/>
          </a:p>
        </p:txBody>
      </p:sp>
      <p:sp>
        <p:nvSpPr>
          <p:cNvPr id="16" name="Shape 14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QB0AAAAJAABYKQAAABsAABAAAAAmAAAACAAAAP//////////"/>
              </a:ext>
            </a:extLst>
          </p:cNvSpPr>
          <p:nvPr/>
        </p:nvSpPr>
        <p:spPr>
          <a:xfrm>
            <a:off x="4754880" y="1463040"/>
            <a:ext cx="19659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G02O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02OAP///wEAAAAAAAAAAAAAAAAAAAAAAAAAAAAAAAAAAAAAAAAAAAAAAAB/f38A5+bmA8zMzADAwP8Af39/AAAAAAAAAAAAAAAAAAAAAAAAAAAAIQAAABgAAAAUAAAAQB0AAAAJAABYKQAAVgkAABAAAAAmAAAACAAAAP//////////"/>
              </a:ext>
            </a:extLst>
          </p:cNvSpPr>
          <p:nvPr/>
        </p:nvSpPr>
        <p:spPr>
          <a:xfrm>
            <a:off x="4754880" y="1463040"/>
            <a:ext cx="1965960" cy="54610"/>
          </a:xfrm>
          <a:prstGeom prst="rect">
            <a:avLst/>
          </a:prstGeom>
          <a:solidFill>
            <a:srgbClr val="1B4D8E"/>
          </a:solidFill>
          <a:ln>
            <a:noFill/>
          </a:ln>
          <a:effectLst/>
        </p:spPr>
      </p:sp>
      <p:sp>
        <p:nvSpPr>
          <p:cNvPr id="18" name="Shape 16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G02O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02OAP///wEAAAAAAAAAAAAAAAAAAAAAAAAAAAAAAAAAAAAAAAAAAAAAAAB/f38A5+bmA8zMzADAwP8Af39/AAAAAAAAAAAAAAAAAAAAAAAAAAAAIQAAABgAAAAUAAAAMCEAAPgKAAAgJQAA6A4AABAAAAAmAAAACAAAAP//////////"/>
              </a:ext>
            </a:extLst>
          </p:cNvSpPr>
          <p:nvPr/>
        </p:nvSpPr>
        <p:spPr>
          <a:xfrm>
            <a:off x="5394960" y="1783080"/>
            <a:ext cx="640080" cy="640080"/>
          </a:xfrm>
          <a:prstGeom prst="ellipse">
            <a:avLst/>
          </a:prstGeom>
          <a:solidFill>
            <a:srgbClr val="1B4D8E"/>
          </a:solidFill>
          <a:ln>
            <a:noFill/>
          </a:ln>
          <a:effectLst/>
        </p:spPr>
      </p:sp>
      <p:sp>
        <p:nvSpPr>
          <p:cNvPr id="19" name="Text 1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CEAAPgKAAAgJQAA6A4AABAAAAAmAAAACAAAAP//////////"/>
              </a:ext>
            </a:extLst>
          </p:cNvSpPr>
          <p:nvPr/>
        </p:nvSpPr>
        <p:spPr>
          <a:xfrm>
            <a:off x="5394960" y="178308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3</a:t>
            </a:r>
            <a:endParaRPr lang="en-us" sz="2200" cap="none"/>
          </a:p>
        </p:txBody>
      </p:sp>
      <p:sp>
        <p:nvSpPr>
          <p:cNvPr id="20" name="Text 1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B4AAMAPAACAKAAASBIAABAAAAAmAAAACAAAAP//////////"/>
              </a:ext>
            </a:extLst>
          </p:cNvSpPr>
          <p:nvPr/>
        </p:nvSpPr>
        <p:spPr>
          <a:xfrm>
            <a:off x="4892040" y="2560320"/>
            <a:ext cx="1691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212529"/>
                </a:solidFill>
              </a:rPr>
              <a:t>Hybrid</a:t>
            </a:r>
            <a:endParaRPr lang="en-us" sz="1600" cap="none"/>
          </a:p>
        </p:txBody>
      </p:sp>
      <p:sp>
        <p:nvSpPr>
          <p:cNvPr id="21" name="Text 1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B4AAJASAACAKAAAoBcAABAAAAAmAAAACAAAAP//////////"/>
              </a:ext>
            </a:extLst>
          </p:cNvSpPr>
          <p:nvPr/>
        </p:nvSpPr>
        <p:spPr>
          <a:xfrm>
            <a:off x="4892040" y="3017520"/>
            <a:ext cx="16916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Ionic / Cordova</a:t>
            </a:r>
            <a:endParaRPr lang="en-us" sz="1200" cap="none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WebView in a wrapper</a:t>
            </a:r>
            <a:endParaRPr lang="en-us" sz="1200" cap="none"/>
          </a:p>
        </p:txBody>
      </p:sp>
      <p:sp>
        <p:nvSpPr>
          <p:cNvPr id="22" name="Shape 20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eCoAAAAJAACQNgAAABsAABAAAAAmAAAACAAAAP//////////"/>
              </a:ext>
            </a:extLst>
          </p:cNvSpPr>
          <p:nvPr/>
        </p:nvSpPr>
        <p:spPr>
          <a:xfrm>
            <a:off x="6903720" y="1463040"/>
            <a:ext cx="19659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G55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55LAP///wEAAAAAAAAAAAAAAAAAAAAAAAAAAAAAAAAAAAAAAAAAAAAAAAB/f38A5+bmA8zMzADAwP8Af39/AAAAAAAAAAAAAAAAAAAAAAAAAAAAIQAAABgAAAAUAAAAeCoAAAAJAACQNgAAVgkAABAAAAAmAAAACAAAAP//////////"/>
              </a:ext>
            </a:extLst>
          </p:cNvSpPr>
          <p:nvPr/>
        </p:nvSpPr>
        <p:spPr>
          <a:xfrm>
            <a:off x="6903720" y="1463040"/>
            <a:ext cx="1965960" cy="5461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</p:sp>
      <p:sp>
        <p:nvSpPr>
          <p:cNvPr id="24" name="Shape 22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G55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55LAP///wEAAAAAAAAAAAAAAAAAAAAAAAAAAAAAAAAAAAAAAAAAAAAAAAB/f38A5+bmA8zMzADAwP8Af39/AAAAAAAAAAAAAAAAAAAAAAAAAAAAIQAAABgAAAAUAAAAaC4AAPgKAABYMgAA6A4AABAAAAAmAAAACAAAAP//////////"/>
              </a:ext>
            </a:extLst>
          </p:cNvSpPr>
          <p:nvPr/>
        </p:nvSpPr>
        <p:spPr>
          <a:xfrm>
            <a:off x="7543800" y="1783080"/>
            <a:ext cx="640080" cy="640080"/>
          </a:xfrm>
          <a:prstGeom prst="ellipse">
            <a:avLst/>
          </a:prstGeom>
          <a:solidFill>
            <a:srgbClr val="1B9E4B"/>
          </a:solidFill>
          <a:ln>
            <a:noFill/>
          </a:ln>
          <a:effectLst/>
        </p:spPr>
      </p:sp>
      <p:sp>
        <p:nvSpPr>
          <p:cNvPr id="25" name="Text 2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4AAPgKAABYMgAA6A4AABAAAAAmAAAACAAAAP//////////"/>
              </a:ext>
            </a:extLst>
          </p:cNvSpPr>
          <p:nvPr/>
        </p:nvSpPr>
        <p:spPr>
          <a:xfrm>
            <a:off x="7543800" y="178308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4</a:t>
            </a:r>
            <a:endParaRPr lang="en-us" sz="2200" cap="none"/>
          </a:p>
        </p:txBody>
      </p:sp>
      <p:sp>
        <p:nvSpPr>
          <p:cNvPr id="26" name="Text 2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sAAMAPAAC4NQAASBIAABAAAAAmAAAACAAAAP//////////"/>
              </a:ext>
            </a:extLst>
          </p:cNvSpPr>
          <p:nvPr/>
        </p:nvSpPr>
        <p:spPr>
          <a:xfrm>
            <a:off x="7040880" y="2560320"/>
            <a:ext cx="1691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212529"/>
                </a:solidFill>
              </a:rPr>
              <a:t>Cross-platform</a:t>
            </a:r>
            <a:endParaRPr lang="en-us" sz="1600" cap="none"/>
          </a:p>
        </p:txBody>
      </p:sp>
      <p:sp>
        <p:nvSpPr>
          <p:cNvPr id="27" name="Text 2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sAAJASAAC4NQAAoBcAABAAAAAmAAAACAAAAP//////////"/>
              </a:ext>
            </a:extLst>
          </p:cNvSpPr>
          <p:nvPr/>
        </p:nvSpPr>
        <p:spPr>
          <a:xfrm>
            <a:off x="7040880" y="3017520"/>
            <a:ext cx="16916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React Native / Flutter</a:t>
            </a:r>
            <a:endParaRPr lang="en-us" sz="1200" cap="none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One codebase → 2 platforms</a:t>
            </a:r>
            <a:endParaRPr lang="en-us" sz="1200" cap="none"/>
          </a:p>
        </p:txBody>
      </p:sp>
      <p:sp>
        <p:nvSpPr>
          <p:cNvPr id="28" name="Text 2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TSwAAJsbAADONQAAcx0AABAAAAAmAAAACAAAAP//////////"/>
              </a:ext>
            </a:extLst>
          </p:cNvSpPr>
          <p:nvPr/>
        </p:nvSpPr>
        <p:spPr>
          <a:xfrm>
            <a:off x="7201535" y="4487545"/>
            <a:ext cx="1544955" cy="299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b="1" i="1" cap="none">
                <a:solidFill>
                  <a:srgbClr val="E94560"/>
                </a:solidFill>
              </a:rPr>
              <a:t>← that's our pick!</a:t>
            </a:r>
            <a:endParaRPr lang="en-us" sz="1300" cap="none"/>
          </a:p>
        </p:txBody>
      </p:sp>
      <p:sp>
        <p:nvSpPr>
          <p:cNvPr id="29" name="Text 2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3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REACT NATIVE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A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  <a:defRPr sz="2800" cap="none"/>
            </a:pPr>
            <a:r>
              <a:rPr lang="en-us" b="1" cap="none">
                <a:solidFill>
                  <a:srgbClr val="212529"/>
                </a:solidFill>
              </a:rPr>
              <a:t>React Native — what is it and where did it come from?</a:t>
            </a:r>
            <a:endParaRPr lang="en-us" cap="none"/>
          </a:p>
        </p:txBody>
      </p:sp>
      <p:pic>
        <p:nvPicPr>
          <p:cNvPr id="4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ADAABwCAAA8wQAAAM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 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wWIQ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6AUAACgIAAAIIgAAaAoAABAAAAAmAAAACAAAAP//////////"/>
              </a:ext>
            </a:extLst>
          </p:cNvSpPr>
          <p:nvPr/>
        </p:nvSpPr>
        <p:spPr>
          <a:xfrm>
            <a:off x="960120" y="1325880"/>
            <a:ext cx="45720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Created by Meta (Facebook) in 2015</a:t>
            </a:r>
            <a:endParaRPr lang="en-us" sz="1400" cap="none"/>
          </a:p>
        </p:txBody>
      </p:sp>
      <p:pic>
        <p:nvPicPr>
          <p:cNvPr id="6" name="Image 1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53+17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ADAADQCwAA8wQAAGM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6AUAAIgLAAAIIgAAyA0AABAAAAAmAAAACAAAAP//////////"/>
              </a:ext>
            </a:extLst>
          </p:cNvSpPr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JavaScript / TypeScript → native components</a:t>
            </a:r>
            <a:endParaRPr lang="en-us" sz="1400" cap="none"/>
          </a:p>
        </p:txBody>
      </p:sp>
      <p:pic>
        <p:nvPicPr>
          <p:cNvPr id="8" name="Image 2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ADAAAwDwAA8wQAAMMQ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wWKQ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6AUAAOgOAAAIIgAAKBEAABAAAAAmAAAACAAAAP//////////"/>
              </a:ext>
            </a:extLst>
          </p:cNvSpPr>
          <p:nvPr/>
        </p:nvSpPr>
        <p:spPr>
          <a:xfrm>
            <a:off x="960120" y="2423160"/>
            <a:ext cx="45720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NOT a WebView! Real native views</a:t>
            </a:r>
            <a:endParaRPr lang="en-us" sz="1400" cap="none"/>
          </a:p>
        </p:txBody>
      </p:sp>
      <p:pic>
        <p:nvPicPr>
          <p:cNvPr id="10" name="Image 3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ADAACQEgAA8wQAACMU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QWLQ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6AUAAEgSAAAIIgAAiBQAABAAAAAmAAAACAAAAP//////////"/>
              </a:ext>
            </a:extLst>
          </p:cNvSpPr>
          <p:nvPr/>
        </p:nvSpPr>
        <p:spPr>
          <a:xfrm>
            <a:off x="960120" y="2971800"/>
            <a:ext cx="45720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Massive npm ecosystem</a:t>
            </a:r>
            <a:endParaRPr lang="en-us" sz="1400" cap="none"/>
          </a:p>
        </p:txBody>
      </p:sp>
      <p:sp>
        <p:nvSpPr>
          <p:cNvPr id="12" name="Shape 6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4CIAAHAIAACQNgAAABsAABAAAAAmAAAACAAAAP//////////"/>
              </a:ext>
            </a:extLst>
          </p:cNvSpPr>
          <p:nvPr/>
        </p:nvSpPr>
        <p:spPr>
          <a:xfrm>
            <a:off x="5669280" y="1371600"/>
            <a:ext cx="32004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3" name="Shape 7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QWJQ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4CIAAHAIAACQNgAAxggAABAAAAAmAAAACAAAAP//////////"/>
              </a:ext>
            </a:extLst>
          </p:cNvSpPr>
          <p:nvPr/>
        </p:nvSpPr>
        <p:spPr>
          <a:xfrm>
            <a:off x="5669280" y="1371600"/>
            <a:ext cx="3200400" cy="5461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14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QAAJAJAADgNAAA0AsAABAAAAAmAAAACAAAAP//////////"/>
              </a:ext>
            </a:extLst>
          </p:cNvSpPr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212529"/>
                </a:solidFill>
              </a:rPr>
              <a:t>Who uses RN?</a:t>
            </a:r>
            <a:endParaRPr lang="en-us" sz="1400" cap="none"/>
          </a:p>
        </p:txBody>
      </p:sp>
      <p:sp>
        <p:nvSpPr>
          <p:cNvPr id="15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QAAGAMAABwLAAAoA4AAAAAAAAmAAAACAAAAP//////////"/>
              </a:ext>
            </a:extLst>
          </p:cNvSpPr>
          <p:nvPr/>
        </p:nvSpPr>
        <p:spPr>
          <a:xfrm>
            <a:off x="5852160" y="201168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 Instagram</a:t>
            </a:r>
            <a:endParaRPr lang="en-us" sz="1300" cap="none"/>
          </a:p>
        </p:txBody>
      </p:sp>
      <p:sp>
        <p:nvSpPr>
          <p:cNvPr id="16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0AAGAMAABwNQAAoA4AAAAAAAAmAAAACAAAAP//////////"/>
              </a:ext>
            </a:extLst>
          </p:cNvSpPr>
          <p:nvPr/>
        </p:nvSpPr>
        <p:spPr>
          <a:xfrm>
            <a:off x="7315200" y="201168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 Facebook</a:t>
            </a:r>
            <a:endParaRPr lang="en-us" sz="1300" cap="none"/>
          </a:p>
        </p:txBody>
      </p:sp>
      <p:sp>
        <p:nvSpPr>
          <p:cNvPr id="17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QAAHgPAABwLAAAuBEAAAAAAAAmAAAACAAAAP//////////"/>
              </a:ext>
            </a:extLst>
          </p:cNvSpPr>
          <p:nvPr/>
        </p:nvSpPr>
        <p:spPr>
          <a:xfrm>
            <a:off x="5852160" y="251460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 Discord</a:t>
            </a:r>
            <a:endParaRPr lang="en-us" sz="1300" cap="none"/>
          </a:p>
        </p:txBody>
      </p:sp>
      <p:sp>
        <p:nvSpPr>
          <p:cNvPr id="18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2Bju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0AAHgPAABwNQAAuBEAAAAAAAAmAAAACAAAAP//////////"/>
              </a:ext>
            </a:extLst>
          </p:cNvSpPr>
          <p:nvPr/>
        </p:nvSpPr>
        <p:spPr>
          <a:xfrm>
            <a:off x="7315200" y="251460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 Shopify</a:t>
            </a:r>
            <a:endParaRPr lang="en-us" sz="1300" cap="none"/>
          </a:p>
        </p:txBody>
      </p:sp>
      <p:sp>
        <p:nvSpPr>
          <p:cNvPr id="19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Fe/O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QAAJASAABwLAAA0BQAAAAAAAAmAAAACAAAAP//////////"/>
              </a:ext>
            </a:extLst>
          </p:cNvSpPr>
          <p:nvPr/>
        </p:nvSpPr>
        <p:spPr>
          <a:xfrm>
            <a:off x="5852160" y="301752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 Walmart</a:t>
            </a:r>
            <a:endParaRPr lang="en-us" sz="1300" cap="none"/>
          </a:p>
        </p:txBody>
      </p:sp>
      <p:sp>
        <p:nvSpPr>
          <p:cNvPr id="20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TQo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0AAJASAABwNQAA0BQAAAAAAAAmAAAACAAAAP//////////"/>
              </a:ext>
            </a:extLst>
          </p:cNvSpPr>
          <p:nvPr/>
        </p:nvSpPr>
        <p:spPr>
          <a:xfrm>
            <a:off x="7315200" y="301752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 Bloomberg</a:t>
            </a:r>
            <a:endParaRPr lang="en-us" sz="1300" cap="none"/>
          </a:p>
        </p:txBody>
      </p:sp>
      <p:sp>
        <p:nvSpPr>
          <p:cNvPr id="21" name="Text 1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SwPA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4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5 / 25</a:t>
            </a:r>
            <a:endParaRPr lang="en-us" sz="9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ABAACwEwAAQwMAABAAAAAmAAAACAAAAP//////////"/>
              </a:ext>
            </a:extLst>
          </p:cNvSpPr>
          <p:nvPr/>
        </p:nvSpPr>
        <p:spPr>
          <a:xfrm>
            <a:off x="45720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ARCHITECTURE</a:t>
            </a:r>
            <a:endParaRPr lang="en-us" sz="8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Old Architecture — Bridge</a:t>
            </a:r>
            <a:endParaRPr lang="en-us" sz="30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QAAAA0AAAAAkAAAAEgAAACQAAAASAAAAAAAAAAAAAAAAAAAAAEAAABQAAAAKAr0iTxJwj8AAAAAAADwvwAAAAAAAOA/AAAAAAAA4D8AAAAAAADgPwAAAAAAAOA/AAAAAAAA4D8AAAAAAADgPwAAAAAAAOA/AAAAAAAA4D8CAAAAjAAAAAEAAAAAAAAAFiE+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iE+AP///wEAAAAAAAAAAAAAAAAAAAAAAAAAAAAAAAAAAAAAAAAAAAAAAAB/f38A5+bmA8zMzADAwP8Af39/AAAAAAAAAAAAAAAAAAAAAAAAAAAAIQAAABgAAAAUAAAA8AMAALgIAABQEAAAmBAAABAAAAAmAAAACAAAAP//////////"/>
              </a:ext>
            </a:extLst>
          </p:cNvSpPr>
          <p:nvPr/>
        </p:nvSpPr>
        <p:spPr>
          <a:xfrm>
            <a:off x="640080" y="14173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AAJAABQEAAA8AwAABAAAAAmAAAACAAAAP//////////"/>
              </a:ext>
            </a:extLst>
          </p:cNvSpPr>
          <p:nvPr/>
        </p:nvSpPr>
        <p:spPr>
          <a:xfrm>
            <a:off x="640080" y="1463040"/>
            <a:ext cx="20116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JavaScript</a:t>
            </a:r>
            <a:endParaRPr lang="en-us" sz="1600" cap="none"/>
          </a:p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Thread</a:t>
            </a:r>
            <a:endParaRPr lang="en-us" sz="16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KgMAABQEAAACBAAABAAAAAmAAAACAAAAP//////////"/>
              </a:ext>
            </a:extLst>
          </p:cNvSpPr>
          <p:nvPr/>
        </p:nvSpPr>
        <p:spPr>
          <a:xfrm>
            <a:off x="640080" y="2057400"/>
            <a:ext cx="201168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cap="none">
                <a:solidFill>
                  <a:srgbClr val="CED4DA"/>
                </a:solidFill>
              </a:rPr>
              <a:t>Logic, React,</a:t>
            </a:r>
            <a:endParaRPr lang="en-us" sz="1100" cap="none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cap="none">
                <a:solidFill>
                  <a:srgbClr val="CED4DA"/>
                </a:solidFill>
              </a:rPr>
              <a:t>app state</a:t>
            </a:r>
            <a:endParaRPr lang="en-us" sz="110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UFaoaRMAAAAlAAAAZQAAAA0AAAAAkAAAAEgAAACQAAAASAAAAAAAAAAAAAAAAAAAAAEAAABQAAAAKAr0iTxJwj8AAAAAAADwv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8BUAALgIAABQIgAAmBAAABAAAAAmAAAACAAAAP//////////"/>
              </a:ext>
            </a:extLst>
          </p:cNvSpPr>
          <p:nvPr/>
        </p:nvSpPr>
        <p:spPr>
          <a:xfrm>
            <a:off x="3566160" y="14173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UAAAAJAABQIgAA8AwAABAAAAAmAAAACAAAAP//////////"/>
              </a:ext>
            </a:extLst>
          </p:cNvSpPr>
          <p:nvPr/>
        </p:nvSpPr>
        <p:spPr>
          <a:xfrm>
            <a:off x="3566160" y="1463040"/>
            <a:ext cx="20116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Bridge</a:t>
            </a:r>
            <a:endParaRPr lang="en-us" sz="1600" cap="none"/>
          </a:p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(JSON)</a:t>
            </a:r>
            <a:endParaRPr lang="en-us" sz="16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UAAKgMAABQIgAACBAAABAAAAAmAAAACAAAAP//////////"/>
              </a:ext>
            </a:extLst>
          </p:cNvSpPr>
          <p:nvPr/>
        </p:nvSpPr>
        <p:spPr>
          <a:xfrm>
            <a:off x="3566160" y="2057400"/>
            <a:ext cx="201168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cap="none">
                <a:solidFill>
                  <a:srgbClr val="CED4DA"/>
                </a:solidFill>
              </a:rPr>
              <a:t>Serialization /</a:t>
            </a:r>
            <a:endParaRPr lang="en-us" sz="1100" cap="none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cap="none">
                <a:solidFill>
                  <a:srgbClr val="CED4DA"/>
                </a:solidFill>
              </a:rPr>
              <a:t>Deserialization</a:t>
            </a:r>
            <a:endParaRPr lang="en-us" sz="1100" cap="none"/>
          </a:p>
        </p:txBody>
      </p:sp>
      <p:sp>
        <p:nvSpPr>
          <p:cNvPr id="11" name="Shape 9"/>
          <p:cNvSpPr>
            <a:extLst>
              <a:ext uri="smNativeData">
                <pr:smNativeData xmlns:pr="smNativeData" xmlns="smNativeData" val="SMDATA_15_UFaoaRMAAAAlAAAAZQAAAA0AAAAAkAAAAEgAAACQAAAASAAAAAAAAAAAAAAAAAAAAAEAAABQAAAAKAr0iTxJwj8AAAAAAADwvwAAAAAAAOA/AAAAAAAA4D8AAAAAAADgPwAAAAAAAOA/AAAAAAAA4D8AAAAAAADgPwAAAAAAAOA/AAAAAAAA4D8CAAAAjAAAAAEAAAAAAAAAFiE+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iE+AP///wEAAAAAAAAAAAAAAAAAAAAAAAAAAAAAAAAAAAAAAAAAAAAAAAB/f38A5+bmA8zMzADAwP8Af39/AAAAAAAAAAAAAAAAAAAAAAAAAAAAIQAAABgAAAAUAAAA8CcAALgIAABQNAAAmBAAABAAAAAmAAAACAAAAP//////////"/>
              </a:ext>
            </a:extLst>
          </p:cNvSpPr>
          <p:nvPr/>
        </p:nvSpPr>
        <p:spPr>
          <a:xfrm>
            <a:off x="6492240" y="14173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>
            <a:noFill/>
          </a:ln>
          <a:effectLst/>
        </p:spPr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CcAAAAJAABQNAAA8AwAABAAAAAmAAAACAAAAP//////////"/>
              </a:ext>
            </a:extLst>
          </p:cNvSpPr>
          <p:nvPr/>
        </p:nvSpPr>
        <p:spPr>
          <a:xfrm>
            <a:off x="6492240" y="1463040"/>
            <a:ext cx="20116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Native</a:t>
            </a:r>
            <a:endParaRPr lang="en-us" sz="1600" cap="none"/>
          </a:p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Thread</a:t>
            </a:r>
            <a:endParaRPr lang="en-us" sz="16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CcAAKgMAABQNAAACBAAABAAAAAmAAAACAAAAP//////////"/>
              </a:ext>
            </a:extLst>
          </p:cNvSpPr>
          <p:nvPr/>
        </p:nvSpPr>
        <p:spPr>
          <a:xfrm>
            <a:off x="6492240" y="2057400"/>
            <a:ext cx="201168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cap="none">
                <a:solidFill>
                  <a:srgbClr val="CED4DA"/>
                </a:solidFill>
              </a:rPr>
              <a:t>UIKit, Android</a:t>
            </a:r>
            <a:endParaRPr lang="en-us" sz="1100" cap="none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cap="none">
                <a:solidFill>
                  <a:srgbClr val="CED4DA"/>
                </a:solidFill>
              </a:rPr>
              <a:t>Views, GPU</a:t>
            </a:r>
            <a:endParaRPr lang="en-us" sz="11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BAAAGgKAADwFQAAOA0AAAAAAAAmAAAACAAAAP//////////"/>
              </a:ext>
            </a:extLst>
          </p:cNvSpPr>
          <p:nvPr/>
        </p:nvSpPr>
        <p:spPr>
          <a:xfrm>
            <a:off x="2651760" y="1691640"/>
            <a:ext cx="914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cap="none">
                <a:solidFill>
                  <a:srgbClr val="61DAFB"/>
                </a:solidFill>
              </a:rPr>
              <a:t>&lt;──&gt;</a:t>
            </a:r>
            <a:endParaRPr lang="en-us" sz="1600" cap="none">
              <a:solidFill>
                <a:srgbClr val="61DAFB"/>
              </a:solidFill>
            </a:endParaRPr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IAAGgKAADwJwAAOA0AAAAAAAAmAAAACAAAAP//////////"/>
              </a:ext>
            </a:extLst>
          </p:cNvSpPr>
          <p:nvPr/>
        </p:nvSpPr>
        <p:spPr>
          <a:xfrm>
            <a:off x="5577840" y="1691640"/>
            <a:ext cx="914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cap="none">
                <a:solidFill>
                  <a:srgbClr val="61DAFB"/>
                </a:solidFill>
              </a:rPr>
              <a:t>&lt;──&gt;</a:t>
            </a:r>
            <a:endParaRPr lang="en-us" sz="1600" cap="none">
              <a:solidFill>
                <a:srgbClr val="61DAFB"/>
              </a:solidFill>
            </a:endParaRPr>
          </a:p>
        </p:txBody>
      </p:sp>
      <p:sp>
        <p:nvSpPr>
          <p:cNvPr id="16" name="Shape 14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8AMAACATAABQNAAAABsAABAAAAAmAAAACAAAAP//////////"/>
              </a:ext>
            </a:extLst>
          </p:cNvSpPr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7" name="Shape 15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8AMAACATAABGBAAAABsAABAAAAAmAAAACAAAAP//////////"/>
              </a:ext>
            </a:extLst>
          </p:cNvSpPr>
          <p:nvPr/>
        </p:nvSpPr>
        <p:spPr>
          <a:xfrm>
            <a:off x="640080" y="3108960"/>
            <a:ext cx="54610" cy="128016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18" name="Text 1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LATAAAgHAAAqBUAABAAAAAmAAAACAAAAP//////////"/>
              </a:ext>
            </a:extLst>
          </p:cNvSpPr>
          <p:nvPr/>
        </p:nvSpPr>
        <p:spPr>
          <a:xfrm>
            <a:off x="914400" y="320040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E94560"/>
                </a:solidFill>
              </a:rPr>
              <a:t>⚠️  Problem</a:t>
            </a:r>
            <a:endParaRPr lang="en-us" sz="1300" cap="none"/>
          </a:p>
        </p:txBody>
      </p:sp>
      <p:sp>
        <p:nvSpPr>
          <p:cNvPr id="19" name="Text 1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KgVAACgMgAAKBoAABAAAAAmAAAACAAAAP//////////"/>
              </a:ext>
            </a:extLst>
          </p:cNvSpPr>
          <p:nvPr/>
        </p:nvSpPr>
        <p:spPr>
          <a:xfrm>
            <a:off x="914400" y="3520440"/>
            <a:ext cx="73152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CED4DA"/>
                </a:solidFill>
              </a:rPr>
              <a:t>The Bridge is a bottleneck — asynchronous JSON communication</a:t>
            </a:r>
            <a:endParaRPr lang="en-us" sz="12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CED4DA"/>
                </a:solidFill>
              </a:rPr>
              <a:t>causes delays during fast interactions (animations, scrolling)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6 / 25</a:t>
            </a:r>
            <a:endParaRPr lang="en-us" sz="9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ABAACwEwAAQwMAABAAAAAmAAAACAAAAP//////////"/>
              </a:ext>
            </a:extLst>
          </p:cNvSpPr>
          <p:nvPr/>
        </p:nvSpPr>
        <p:spPr>
          <a:xfrm>
            <a:off x="45720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ARCHITECTURE</a:t>
            </a:r>
            <a:endParaRPr lang="en-us" sz="8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New Architecture — JSI</a:t>
            </a:r>
            <a:endParaRPr lang="en-us" sz="30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QAAAA0AAAAAkAAAAEgAAACQAAAASAAAAAAAAAAAAAAAAAAAAAEAAABQAAAA95LGaB1VxT8AAAAAAADwvwAAAAAAAOA/AAAAAAAA4D8AAAAAAADgPwAAAAAAAOA/AAAAAAAA4D8AAAAAAADgPwAAAAAAAOA/AAAAAAAA4D8CAAAAjAAAAAEAAAAAAAAAFiE+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iE+AP///wEAAAAAAAAAAAAAAAAAAAAAAAAAAAAAAAAAAAAAAAAAAAAAAAB/f38A5+bmA8zMzADAwP8Af39/AAAAAAAAAAAAAAAAAAAAAAAAAAAAIQAAABgAAAAUAAAA8AMAALgIAAAAEgAAeA8AABAAAAAmAAAACAAAAP//////////"/>
              </a:ext>
            </a:extLst>
          </p:cNvSpPr>
          <p:nvPr/>
        </p:nvSpPr>
        <p:spPr>
          <a:xfrm>
            <a:off x="640080" y="14173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LgIAAAAEgAAeA8AABAAAAAmAAAACAAAAP//////////"/>
              </a:ext>
            </a:extLst>
          </p:cNvSpPr>
          <p:nvPr/>
        </p:nvSpPr>
        <p:spPr>
          <a:xfrm>
            <a:off x="640080" y="1417320"/>
            <a:ext cx="228600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b="1" cap="none">
                <a:solidFill>
                  <a:srgbClr val="FFFFFF"/>
                </a:solidFill>
              </a:rPr>
              <a:t>JavaScript</a:t>
            </a:r>
            <a:endParaRPr lang="en-us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BIAAGgKAABwGgAAOA0AAAAAAAAmAAAACAAAAP//////////"/>
              </a:ext>
            </a:extLst>
          </p:cNvSpPr>
          <p:nvPr/>
        </p:nvSpPr>
        <p:spPr>
          <a:xfrm>
            <a:off x="2926080" y="169164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400" b="1" cap="none">
                <a:solidFill>
                  <a:srgbClr val="50FA7B"/>
                </a:solidFill>
              </a:rPr>
              <a:t>── JS</a:t>
            </a:r>
            <a:r>
              <a:rPr lang="en-us" sz="1400" b="1" cap="none">
                <a:solidFill>
                  <a:schemeClr val="accent6"/>
                </a:solidFill>
              </a:rPr>
              <a:t> </a:t>
            </a:r>
            <a:r>
              <a:rPr lang="en-us" sz="1400" b="1" cap="none">
                <a:solidFill>
                  <a:srgbClr val="00FF00"/>
                </a:solidFill>
              </a:rPr>
              <a:t>──</a:t>
            </a:r>
            <a:r>
              <a:rPr lang="en-us" sz="1400" cap="none">
                <a:solidFill>
                  <a:srgbClr val="00FF00"/>
                </a:solidFill>
              </a:rPr>
              <a:t>&gt;</a:t>
            </a:r>
            <a:endParaRPr lang="en-us" sz="1400" b="1" cap="none">
              <a:solidFill>
                <a:srgbClr val="50FA7B"/>
              </a:solidFill>
            </a:endParaRPr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UFaoaRMAAAAlAAAAZQAAAA0AAAAAkAAAAEgAAACQAAAASAAAAAAAAAAAAAAAAAAAAAEAAABQAAAA95LGaB1VxT8AAAAAAADwvwAAAAAAAOA/AAAAAAAA4D8AAAAAAADgPwAAAAAAAOA/AAAAAAAA4D8AAAAAAADgPwAAAAAAAOA/AAAAAAAA4D8CAAAAjAAAAAEAAAAAAAAADTsN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TsNAP///wEAAAAAAAAAAAAAAAAAAAAAAAAAAAAAAAAAAAAAAAAAAAAAAAB/f38A5+bmA8zMzADAwP8Af39/AAAAAAAAAAAAAAAAAAAAAAAAAAAAIQAAABgAAAAUAAAAcBoAALgIAACAKAAAeA8AABAAAAAmAAAACAAAAP//////////"/>
              </a:ext>
            </a:extLst>
          </p:cNvSpPr>
          <p:nvPr/>
        </p:nvSpPr>
        <p:spPr>
          <a:xfrm>
            <a:off x="4297680" y="14173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D3B0D"/>
          </a:solidFill>
          <a:ln>
            <a:noFill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BoAALgIAACAKAAAeA8AABAAAAAmAAAACAAAAP//////////"/>
              </a:ext>
            </a:extLst>
          </p:cNvSpPr>
          <p:nvPr/>
        </p:nvSpPr>
        <p:spPr>
          <a:xfrm>
            <a:off x="4297680" y="1417320"/>
            <a:ext cx="228600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b="1" cap="none">
                <a:solidFill>
                  <a:srgbClr val="50FA7B"/>
                </a:solidFill>
              </a:rPr>
              <a:t>C++ / Native</a:t>
            </a:r>
            <a:endParaRPr lang="en-us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8AMAAAASAACwEwAAcBoAABAAAAAmAAAACAAAAP//////////"/>
              </a:ext>
            </a:extLst>
          </p:cNvSpPr>
          <p:nvPr/>
        </p:nvSpPr>
        <p:spPr>
          <a:xfrm>
            <a:off x="640080" y="2926080"/>
            <a:ext cx="2560320" cy="137160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1" name="Shape 9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8AMAAAASAACwEwAASBIAABAAAAAmAAAACAAAAP//////////"/>
              </a:ext>
            </a:extLst>
          </p:cNvSpPr>
          <p:nvPr/>
        </p:nvSpPr>
        <p:spPr>
          <a:xfrm>
            <a:off x="640080" y="2926080"/>
            <a:ext cx="256032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12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gEAABoEwAAeAYAABgV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cAACATAABIEgAAYBUAABAAAAAmAAAACAAAAP//////////"/>
              </a:ext>
            </a:extLst>
          </p:cNvSpPr>
          <p:nvPr/>
        </p:nvSpPr>
        <p:spPr>
          <a:xfrm>
            <a:off x="1143000" y="310896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FFFFFF"/>
                </a:solidFill>
              </a:rPr>
              <a:t>JSI</a:t>
            </a:r>
            <a:endParaRPr lang="en-us" sz="1400" cap="none"/>
          </a:p>
        </p:txBody>
      </p:sp>
      <p:sp>
        <p:nvSpPr>
          <p:cNvPr id="14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PAVAADYEgAAmBkAABAAAAAmAAAACAAAAP//////////"/>
              </a:ext>
            </a:extLst>
          </p:cNvSpPr>
          <p:nvPr/>
        </p:nvSpPr>
        <p:spPr>
          <a:xfrm>
            <a:off x="777240" y="3566160"/>
            <a:ext cx="2286000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cap="none">
                <a:solidFill>
                  <a:srgbClr val="CED4DA"/>
                </a:solidFill>
              </a:rPr>
              <a:t>Direct JS access to C++, no JSON</a:t>
            </a:r>
            <a:endParaRPr lang="en-us" sz="1100" cap="none"/>
          </a:p>
        </p:txBody>
      </p:sp>
      <p:sp>
        <p:nvSpPr>
          <p:cNvPr id="15" name="Shape 1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xiQ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YBUAAAASAAAgJQAAcBoAABAAAAAmAAAACAAAAP//////////"/>
              </a:ext>
            </a:extLst>
          </p:cNvSpPr>
          <p:nvPr/>
        </p:nvSpPr>
        <p:spPr>
          <a:xfrm>
            <a:off x="3474720" y="2926080"/>
            <a:ext cx="2560320" cy="137160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6" name="Shape 13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YBUAAAASAAAgJQAASBIAABAAAAAmAAAACAAAAP//////////"/>
              </a:ext>
            </a:extLst>
          </p:cNvSpPr>
          <p:nvPr/>
        </p:nvSpPr>
        <p:spPr>
          <a:xfrm>
            <a:off x="3474720" y="2926080"/>
            <a:ext cx="256032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17" name="Image 1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WAABoEwAA6BcAABgV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15468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BgAACATAAC4IwAAYBUAABAAAAAmAAAACAAAAP//////////"/>
              </a:ext>
            </a:extLst>
          </p:cNvSpPr>
          <p:nvPr/>
        </p:nvSpPr>
        <p:spPr>
          <a:xfrm>
            <a:off x="3977640" y="310896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FFFFFF"/>
                </a:solidFill>
              </a:rPr>
              <a:t>Fabric</a:t>
            </a:r>
            <a:endParaRPr lang="en-us" sz="1400" cap="none"/>
          </a:p>
        </p:txBody>
      </p:sp>
      <p:sp>
        <p:nvSpPr>
          <p:cNvPr id="19" name="Text 1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RjR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BYAAPAVAABIJAAAmBkAABAAAAAmAAAACAAAAP//////////"/>
              </a:ext>
            </a:extLst>
          </p:cNvSpPr>
          <p:nvPr/>
        </p:nvSpPr>
        <p:spPr>
          <a:xfrm>
            <a:off x="3611880" y="3566160"/>
            <a:ext cx="2286000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cap="none">
                <a:solidFill>
                  <a:srgbClr val="CED4DA"/>
                </a:solidFill>
              </a:rPr>
              <a:t>New UI renderer</a:t>
            </a:r>
            <a:endParaRPr lang="en-us" sz="1100" cap="none"/>
          </a:p>
        </p:txBody>
      </p:sp>
      <p:sp>
        <p:nvSpPr>
          <p:cNvPr id="20" name="Shape 16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CYAAAASAACQNgAAcBoAABAAAAAmAAAACAAAAP//////////"/>
              </a:ext>
            </a:extLst>
          </p:cNvSpPr>
          <p:nvPr/>
        </p:nvSpPr>
        <p:spPr>
          <a:xfrm>
            <a:off x="6309360" y="2926080"/>
            <a:ext cx="2560320" cy="137160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21" name="Shape 17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CYAAAASAACQNgAASBIAABAAAAAmAAAACAAAAP//////////"/>
              </a:ext>
            </a:extLst>
          </p:cNvSpPr>
          <p:nvPr/>
        </p:nvSpPr>
        <p:spPr>
          <a:xfrm>
            <a:off x="6309360" y="2926080"/>
            <a:ext cx="256032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22" name="Image 2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nAABoEwAAWCkAABgV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15468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 1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+S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6CkAACATAAAoNQAAYBUAABAAAAAmAAAACAAAAP//////////"/>
              </a:ext>
            </a:extLst>
          </p:cNvSpPr>
          <p:nvPr/>
        </p:nvSpPr>
        <p:spPr>
          <a:xfrm>
            <a:off x="6812280" y="310896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FFFFFF"/>
                </a:solidFill>
              </a:rPr>
              <a:t>Turbo Modules</a:t>
            </a:r>
            <a:endParaRPr lang="en-us" sz="1400" cap="none"/>
          </a:p>
        </p:txBody>
      </p:sp>
      <p:sp>
        <p:nvSpPr>
          <p:cNvPr id="24" name="Text 1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CcAAPAVAAC4NQAAmBkAABAAAAAmAAAACAAAAP//////////"/>
              </a:ext>
            </a:extLst>
          </p:cNvSpPr>
          <p:nvPr/>
        </p:nvSpPr>
        <p:spPr>
          <a:xfrm>
            <a:off x="6446520" y="3566160"/>
            <a:ext cx="2286000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cap="none">
                <a:solidFill>
                  <a:srgbClr val="CED4DA"/>
                </a:solidFill>
              </a:rPr>
              <a:t>Lazy loading of native modules</a:t>
            </a:r>
            <a:endParaRPr lang="en-us" sz="11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COMPARISON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2800" b="1" cap="none">
                <a:solidFill>
                  <a:srgbClr val="212529"/>
                </a:solidFill>
              </a:rPr>
              <a:t>React Native vs Flutter vs Native</a:t>
            </a:r>
            <a:endParaRPr lang="en-us" sz="2800" cap="none"/>
          </a:p>
        </p:txBody>
      </p:sp>
      <p:graphicFrame>
        <p:nvGraphicFramePr>
          <p:cNvPr id="4" name=""/>
          <p:cNvGraphicFramePr>
            <a:graphicFrameLocks noGrp="1"/>
          </p:cNvGraphicFramePr>
          <p:nvPr/>
        </p:nvGraphicFramePr>
        <p:xfrm>
          <a:off x="457200" y="1280160"/>
          <a:ext cx="8229600" cy="28803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45920"/>
                <a:gridCol w="2194560"/>
                <a:gridCol w="2194560"/>
                <a:gridCol w="2194560"/>
              </a:tblGrid>
              <a:tr h="41148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endParaRPr lang="en-us" sz="12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213E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200" b="1" cap="none">
                          <a:solidFill>
                            <a:srgbClr val="FFFFFF"/>
                          </a:solidFill>
                        </a:rPr>
                        <a:t>React Native</a:t>
                      </a:r>
                      <a:endParaRPr lang="en-us" sz="12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213E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200" b="1" cap="none">
                          <a:solidFill>
                            <a:srgbClr val="FFFFFF"/>
                          </a:solidFill>
                        </a:rPr>
                        <a:t>Flutter</a:t>
                      </a:r>
                      <a:endParaRPr lang="en-us" sz="12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213E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200" b="1" cap="none">
                          <a:solidFill>
                            <a:srgbClr val="FFFFFF"/>
                          </a:solidFill>
                        </a:rPr>
                        <a:t>Native</a:t>
                      </a:r>
                      <a:endParaRPr lang="en-us" sz="12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213E"/>
                    </a:solidFill>
                  </a:tcPr>
                </a:tc>
                <a:extLst>
                  <a:ext uri="smNativeData">
                    <pr:rowheight xmlns="" xmlns:pr="smNativeData" dt="1772639824" type="min" val="411480"/>
                  </a:ext>
                </a:extLst>
              </a:tr>
              <a:tr h="41148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100" b="1" cap="none">
                          <a:solidFill>
                            <a:srgbClr val="212529"/>
                          </a:solidFill>
                        </a:rPr>
                        <a:t>Language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TypeScript / JS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Dart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Swift / Kotlin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smNativeData">
                    <pr:rowheight xmlns="" xmlns:pr="smNativeData" dt="1772639824" type="min" val="411480"/>
                  </a:ext>
                </a:extLst>
              </a:tr>
              <a:tr h="41148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100" b="1" cap="none">
                          <a:solidFill>
                            <a:srgbClr val="212529"/>
                          </a:solidFill>
                        </a:rPr>
                        <a:t>UI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Native comp.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Custom engine (Skia)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Native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extLst>
                  <a:ext uri="smNativeData">
                    <pr:rowheight xmlns="" xmlns:pr="smNativeData" dt="1772639824" type="min" val="411480"/>
                  </a:ext>
                </a:extLst>
              </a:tr>
              <a:tr h="41148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100" b="1" cap="none">
                          <a:solidFill>
                            <a:srgbClr val="212529"/>
                          </a:solidFill>
                        </a:rPr>
                        <a:t>Hot Reload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Yes</a:t>
                      </a:r>
                      <a:endParaRPr lang="en-us" sz="1100" cap="none">
                        <a:solidFill>
                          <a:srgbClr val="495057"/>
                        </a:solidFill>
                      </a:endParaRPr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 sz="1100" cap="none">
                          <a:solidFill>
                            <a:srgbClr val="49505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 Limited</a:t>
                      </a:r>
                      <a:endParaRPr lang="en-us" sz="1100" cap="none">
                        <a:solidFill>
                          <a:srgbClr val="495057"/>
                        </a:solidFill>
                      </a:endParaRPr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smNativeData">
                    <pr:rowheight xmlns="" xmlns:pr="smNativeData" dt="1772639824" type="min" val="411480"/>
                  </a:ext>
                </a:extLst>
              </a:tr>
              <a:tr h="41148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100" b="1" cap="none">
                          <a:solidFill>
                            <a:srgbClr val="212529"/>
                          </a:solidFill>
                        </a:rPr>
                        <a:t>Ecosystem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npm (massive)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pub.dev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Smaller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extLst>
                  <a:ext uri="smNativeData">
                    <pr:rowheight xmlns="" xmlns:pr="smNativeData" dt="1772639824" type="min" val="411480"/>
                  </a:ext>
                </a:extLst>
              </a:tr>
              <a:tr h="41148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100" b="1" cap="none">
                          <a:solidFill>
                            <a:srgbClr val="212529"/>
                          </a:solidFill>
                        </a:rPr>
                        <a:t>Entry barrier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Low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Medium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High (2 languages)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smNativeData">
                    <pr:rowheight xmlns="" xmlns:pr="smNativeData" dt="1772639824" type="min" val="411480"/>
                  </a:ext>
                </a:extLst>
              </a:tr>
              <a:tr h="41148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100" b="1" cap="none">
                          <a:solidFill>
                            <a:srgbClr val="212529"/>
                          </a:solidFill>
                        </a:rPr>
                        <a:t>Shared code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~90%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~95%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100" cap="none">
                          <a:solidFill>
                            <a:srgbClr val="495057"/>
                          </a:solidFill>
                        </a:rPr>
                        <a:t>0%</a:t>
                      </a:r>
                      <a:endParaRPr lang="en-us" sz="1100" cap="none"/>
                    </a:p>
                  </a:txBody>
                  <a:tcPr marL="91440" marR="45720" marT="91440" marB="45720" vert="horz" anchor="ctr">
                    <a:lnL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rgbClr val="CED4DA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9FA"/>
                    </a:solidFill>
                  </a:tcPr>
                </a:tc>
                <a:extLst>
                  <a:ext uri="smNativeData">
                    <pr:rowheight xmlns="" xmlns:pr="smNativeData" dt="1772639824" type="min" val="411480"/>
                  </a:ext>
                </a:extLst>
              </a:tr>
            </a:tbl>
          </a:graphicData>
        </a:graphic>
      </p:graphicFrame>
      <p:sp>
        <p:nvSpPr>
          <p:cNvPr id="5" name="Text 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7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EXPO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200" b="1" cap="none">
                <a:solidFill>
                  <a:srgbClr val="212529"/>
                </a:solidFill>
              </a:rPr>
              <a:t>What is Expo?</a:t>
            </a:r>
            <a:endParaRPr lang="en-us" sz="32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HAIAABwNQAAMA8AABAAAAAmAAAACAAAAP//////////"/>
              </a:ext>
            </a:extLst>
          </p:cNvSpPr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HAIAAAmAwAAMA8AABAAAAAmAAAACAAAAP//////////"/>
              </a:ext>
            </a:extLst>
          </p:cNvSpPr>
          <p:nvPr/>
        </p:nvSpPr>
        <p:spPr>
          <a:xfrm>
            <a:off x="457200" y="1371600"/>
            <a:ext cx="54610" cy="109728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EAACQCQAAeAYAANA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TrY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OMIAAAwGAAA2woAABAAAAAmAAAACAAAAP//////////"/>
              </a:ext>
            </a:extLst>
          </p:cNvSpPr>
          <p:nvPr/>
        </p:nvSpPr>
        <p:spPr>
          <a:xfrm>
            <a:off x="1188720" y="1444625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61DAFB"/>
                </a:solidFill>
              </a:rPr>
              <a:t>Analogy</a:t>
            </a:r>
            <a:endParaRPr lang="en-us" sz="13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LAKAAAwMwAAgA0AABAAAAAmAAAACAAAAP//////////"/>
              </a:ext>
            </a:extLst>
          </p:cNvSpPr>
          <p:nvPr/>
        </p:nvSpPr>
        <p:spPr>
          <a:xfrm>
            <a:off x="1188720" y="1737360"/>
            <a:ext cx="71323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i="1" cap="none">
                <a:solidFill>
                  <a:srgbClr val="495057"/>
                </a:solidFill>
              </a:rPr>
              <a:t>React Native is the car engine. Expo is the car ready to drive.</a:t>
            </a:r>
            <a:endParaRPr lang="en-us" sz="150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OAQAAAAGwAAQB0AABAAAAAmAAAACAAAAP//////////"/>
              </a:ext>
            </a:extLst>
          </p:cNvSpPr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0AIAAOAQAAAAGwAAKBEAABAAAAAmAAAACAAAAP//////////"/>
              </a:ext>
            </a:extLst>
          </p:cNvSpPr>
          <p:nvPr/>
        </p:nvSpPr>
        <p:spPr>
          <a:xfrm>
            <a:off x="457200" y="2743200"/>
            <a:ext cx="3931920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11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LgRAACgFwAAsBMAABAAAAAmAAAACAAAAP//////////"/>
              </a:ext>
            </a:extLst>
          </p:cNvSpPr>
          <p:nvPr/>
        </p:nvSpPr>
        <p:spPr>
          <a:xfrm>
            <a:off x="640080" y="288036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E94560"/>
                </a:solidFill>
              </a:rPr>
              <a:t>❌  Without Expo</a:t>
            </a:r>
            <a:endParaRPr lang="en-us" sz="1400" cap="none"/>
          </a:p>
        </p:txBody>
      </p:sp>
      <p:sp>
        <p:nvSpPr>
          <p:cNvPr id="12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PgTAABQGQAAaBwAABAAAAAmAAAACAAAAP//////////"/>
              </a:ext>
            </a:extLst>
          </p:cNvSpPr>
          <p:nvPr/>
        </p:nvSpPr>
        <p:spPr>
          <a:xfrm>
            <a:off x="640080" y="3246120"/>
            <a:ext cx="347472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400"/>
              </a:spcAft>
              <a:buSzTx/>
              <a:buChar char="•"/>
            </a:pPr>
            <a:r>
              <a:rPr lang="en-us" sz="1200" cap="none">
                <a:solidFill>
                  <a:srgbClr val="495057"/>
                </a:solidFill>
              </a:rPr>
              <a:t>Xcode (15 GB, Mac only)</a:t>
            </a:r>
            <a:endParaRPr lang="en-us" sz="1200" cap="none"/>
          </a:p>
          <a:p>
            <a:pPr marL="342900" indent="-342900">
              <a:spcAft>
                <a:spcPts val="400"/>
              </a:spcAft>
              <a:buSzTx/>
              <a:buChar char="•"/>
            </a:pPr>
            <a:r>
              <a:rPr lang="en-us" sz="1200" cap="none">
                <a:solidFill>
                  <a:srgbClr val="495057"/>
                </a:solidFill>
              </a:rPr>
              <a:t>Android Studio (several GB)</a:t>
            </a:r>
            <a:endParaRPr lang="en-us" sz="1200" cap="none"/>
          </a:p>
          <a:p>
            <a:pPr marL="342900" indent="-342900">
              <a:spcAft>
                <a:spcPts val="400"/>
              </a:spcAft>
              <a:buSzTx/>
              <a:buChar char="•"/>
            </a:pPr>
            <a:r>
              <a:rPr lang="en-us" sz="1200" cap="none">
                <a:solidFill>
                  <a:srgbClr val="495057"/>
                </a:solidFill>
              </a:rPr>
              <a:t>Gradle, CocoaPods, linking</a:t>
            </a:r>
            <a:endParaRPr lang="en-us" sz="1200" cap="none"/>
          </a:p>
          <a:p>
            <a:pPr marL="342900" indent="-342900">
              <a:spcAft>
                <a:spcPts val="400"/>
              </a:spcAft>
              <a:buSzTx/>
              <a:buChar char="•"/>
            </a:pPr>
            <a:r>
              <a:rPr lang="en-us" sz="1200" cap="none">
                <a:solidFill>
                  <a:srgbClr val="495057"/>
                </a:solidFill>
              </a:rPr>
              <a:t>Hours of configuration</a:t>
            </a:r>
            <a:endParaRPr lang="en-us" sz="1200" cap="none"/>
          </a:p>
        </p:txBody>
      </p:sp>
      <p:sp>
        <p:nvSpPr>
          <p:cNvPr id="13" name="Shape 10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QB0AAOAQAABwNQAAQB0AABAAAAAmAAAACAAAAP//////////"/>
              </a:ext>
            </a:extLst>
          </p:cNvSpPr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G55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55LAP///wEAAAAAAAAAAAAAAAAAAAAAAAAAAAAAAAAAAAAAAAAAAAAAAAB/f38A5+bmA8zMzADAwP8Af39/AAAAAAAAAAAAAAAAAAAAAAAAAAAAIQAAABgAAAAUAAAAQB0AAOAQAABwNQAAKBEAABAAAAAmAAAACAAAAP//////////"/>
              </a:ext>
            </a:extLst>
          </p:cNvSpPr>
          <p:nvPr/>
        </p:nvSpPr>
        <p:spPr>
          <a:xfrm>
            <a:off x="4754880" y="2743200"/>
            <a:ext cx="3931920" cy="4572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</p:sp>
      <p:sp>
        <p:nvSpPr>
          <p:cNvPr id="15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4AALgRAAAQMgAAsBMAABAAAAAmAAAACAAAAP//////////"/>
              </a:ext>
            </a:extLst>
          </p:cNvSpPr>
          <p:nvPr/>
        </p:nvSpPr>
        <p:spPr>
          <a:xfrm>
            <a:off x="4937760" y="288036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1B9E4B"/>
                </a:solidFill>
              </a:rPr>
              <a:t>✅  With Expo</a:t>
            </a:r>
            <a:endParaRPr lang="en-us" sz="1400" cap="none"/>
          </a:p>
        </p:txBody>
      </p:sp>
      <p:sp>
        <p:nvSpPr>
          <p:cNvPr id="16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4AAPgTAADAMwAAaBwAAAAAAAAmAAAACAAAAP//////////"/>
              </a:ext>
            </a:extLst>
          </p:cNvSpPr>
          <p:nvPr/>
        </p:nvSpPr>
        <p:spPr>
          <a:xfrm>
            <a:off x="4937760" y="3246120"/>
            <a:ext cx="347472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400"/>
              </a:spcAft>
              <a:buSzTx/>
              <a:buChar char="•"/>
            </a:pPr>
            <a:r>
              <a:rPr lang="en-us" sz="1200" cap="none">
                <a:solidFill>
                  <a:srgbClr val="495057"/>
                </a:solidFill>
              </a:rPr>
              <a:t>npx create-expo-app</a:t>
            </a:r>
            <a:endParaRPr lang="en-us" sz="1200" cap="none"/>
          </a:p>
          <a:p>
            <a:pPr marL="342900" indent="-342900">
              <a:spcAft>
                <a:spcPts val="400"/>
              </a:spcAft>
              <a:buSzTx/>
              <a:buChar char="•"/>
            </a:pPr>
            <a:r>
              <a:rPr lang="en-us" sz="1200" cap="none">
                <a:solidFill>
                  <a:srgbClr val="495057"/>
                </a:solidFill>
              </a:rPr>
              <a:t>And off you go! </a:t>
            </a:r>
            <a:endParaRPr lang="en-us" sz="1200" cap="none"/>
          </a:p>
        </p:txBody>
      </p:sp>
      <p:sp>
        <p:nvSpPr>
          <p:cNvPr id="17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8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EXPO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The Expo ecosystem — building blocks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HAIAACQGwAA4BAAABAAAAAmAAAACAAAAP//////////"/>
              </a:ext>
            </a:extLst>
          </p:cNvSpPr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8PT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4AP///wEAAAAAAAAAAAAAAAAAAAAAAAAAAAAAAAAAAAAAAAAAAAAAAAB/f38A5+bmA8zMzADAwP8Af39/AAAAAAAAAAAAAAAAAAAAAAAAAAAAIQAAABgAAAAUAAAAOAQAAGgKAABwCAAAoA4AABAAAAAmAAAACAAAAP//////////"/>
              </a:ext>
            </a:extLst>
          </p:cNvSpPr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F0F4F8"/>
          </a:solidFill>
          <a:ln>
            <a:noFill/>
          </a:ln>
          <a:effectLst/>
        </p:spPr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AFAABACwAAmAcAAMg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AkAAJAJAACYGQAA0AsAABAAAAAmAAAACAAAAP//////////"/>
              </a:ext>
            </a:extLst>
          </p:cNvSpPr>
          <p:nvPr/>
        </p:nvSpPr>
        <p:spPr>
          <a:xfrm>
            <a:off x="1600200" y="155448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212529"/>
                </a:solidFill>
              </a:rPr>
              <a:t>Expo Go</a:t>
            </a:r>
            <a:endParaRPr lang="en-us" sz="16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AkAABgMAACYGQAAeA8AABAAAAAmAAAACAAAAP//////////"/>
              </a:ext>
            </a:extLst>
          </p:cNvSpPr>
          <p:nvPr/>
        </p:nvSpPr>
        <p:spPr>
          <a:xfrm>
            <a:off x="1600200" y="196596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Phone app — scan QR and test</a:t>
            </a:r>
            <a:endParaRPr lang="en-us" sz="120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F8AY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iB0AAHAIAABINgAA4BAAABAAAAAmAAAACAAAAP//////////"/>
              </a:ext>
            </a:extLst>
          </p:cNvSpPr>
          <p:nvPr/>
        </p:nvSpPr>
        <p:spPr>
          <a:xfrm>
            <a:off x="4800600" y="1371600"/>
            <a:ext cx="4023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8PT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y82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4AP///wEAAAAAAAAAAAAAAAAAAAAAAAAAAAAAAAAAAAAAAAAAAAAAAAB/f38A5+bmA8zMzADAwP8Af39/AAAAAAAAAAAAAAAAAAAAAAAAAAAAIQAAABgAAAAUAAAA8B4AAGgKAAAoIwAAoA4AABAAAAAmAAAACAAAAP//////////"/>
              </a:ext>
            </a:extLst>
          </p:cNvSpPr>
          <p:nvPr/>
        </p:nvSpPr>
        <p:spPr>
          <a:xfrm>
            <a:off x="5029200" y="1691640"/>
            <a:ext cx="685800" cy="685800"/>
          </a:xfrm>
          <a:prstGeom prst="ellipse">
            <a:avLst/>
          </a:prstGeom>
          <a:solidFill>
            <a:srgbClr val="F0F4F8"/>
          </a:solidFill>
          <a:ln>
            <a:noFill/>
          </a:ln>
          <a:effectLst/>
        </p:spPr>
      </p:sp>
      <p:pic>
        <p:nvPicPr>
          <p:cNvPr id="11" name="Image 1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7/2H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gfAABACwAAUCIAAMgN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828800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Qhb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QAAJAJAABQNAAA0AsAABAAAAAmAAAACAAAAP//////////"/>
              </a:ext>
            </a:extLst>
          </p:cNvSpPr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212529"/>
                </a:solidFill>
              </a:rPr>
              <a:t>Expo SDK</a:t>
            </a:r>
            <a:endParaRPr lang="en-us" sz="1600" cap="none"/>
          </a:p>
        </p:txBody>
      </p:sp>
      <p:sp>
        <p:nvSpPr>
          <p:cNvPr id="13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QAABgMAABQNAAAeA8AABAAAAAmAAAACAAAAP//////////"/>
              </a:ext>
            </a:extLst>
          </p:cNvSpPr>
          <p:nvPr/>
        </p:nvSpPr>
        <p:spPr>
          <a:xfrm>
            <a:off x="5943600" y="196596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Camera, GPS, notifications — ready-made modules</a:t>
            </a:r>
            <a:endParaRPr lang="en-us" sz="1200" cap="none"/>
          </a:p>
        </p:txBody>
      </p:sp>
      <p:sp>
        <p:nvSpPr>
          <p:cNvPr id="14" name="Shape 10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JASAACQGwAAABsAABAAAAAmAAAACAAAAP//////////"/>
              </a:ext>
            </a:extLst>
          </p:cNvSpPr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8PT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4AP///wEAAAAAAAAAAAAAAAAAAAAAAAAAAAAAAAAAAAAAAAAAAAAAAAB/f38A5+bmA8zMzADAwP8Af39/AAAAAAAAAAAAAAAAAAAAAAAAAAAAIQAAABgAAAAUAAAAOAQAAIgUAABwCAAAwBgAABAAAAAmAAAACAAAAP//////////"/>
              </a:ext>
            </a:extLst>
          </p:cNvSpPr>
          <p:nvPr/>
        </p:nvSpPr>
        <p:spPr>
          <a:xfrm>
            <a:off x="685800" y="3337560"/>
            <a:ext cx="685800" cy="685800"/>
          </a:xfrm>
          <a:prstGeom prst="ellipse">
            <a:avLst/>
          </a:prstGeom>
          <a:solidFill>
            <a:srgbClr val="F0F4F8"/>
          </a:solidFill>
          <a:ln>
            <a:noFill/>
          </a:ln>
          <a:effectLst/>
        </p:spPr>
      </p:sp>
      <p:pic>
        <p:nvPicPr>
          <p:cNvPr id="16" name="Image 2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7/2H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AFAABgFQAAmAcAAOgX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74720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AkAALATAACYGQAA8BUAABAAAAAmAAAACAAAAP//////////"/>
              </a:ext>
            </a:extLst>
          </p:cNvSpPr>
          <p:nvPr/>
        </p:nvSpPr>
        <p:spPr>
          <a:xfrm>
            <a:off x="1600200" y="320040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212529"/>
                </a:solidFill>
              </a:rPr>
              <a:t>Expo Router</a:t>
            </a:r>
            <a:endParaRPr lang="en-us" sz="1600" cap="none"/>
          </a:p>
        </p:txBody>
      </p:sp>
      <p:sp>
        <p:nvSpPr>
          <p:cNvPr id="18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AkAADgWAACYGQAAmBkAABAAAAAmAAAACAAAAP//////////"/>
              </a:ext>
            </a:extLst>
          </p:cNvSpPr>
          <p:nvPr/>
        </p:nvSpPr>
        <p:spPr>
          <a:xfrm>
            <a:off x="1600200" y="361188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File-based navigation (like Next.js)</a:t>
            </a:r>
            <a:endParaRPr lang="en-us" sz="1200" cap="none"/>
          </a:p>
        </p:txBody>
      </p:sp>
      <p:sp>
        <p:nvSpPr>
          <p:cNvPr id="19" name="Shape 14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Owzcg4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iB0AAJASAABINgAAABsAABAAAAAmAAAACAAAAP//////////"/>
              </a:ext>
            </a:extLst>
          </p:cNvSpPr>
          <p:nvPr/>
        </p:nvSpPr>
        <p:spPr>
          <a:xfrm>
            <a:off x="4800600" y="3017520"/>
            <a:ext cx="4023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8PT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4AP///wEAAAAAAAAAAAAAAAAAAAAAAAAAAAAAAAAAAAAAAAAAAAAAAAB/f38A5+bmA8zMzADAwP8Af39/AAAAAAAAAAAAAAAAAAAAAAAAAAAAIQAAABgAAAAUAAAA8B4AAIgUAAAoIwAAwBgAABAAAAAmAAAACAAAAP//////////"/>
              </a:ext>
            </a:extLst>
          </p:cNvSpPr>
          <p:nvPr/>
        </p:nvSpPr>
        <p:spPr>
          <a:xfrm>
            <a:off x="5029200" y="3337560"/>
            <a:ext cx="685800" cy="685800"/>
          </a:xfrm>
          <a:prstGeom prst="ellipse">
            <a:avLst/>
          </a:prstGeom>
          <a:solidFill>
            <a:srgbClr val="F0F4F8"/>
          </a:solidFill>
          <a:ln>
            <a:noFill/>
          </a:ln>
          <a:effectLst/>
        </p:spPr>
      </p:sp>
      <p:pic>
        <p:nvPicPr>
          <p:cNvPr id="21" name="Image 3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Ydr7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gfAABgFQAAUCIAAOgX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474720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Text 1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QAALATAABQNAAA8BUAABAAAAAmAAAACAAAAP//////////"/>
              </a:ext>
            </a:extLst>
          </p:cNvSpPr>
          <p:nvPr/>
        </p:nvSpPr>
        <p:spPr>
          <a:xfrm>
            <a:off x="5943600" y="320040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212529"/>
                </a:solidFill>
              </a:rPr>
              <a:t>EAS Build</a:t>
            </a:r>
            <a:endParaRPr lang="en-us" sz="1600" cap="none"/>
          </a:p>
        </p:txBody>
      </p:sp>
      <p:sp>
        <p:nvSpPr>
          <p:cNvPr id="23" name="Text 1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QAADgWAABQNAAAmBkAABAAAAAmAAAACAAAAP//////////"/>
              </a:ext>
            </a:extLst>
          </p:cNvSpPr>
          <p:nvPr/>
        </p:nvSpPr>
        <p:spPr>
          <a:xfrm>
            <a:off x="5943600" y="361188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Build APK/IPA in the cloud</a:t>
            </a:r>
            <a:endParaRPr lang="en-us" sz="1200" cap="none"/>
          </a:p>
        </p:txBody>
      </p:sp>
      <p:sp>
        <p:nvSpPr>
          <p:cNvPr id="24" name="Text 1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9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SETUP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What will we need?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F8AY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CgIAABwNQAAYAwAABAAAAAmAAAACAAAAP//////////"/>
              </a:ext>
            </a:extLst>
          </p:cNvSpPr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EAAArCQAAMAYAACM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034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RHd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cAAHAIAAAYHgAAaAoAABAAAAAmAAAACAAAAP//////////"/>
              </a:ext>
            </a:extLst>
          </p:cNvSpPr>
          <p:nvPr/>
        </p:nvSpPr>
        <p:spPr>
          <a:xfrm>
            <a:off x="1234440" y="137160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212529"/>
                </a:solidFill>
              </a:rPr>
              <a:t>Node.js (LTS)</a:t>
            </a:r>
            <a:endParaRPr lang="en-us" sz="15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Qe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cAAEsKAADIMQAA+wsAABAAAAAmAAAACAAAAP//////////"/>
              </a:ext>
            </a:extLst>
          </p:cNvSpPr>
          <p:nvPr/>
        </p:nvSpPr>
        <p:spPr>
          <a:xfrm>
            <a:off x="1234440" y="1673225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</a:rPr>
              <a:t>JS runtime environment — node -v</a:t>
            </a:r>
            <a:endParaRPr lang="en-us" sz="1200" cap="none"/>
          </a:p>
        </p:txBody>
      </p:sp>
      <p:sp>
        <p:nvSpPr>
          <p:cNvPr id="8" name="Shape 5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z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IANAABwNQAAuBEAABAAAAAmAAAACAAAAP//////////"/>
              </a:ext>
            </a:extLst>
          </p:cNvSpPr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EAACDDgAAMAYAAHsQ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5902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 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cAAMgNAAAYHgAAwA8AABAAAAAmAAAACAAAAP//////////"/>
              </a:ext>
            </a:extLst>
          </p:cNvSpPr>
          <p:nvPr/>
        </p:nvSpPr>
        <p:spPr>
          <a:xfrm>
            <a:off x="1234440" y="224028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212529"/>
                </a:solidFill>
              </a:rPr>
              <a:t>VS Code + extensions</a:t>
            </a:r>
            <a:endParaRPr lang="en-us" sz="1500" cap="none"/>
          </a:p>
        </p:txBody>
      </p:sp>
      <p:sp>
        <p:nvSpPr>
          <p:cNvPr id="11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cAAKMPAADIMQAAUxEAABAAAAAmAAAACAAAAP//////////"/>
              </a:ext>
            </a:extLst>
          </p:cNvSpPr>
          <p:nvPr/>
        </p:nvSpPr>
        <p:spPr>
          <a:xfrm>
            <a:off x="1234440" y="2541905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</a:rPr>
              <a:t>ES7+ React Snippets, Prettier, ESLint</a:t>
            </a:r>
            <a:endParaRPr lang="en-us" sz="1200" cap="none"/>
          </a:p>
        </p:txBody>
      </p:sp>
      <p:sp>
        <p:nvSpPr>
          <p:cNvPr id="12" name="Shape 8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7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NgSAABwNQAAEBcAABAAAAAmAAAACAAAAP//////////"/>
              </a:ext>
            </a:extLst>
          </p:cNvSpPr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Ydr7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EAADbEwAAMAYAANMV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2770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cAACATAAAYHgAAGBUAABAAAAAmAAAACAAAAP//////////"/>
              </a:ext>
            </a:extLst>
          </p:cNvSpPr>
          <p:nvPr/>
        </p:nvSpPr>
        <p:spPr>
          <a:xfrm>
            <a:off x="1234440" y="310896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212529"/>
                </a:solidFill>
              </a:rPr>
              <a:t>Phone + Expo Go</a:t>
            </a:r>
            <a:endParaRPr lang="en-us" sz="1500" cap="none"/>
          </a:p>
        </p:txBody>
      </p:sp>
      <p:sp>
        <p:nvSpPr>
          <p:cNvPr id="15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cAAPsUAADIMQAAqxYAABAAAAAmAAAACAAAAP//////////"/>
              </a:ext>
            </a:extLst>
          </p:cNvSpPr>
          <p:nvPr/>
        </p:nvSpPr>
        <p:spPr>
          <a:xfrm>
            <a:off x="1234440" y="3410585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</a:rPr>
              <a:t>iOS / Android app for testing</a:t>
            </a:r>
            <a:endParaRPr lang="en-us" sz="1200" cap="none"/>
          </a:p>
        </p:txBody>
      </p:sp>
      <p:sp>
        <p:nvSpPr>
          <p:cNvPr id="16" name="Shape 11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z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DAYAABwNQAAaBwAABAAAAAmAAAACAAAAP//////////"/>
              </a:ext>
            </a:extLst>
          </p:cNvSpPr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EAAAzGQAAMAYAACsb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9638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cAAHgYAAAYHgAAcBoAABAAAAAmAAAACAAAAP//////////"/>
              </a:ext>
            </a:extLst>
          </p:cNvSpPr>
          <p:nvPr/>
        </p:nvSpPr>
        <p:spPr>
          <a:xfrm>
            <a:off x="1234440" y="397764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212529"/>
                </a:solidFill>
              </a:rPr>
              <a:t>Optional: emulator</a:t>
            </a:r>
            <a:endParaRPr lang="en-us" sz="1500" cap="none"/>
          </a:p>
        </p:txBody>
      </p:sp>
      <p:sp>
        <p:nvSpPr>
          <p:cNvPr id="19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cAAFMaAADIMQAAAxwAABAAAAAmAAAACAAAAP//////////"/>
              </a:ext>
            </a:extLst>
          </p:cNvSpPr>
          <p:nvPr/>
        </p:nvSpPr>
        <p:spPr>
          <a:xfrm>
            <a:off x="1234440" y="4279265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</a:rPr>
              <a:t>Android Studio / Xcode (Mac)</a:t>
            </a:r>
            <a:endParaRPr lang="en-us" sz="1200" cap="none"/>
          </a:p>
        </p:txBody>
      </p:sp>
      <p:sp>
        <p:nvSpPr>
          <p:cNvPr id="20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10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11 / 25</a:t>
            </a:r>
            <a:endParaRPr lang="en-us" sz="9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ABAACwEwAAQwMAABAAAAAmAAAACAAAAP//////////"/>
              </a:ext>
            </a:extLst>
          </p:cNvSpPr>
          <p:nvPr/>
        </p:nvSpPr>
        <p:spPr>
          <a:xfrm>
            <a:off x="45720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TERMINAL</a:t>
            </a:r>
            <a:endParaRPr lang="en-us" sz="8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Creating the project — 3 commands</a:t>
            </a:r>
            <a:endParaRPr lang="en-us" sz="30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QAAAA0AAAAAkAAAAEgAAACQAAAASAAAAAAAAAAAAAAAAAAAAAEAAABQAAAAEtpyLsVVtT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HAIAABwNQAA8BUAABAAAAAmAAAACAAAAP//////////"/>
              </a:ext>
            </a:extLst>
          </p:cNvSpPr>
          <p:nvPr/>
        </p:nvSpPr>
        <p:spPr>
          <a:xfrm>
            <a:off x="457200" y="137160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gAQAAEgJAACDBQAASwoAABAAAAAmAAAACAAAAP//////////"/>
              </a:ext>
            </a:extLst>
          </p:cNvSpPr>
          <p:nvPr/>
        </p:nvSpPr>
        <p:spPr>
          <a:xfrm>
            <a:off x="731520" y="1508760"/>
            <a:ext cx="164465" cy="164465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6AUAAEgJAADrBgAASwoAABAAAAAmAAAACAAAAP//////////"/>
              </a:ext>
            </a:extLst>
          </p:cNvSpPr>
          <p:nvPr/>
        </p:nvSpPr>
        <p:spPr>
          <a:xfrm>
            <a:off x="960120" y="1508760"/>
            <a:ext cx="164465" cy="164465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8" name="Shape 6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UAcAAEgJAABTCAAASwoAABAAAAAmAAAACAAAAP//////////"/>
              </a:ext>
            </a:extLst>
          </p:cNvSpPr>
          <p:nvPr/>
        </p:nvSpPr>
        <p:spPr>
          <a:xfrm>
            <a:off x="1188720" y="1508760"/>
            <a:ext cx="164465" cy="164465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PgKAADAMwAAGBUAABAAAAAmAAAACAAAAP//////////"/>
              </a:ext>
            </a:extLst>
          </p:cNvSpPr>
          <p:nvPr/>
        </p:nvSpPr>
        <p:spPr>
          <a:xfrm>
            <a:off x="731520" y="1783080"/>
            <a:ext cx="7680960" cy="1645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$ </a:t>
            </a:r>
            <a:r>
              <a:rPr lang="en-us" sz="1600" b="1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npx create-expo-app TravelSnap --template default</a:t>
            </a:r>
            <a:endParaRPr lang="en-us" sz="1600" b="1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cap="none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$ </a:t>
            </a:r>
            <a:r>
              <a:rPr lang="en-us" sz="1600" b="1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cd TravelSnap</a:t>
            </a:r>
            <a:endParaRPr lang="en-us" sz="1600" b="1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cap="none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$ </a:t>
            </a:r>
            <a:r>
              <a:rPr lang="en-us" sz="1600" b="1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npx expo start</a:t>
            </a:r>
            <a:endParaRPr lang="en-us" sz="1600" b="1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FgXAADAMwAACBkAABAAAAAmAAAACAAAAP//////////"/>
              </a:ext>
            </a:extLst>
          </p:cNvSpPr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CED4DA"/>
                </a:solidFill>
              </a:rPr>
              <a:t>▸ npx — runs a package without global install</a:t>
            </a:r>
            <a:endParaRPr lang="en-us" sz="120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FAZAADAMwAAABsAABAAAAAmAAAACAAAAP//////////"/>
              </a:ext>
            </a:extLst>
          </p:cNvSpPr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CED4DA"/>
                </a:solidFill>
              </a:rPr>
              <a:t>▸ --template default — TypeScript + Expo Router + Tabs</a:t>
            </a:r>
            <a:endParaRPr lang="en-us" sz="12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EgbAADAMwAA+BwAABAAAAAmAAAACAAAAP//////////"/>
              </a:ext>
            </a:extLst>
          </p:cNvSpPr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CED4DA"/>
                </a:solidFill>
              </a:rPr>
              <a:t>▸ npx expo start → Metro bundler + QR code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TOOLS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Metro Bundler — what is it?</a:t>
            </a:r>
            <a:endParaRPr lang="en-us" sz="30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AgHAABwNQAAAAkAABAAAAAmAAAACAAAAP//////////"/>
              </a:ext>
            </a:extLst>
          </p:cNvSpPr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i="1" cap="none">
                <a:solidFill>
                  <a:srgbClr val="8B95A5"/>
                </a:solidFill>
              </a:rPr>
              <a:t>Like Webpack for the web, but optimized for mobile</a:t>
            </a:r>
            <a:endParaRPr lang="en-us" sz="14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GgKAACQEgAAqBUAABAAAAAmAAAACAAAAP//////////"/>
              </a:ext>
            </a:extLst>
          </p:cNvSpPr>
          <p:nvPr/>
        </p:nvSpPr>
        <p:spPr>
          <a:xfrm>
            <a:off x="457200" y="169164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FiE+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iE+AP///wEAAAAAAAAAAAAAAAAAAAAAAAAAAAAAAAAAAAAAAAAAAAAAAAB/f38A5+bmA8zMzADAwP8Af39/AAAAAAAAAAAAAAAAAAAAAAAAAAAAIQAAABgAAAAUAAAAuAgAAEALAABgDAAA6A4AABAAAAAmAAAACAAAAP//////////"/>
              </a:ext>
            </a:extLst>
          </p:cNvSpPr>
          <p:nvPr/>
        </p:nvSpPr>
        <p:spPr>
          <a:xfrm>
            <a:off x="1417320" y="1828800"/>
            <a:ext cx="594360" cy="59436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gAAEALAABgDAAA6A4AABAAAAAmAAAACAAAAP//////////"/>
              </a:ext>
            </a:extLst>
          </p:cNvSpPr>
          <p:nvPr/>
        </p:nvSpPr>
        <p:spPr>
          <a:xfrm>
            <a:off x="1417320" y="1828800"/>
            <a:ext cx="594360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1</a:t>
            </a:r>
            <a:endParaRPr lang="en-us" sz="22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HgPAABwEQAAcBEAABAAAAAmAAAACAAAAP//////////"/>
              </a:ext>
            </a:extLst>
          </p:cNvSpPr>
          <p:nvPr/>
        </p:nvSpPr>
        <p:spPr>
          <a:xfrm>
            <a:off x="640080" y="2514600"/>
            <a:ext cx="21945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500" b="1" cap="none">
                <a:solidFill>
                  <a:srgbClr val="212529"/>
                </a:solidFill>
              </a:rPr>
              <a:t>Resolution</a:t>
            </a:r>
            <a:endParaRPr lang="en-us" sz="15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HARAABwEQAA0BQAABAAAAAmAAAACAAAAP//////////"/>
              </a:ext>
            </a:extLst>
          </p:cNvSpPr>
          <p:nvPr/>
        </p:nvSpPr>
        <p:spPr>
          <a:xfrm>
            <a:off x="640080" y="2834640"/>
            <a:ext cx="2194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Resolves imports</a:t>
            </a:r>
            <a:endParaRPr lang="en-us" sz="1200" cap="none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and dependencies</a:t>
            </a:r>
            <a:endParaRPr lang="en-us" sz="12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BQAAGgKAACQJAAAqBUAABAAAAAmAAAACAAAAP//////////"/>
              </a:ext>
            </a:extLst>
          </p:cNvSpPr>
          <p:nvPr/>
        </p:nvSpPr>
        <p:spPr>
          <a:xfrm>
            <a:off x="3383280" y="169164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FiE+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iE+AP///wEAAAAAAAAAAAAAAAAAAAAAAAAAAAAAAAAAAAAAAAAAAAAAAAB/f38A5+bmA8zMzADAwP8Af39/AAAAAAAAAAAAAAAAAAAAAAAAAAAAIQAAABgAAAAUAAAAuBoAAEALAABgHgAA6A4AABAAAAAmAAAACAAAAP//////////"/>
              </a:ext>
            </a:extLst>
          </p:cNvSpPr>
          <p:nvPr/>
        </p:nvSpPr>
        <p:spPr>
          <a:xfrm>
            <a:off x="4343400" y="1828800"/>
            <a:ext cx="594360" cy="59436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BoAAEALAABgHgAA6A4AABAAAAAmAAAACAAAAP//////////"/>
              </a:ext>
            </a:extLst>
          </p:cNvSpPr>
          <p:nvPr/>
        </p:nvSpPr>
        <p:spPr>
          <a:xfrm>
            <a:off x="4343400" y="1828800"/>
            <a:ext cx="594360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2</a:t>
            </a:r>
            <a:endParaRPr lang="en-us" sz="22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UAAHgPAABwIwAAcBEAABAAAAAmAAAACAAAAP//////////"/>
              </a:ext>
            </a:extLst>
          </p:cNvSpPr>
          <p:nvPr/>
        </p:nvSpPr>
        <p:spPr>
          <a:xfrm>
            <a:off x="3566160" y="2514600"/>
            <a:ext cx="21945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500" b="1" cap="none">
                <a:solidFill>
                  <a:srgbClr val="212529"/>
                </a:solidFill>
              </a:rPr>
              <a:t>Transformation</a:t>
            </a:r>
            <a:endParaRPr lang="en-us" sz="15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UAAHARAABwIwAA0BQAABAAAAAmAAAACAAAAP//////////"/>
              </a:ext>
            </a:extLst>
          </p:cNvSpPr>
          <p:nvPr/>
        </p:nvSpPr>
        <p:spPr>
          <a:xfrm>
            <a:off x="3566160" y="2834640"/>
            <a:ext cx="2194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TSX → JS</a:t>
            </a:r>
            <a:endParaRPr lang="en-us" sz="1200" cap="none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(Babel)</a:t>
            </a:r>
            <a:endParaRPr lang="en-us" sz="1200" cap="none"/>
          </a:p>
        </p:txBody>
      </p:sp>
      <p:sp>
        <p:nvSpPr>
          <p:cNvPr id="15" name="Shape 13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CYAAGgKAACQNgAAqBUAABAAAAAmAAAACAAAAP//////////"/>
              </a:ext>
            </a:extLst>
          </p:cNvSpPr>
          <p:nvPr/>
        </p:nvSpPr>
        <p:spPr>
          <a:xfrm>
            <a:off x="6309360" y="169164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FiE+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iE+AP///wEAAAAAAAAAAAAAAAAAAAAAAAAAAAAAAAAAAAAAAAAAAAAAAAB/f38A5+bmA8zMzADAwP8Af39/AAAAAAAAAAAAAAAAAAAAAAAAAAAAIQAAABgAAAAUAAAAuCwAAEALAABgMAAA6A4AABAAAAAmAAAACAAAAP//////////"/>
              </a:ext>
            </a:extLst>
          </p:cNvSpPr>
          <p:nvPr/>
        </p:nvSpPr>
        <p:spPr>
          <a:xfrm>
            <a:off x="7269480" y="1828800"/>
            <a:ext cx="594360" cy="59436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</p:sp>
      <p:sp>
        <p:nvSpPr>
          <p:cNvPr id="17" name="Text 1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wAAEALAABgMAAA6A4AABAAAAAmAAAACAAAAP//////////"/>
              </a:ext>
            </a:extLst>
          </p:cNvSpPr>
          <p:nvPr/>
        </p:nvSpPr>
        <p:spPr>
          <a:xfrm>
            <a:off x="7269480" y="1828800"/>
            <a:ext cx="594360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3</a:t>
            </a:r>
            <a:endParaRPr lang="en-us" sz="2200" cap="none"/>
          </a:p>
        </p:txBody>
      </p:sp>
      <p:sp>
        <p:nvSpPr>
          <p:cNvPr id="18" name="Text 1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CcAAHgPAABwNQAAcBEAABAAAAAmAAAACAAAAP//////////"/>
              </a:ext>
            </a:extLst>
          </p:cNvSpPr>
          <p:nvPr/>
        </p:nvSpPr>
        <p:spPr>
          <a:xfrm>
            <a:off x="6492240" y="2514600"/>
            <a:ext cx="21945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500" b="1" cap="none">
                <a:solidFill>
                  <a:srgbClr val="212529"/>
                </a:solidFill>
              </a:rPr>
              <a:t>Serialization</a:t>
            </a:r>
            <a:endParaRPr lang="en-us" sz="1500" cap="none"/>
          </a:p>
        </p:txBody>
      </p:sp>
      <p:sp>
        <p:nvSpPr>
          <p:cNvPr id="19" name="Text 1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CcAAHARAABwNQAA0BQAABAAAAAmAAAACAAAAP//////////"/>
              </a:ext>
            </a:extLst>
          </p:cNvSpPr>
          <p:nvPr/>
        </p:nvSpPr>
        <p:spPr>
          <a:xfrm>
            <a:off x="6492240" y="2834640"/>
            <a:ext cx="2194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Packs into a single</a:t>
            </a:r>
            <a:endParaRPr lang="en-us" sz="1200" cap="none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bundle.js</a:t>
            </a:r>
            <a:endParaRPr lang="en-us" sz="1200" cap="none"/>
          </a:p>
        </p:txBody>
      </p:sp>
      <p:sp>
        <p:nvSpPr>
          <p:cNvPr id="20" name="Shape 18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KAXAABwNQAAsBwAABAAAAAmAAAACAAAAP//////////"/>
              </a:ext>
            </a:extLst>
          </p:cNvSpPr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Ydr7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CjGAAA6AUAAJs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04945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Text 1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OgXAADgIgAA4BkAABAAAAAmAAAACAAAAP//////////"/>
              </a:ext>
            </a:extLst>
          </p:cNvSpPr>
          <p:nvPr/>
        </p:nvSpPr>
        <p:spPr>
          <a:xfrm>
            <a:off x="1097280" y="3886200"/>
            <a:ext cx="45720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212529"/>
                </a:solidFill>
              </a:rPr>
              <a:t>Hot Module Replacement (HMR)</a:t>
            </a:r>
            <a:endParaRPr lang="en-us" sz="1400" cap="none"/>
          </a:p>
        </p:txBody>
      </p:sp>
      <p:sp>
        <p:nvSpPr>
          <p:cNvPr id="23" name="Text 2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OAZAADAMwAA2BsAABAAAAAmAAAACAAAAP//////////"/>
              </a:ext>
            </a:extLst>
          </p:cNvSpPr>
          <p:nvPr/>
        </p:nvSpPr>
        <p:spPr>
          <a:xfrm>
            <a:off x="1097280" y="4206240"/>
            <a:ext cx="7315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</a:rPr>
              <a:t>You change a file → the app updates without restart. State preserved.</a:t>
            </a:r>
            <a:endParaRPr lang="en-us" sz="1200" cap="none"/>
          </a:p>
        </p:txBody>
      </p:sp>
      <p:sp>
        <p:nvSpPr>
          <p:cNvPr id="24" name="Text 2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12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sBMAAIAEAACQJAAAYBUAABAAAAAmAAAACAAAAP//////////"/>
              </a:ext>
            </a:extLst>
          </p:cNvSpPr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gWAACYBwAAeCEAAEgS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234440"/>
            <a:ext cx="1737360" cy="17373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NAUAABwNQAAoBcAABAAAAAmAAAACAAAAP//////////"/>
              </a:ext>
            </a:extLst>
          </p:cNvSpPr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b="1" cap="none" spc="80">
                <a:solidFill>
                  <a:srgbClr val="61DAFB"/>
                </a:solidFill>
              </a:rPr>
              <a:t>  LIVE CODING</a:t>
            </a:r>
            <a:endParaRPr lang="en-us" sz="1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SHw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BAXAABwNQAAcBoAABAAAAAmAAAACAAAAP//////////"/>
              </a:ext>
            </a:extLst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800" b="1" cap="none">
                <a:solidFill>
                  <a:srgbClr val="FFFFFF"/>
                </a:solidFill>
              </a:rPr>
              <a:t>Creating TravelSnap from scratch</a:t>
            </a:r>
            <a:endParaRPr lang="en-us" sz="28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gaAABwNQAAaBwAABAAAAAmAAAACAAAAP//////////"/>
              </a:ext>
            </a:extLst>
          </p:cNvSpPr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400" cap="none">
                <a:solidFill>
                  <a:srgbClr val="8B95A5"/>
                </a:solidFill>
              </a:rPr>
              <a:t>Scan the QR → app on your screen!</a:t>
            </a:r>
            <a:endParaRPr lang="en-us" sz="14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13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14 / 25</a:t>
            </a:r>
            <a:endParaRPr lang="en-us" sz="9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ABAACwEwAAQwMAABAAAAAmAAAACAAAAP//////////"/>
              </a:ext>
            </a:extLst>
          </p:cNvSpPr>
          <p:nvPr/>
        </p:nvSpPr>
        <p:spPr>
          <a:xfrm>
            <a:off x="45720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STRUCTURE</a:t>
            </a:r>
            <a:endParaRPr lang="en-us" sz="8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Expo Project Structure</a:t>
            </a:r>
            <a:endParaRPr lang="en-us" sz="30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QAAAA0AAAAAkAAAAEgAAACQAAAASAAAAAAAAAAAAAAAAAAAAAEAAABQAAAA3UHsTKHzqj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OAHAADAIQAAQB0AABAAAAAmAAAACAAAAP//////////"/>
              </a:ext>
            </a:extLst>
          </p:cNvSpPr>
          <p:nvPr/>
        </p:nvSpPr>
        <p:spPr>
          <a:xfrm>
            <a:off x="457200" y="128016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LgIAAAwGAAAPQoAABAAAAAmAAAACAAAAP//////////"/>
              </a:ext>
            </a:extLst>
          </p:cNvSpPr>
          <p:nvPr/>
        </p:nvSpPr>
        <p:spPr>
          <a:xfrm>
            <a:off x="731520" y="1417320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b="1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TravelSnap/</a:t>
            </a:r>
            <a:endParaRPr lang="en-us" sz="11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D0KAAAwGAAAwgsAABAAAAAmAAAACAAAAP//////////"/>
              </a:ext>
            </a:extLst>
          </p:cNvSpPr>
          <p:nvPr/>
        </p:nvSpPr>
        <p:spPr>
          <a:xfrm>
            <a:off x="731520" y="1664335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├── app/                   </a:t>
            </a:r>
            <a:endParaRPr lang="en-us" sz="11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UAAD0KAACgIAAAwgsAAAAAAAAmAAAACAAAAP//////////"/>
              </a:ext>
            </a:extLst>
          </p:cNvSpPr>
          <p:nvPr/>
        </p:nvSpPr>
        <p:spPr>
          <a:xfrm>
            <a:off x="3566160" y="1664335"/>
            <a:ext cx="17373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00" i="1" cap="none">
                <a:solidFill>
                  <a:srgbClr val="8B95A5"/>
                </a:solidFill>
              </a:rPr>
              <a:t> App screens</a:t>
            </a:r>
            <a:endParaRPr lang="en-us" sz="900" i="1" cap="none">
              <a:solidFill>
                <a:srgbClr val="8B95A5"/>
              </a:solidFill>
            </a:endParaRPr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MILAAAwGAAARg0AABAAAAAmAAAACAAAAP//////////"/>
              </a:ext>
            </a:extLst>
          </p:cNvSpPr>
          <p:nvPr/>
        </p:nvSpPr>
        <p:spPr>
          <a:xfrm>
            <a:off x="731520" y="1911350"/>
            <a:ext cx="3200400" cy="246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│   ├── (tabs)/</a:t>
            </a:r>
            <a:endParaRPr lang="en-us" sz="11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EYNAAAwGAAAyw4AABAAAAAmAAAACAAAAP//////////"/>
              </a:ext>
            </a:extLst>
          </p:cNvSpPr>
          <p:nvPr/>
        </p:nvSpPr>
        <p:spPr>
          <a:xfrm>
            <a:off x="731520" y="2157730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1FA8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│   │   ├── index.tsx      </a:t>
            </a:r>
            <a:endParaRPr lang="en-us" sz="110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UAAEYNAACgIAAAyw4AABAAAAAmAAAACAAAAP//////////"/>
              </a:ext>
            </a:extLst>
          </p:cNvSpPr>
          <p:nvPr/>
        </p:nvSpPr>
        <p:spPr>
          <a:xfrm>
            <a:off x="3566160" y="2157730"/>
            <a:ext cx="17373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00" i="1" cap="none">
                <a:solidFill>
                  <a:srgbClr val="8B95A5"/>
                </a:solidFill>
              </a:rPr>
              <a:t>Home screen</a:t>
            </a:r>
            <a:endParaRPr lang="en-us" sz="9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MsOAAAwGAAAUBAAABAAAAAmAAAACAAAAP//////////"/>
              </a:ext>
            </a:extLst>
          </p:cNvSpPr>
          <p:nvPr/>
        </p:nvSpPr>
        <p:spPr>
          <a:xfrm>
            <a:off x="731520" y="2404745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│   │   ├── explore.tsx</a:t>
            </a:r>
            <a:endParaRPr lang="en-us" sz="11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FAQAAAwGAAA1REAABAAAAAmAAAACAAAAP//////////"/>
              </a:ext>
            </a:extLst>
          </p:cNvSpPr>
          <p:nvPr/>
        </p:nvSpPr>
        <p:spPr>
          <a:xfrm>
            <a:off x="731520" y="2651760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│   │   └── _layout.tsx    </a:t>
            </a:r>
            <a:endParaRPr lang="en-us" sz="11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UAAFAQAACgIAAA1REAABAAAAAmAAAACAAAAP//////////"/>
              </a:ext>
            </a:extLst>
          </p:cNvSpPr>
          <p:nvPr/>
        </p:nvSpPr>
        <p:spPr>
          <a:xfrm>
            <a:off x="3566160" y="2651760"/>
            <a:ext cx="17373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00" i="1" cap="none">
                <a:solidFill>
                  <a:srgbClr val="8B95A5"/>
                </a:solidFill>
              </a:rPr>
              <a:t>Tab configuration</a:t>
            </a:r>
            <a:endParaRPr lang="en-us" sz="90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NURAAAwGAAAWhMAABAAAAAmAAAACAAAAP//////////"/>
              </a:ext>
            </a:extLst>
          </p:cNvSpPr>
          <p:nvPr/>
        </p:nvSpPr>
        <p:spPr>
          <a:xfrm>
            <a:off x="731520" y="2898775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│   ├── _layout.tsx</a:t>
            </a:r>
            <a:endParaRPr lang="en-us" sz="110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FoTAAAwGAAA3hQAABAAAAAmAAAACAAAAP//////////"/>
              </a:ext>
            </a:extLst>
          </p:cNvSpPr>
          <p:nvPr/>
        </p:nvSpPr>
        <p:spPr>
          <a:xfrm>
            <a:off x="731520" y="3145790"/>
            <a:ext cx="3200400" cy="246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│   └── +not-found.tsx</a:t>
            </a:r>
            <a:endParaRPr lang="en-us" sz="110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N4UAAAwGAAAYxYAABAAAAAmAAAACAAAAP//////////"/>
              </a:ext>
            </a:extLst>
          </p:cNvSpPr>
          <p:nvPr/>
        </p:nvSpPr>
        <p:spPr>
          <a:xfrm>
            <a:off x="731520" y="3392170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B86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├── assets/</a:t>
            </a:r>
            <a:endParaRPr lang="en-us" sz="1100" cap="none"/>
          </a:p>
        </p:txBody>
      </p:sp>
      <p:sp>
        <p:nvSpPr>
          <p:cNvPr id="18" name="Text 1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GMWAAAwGAAA6BcAABAAAAAmAAAACAAAAP//////////"/>
              </a:ext>
            </a:extLst>
          </p:cNvSpPr>
          <p:nvPr/>
        </p:nvSpPr>
        <p:spPr>
          <a:xfrm>
            <a:off x="731520" y="3639185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├── components/</a:t>
            </a:r>
            <a:endParaRPr lang="en-us" sz="1100" cap="none"/>
          </a:p>
        </p:txBody>
      </p:sp>
      <p:sp>
        <p:nvSpPr>
          <p:cNvPr id="19" name="Text 1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OgXAAAwGAAAbRkAABAAAAAmAAAACAAAAP//////////"/>
              </a:ext>
            </a:extLst>
          </p:cNvSpPr>
          <p:nvPr/>
        </p:nvSpPr>
        <p:spPr>
          <a:xfrm>
            <a:off x="731520" y="3886200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├── constants/</a:t>
            </a:r>
            <a:endParaRPr lang="en-us" sz="1100" cap="none"/>
          </a:p>
        </p:txBody>
      </p:sp>
      <p:sp>
        <p:nvSpPr>
          <p:cNvPr id="20" name="Text 1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G0ZAAAwGAAA8hoAABAAAAAmAAAACAAAAP//////////"/>
              </a:ext>
            </a:extLst>
          </p:cNvSpPr>
          <p:nvPr/>
        </p:nvSpPr>
        <p:spPr>
          <a:xfrm>
            <a:off x="731520" y="4133215"/>
            <a:ext cx="320040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├── package.json</a:t>
            </a:r>
            <a:endParaRPr lang="en-us" sz="1100" cap="none"/>
          </a:p>
        </p:txBody>
      </p:sp>
      <p:sp>
        <p:nvSpPr>
          <p:cNvPr id="21" name="Text 1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P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PIaAAAwGAAAdhwAABAAAAAmAAAACAAAAP//////////"/>
              </a:ext>
            </a:extLst>
          </p:cNvSpPr>
          <p:nvPr/>
        </p:nvSpPr>
        <p:spPr>
          <a:xfrm>
            <a:off x="731520" y="4380230"/>
            <a:ext cx="3200400" cy="246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└── tsconfig.json</a:t>
            </a:r>
            <a:endParaRPr lang="en-us" sz="1100" cap="none"/>
          </a:p>
        </p:txBody>
      </p:sp>
      <p:sp>
        <p:nvSpPr>
          <p:cNvPr id="22" name="Shape 20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cCMAAHAIAAAANgAAEA4AABAAAAAmAAAACAAAAP//////////"/>
              </a:ext>
            </a:extLst>
          </p:cNvSpPr>
          <p:nvPr/>
        </p:nvSpPr>
        <p:spPr>
          <a:xfrm>
            <a:off x="5760720" y="1371600"/>
            <a:ext cx="3017520" cy="91440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23" name="Shape 21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cCMAAHAIAAC4IwAAEA4AABAAAAAmAAAACAAAAP//////////"/>
              </a:ext>
            </a:extLst>
          </p:cNvSpPr>
          <p:nvPr/>
        </p:nvSpPr>
        <p:spPr>
          <a:xfrm>
            <a:off x="5760720" y="1371600"/>
            <a:ext cx="45720" cy="914400"/>
          </a:xfrm>
          <a:prstGeom prst="rect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24" name="Text 2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CQAAOMIAACYNAAAkwoAABAAAAAmAAAACAAAAP//////////"/>
              </a:ext>
            </a:extLst>
          </p:cNvSpPr>
          <p:nvPr/>
        </p:nvSpPr>
        <p:spPr>
          <a:xfrm>
            <a:off x="5989320" y="1444625"/>
            <a:ext cx="25603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app/</a:t>
            </a:r>
            <a:endParaRPr lang="en-us" sz="1300" cap="none"/>
          </a:p>
        </p:txBody>
      </p:sp>
      <p:sp>
        <p:nvSpPr>
          <p:cNvPr id="25" name="Text 2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CQAALAKAACYNAAAyA0AABAAAAAmAAAACAAAAP//////////"/>
              </a:ext>
            </a:extLst>
          </p:cNvSpPr>
          <p:nvPr/>
        </p:nvSpPr>
        <p:spPr>
          <a:xfrm>
            <a:off x="5989320" y="1737360"/>
            <a:ext cx="256032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cap="none">
                <a:solidFill>
                  <a:srgbClr val="CED4DA"/>
                </a:solidFill>
              </a:rPr>
              <a:t>Screens live here — Expo Router</a:t>
            </a:r>
            <a:endParaRPr lang="en-us" sz="1000" cap="none"/>
          </a:p>
          <a:p>
            <a:pPr marL="0" indent="0">
              <a:lnSpc>
                <a:spcPct val="130000"/>
              </a:lnSpc>
              <a:buNone/>
            </a:pPr>
            <a:r>
              <a:rPr lang="en-us" sz="1000" cap="none">
                <a:solidFill>
                  <a:srgbClr val="CED4DA"/>
                </a:solidFill>
              </a:rPr>
              <a:t>automatically creates navigation</a:t>
            </a:r>
            <a:endParaRPr lang="en-us" sz="1000" cap="none"/>
          </a:p>
        </p:txBody>
      </p:sp>
      <p:sp>
        <p:nvSpPr>
          <p:cNvPr id="26" name="Shape 24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cCMAAHgPAAAANgAAGBUAABAAAAAmAAAACAAAAP//////////"/>
              </a:ext>
            </a:extLst>
          </p:cNvSpPr>
          <p:nvPr/>
        </p:nvSpPr>
        <p:spPr>
          <a:xfrm>
            <a:off x="5760720" y="2514600"/>
            <a:ext cx="3017520" cy="91440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27" name="Shape 25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cCMAAHgPAAC4IwAAGBUAABAAAAAmAAAACAAAAP//////////"/>
              </a:ext>
            </a:extLst>
          </p:cNvSpPr>
          <p:nvPr/>
        </p:nvSpPr>
        <p:spPr>
          <a:xfrm>
            <a:off x="5760720" y="2514600"/>
            <a:ext cx="45720" cy="9144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28" name="Text 2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CQAAOsPAACYNAAAmxEAABAAAAAmAAAACAAAAP//////////"/>
              </a:ext>
            </a:extLst>
          </p:cNvSpPr>
          <p:nvPr/>
        </p:nvSpPr>
        <p:spPr>
          <a:xfrm>
            <a:off x="5989320" y="2587625"/>
            <a:ext cx="25603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components/</a:t>
            </a:r>
            <a:endParaRPr lang="en-us" sz="1300" cap="none"/>
          </a:p>
        </p:txBody>
      </p:sp>
      <p:sp>
        <p:nvSpPr>
          <p:cNvPr id="29" name="Text 2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CQAALgRAACYNAAA0BQAABAAAAAmAAAACAAAAP//////////"/>
              </a:ext>
            </a:extLst>
          </p:cNvSpPr>
          <p:nvPr/>
        </p:nvSpPr>
        <p:spPr>
          <a:xfrm>
            <a:off x="5989320" y="2880360"/>
            <a:ext cx="256032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cap="none">
                <a:solidFill>
                  <a:srgbClr val="CED4DA"/>
                </a:solidFill>
              </a:rPr>
              <a:t>Custom components</a:t>
            </a:r>
            <a:endParaRPr lang="en-us" sz="1000" cap="none"/>
          </a:p>
          <a:p>
            <a:pPr marL="0" indent="0">
              <a:lnSpc>
                <a:spcPct val="130000"/>
              </a:lnSpc>
              <a:buNone/>
            </a:pPr>
            <a:r>
              <a:rPr lang="en-us" sz="1000" cap="none">
                <a:solidFill>
                  <a:srgbClr val="CED4DA"/>
                </a:solidFill>
              </a:rPr>
              <a:t>for reuse</a:t>
            </a:r>
            <a:endParaRPr lang="en-us" sz="1000" cap="none"/>
          </a:p>
        </p:txBody>
      </p:sp>
      <p:sp>
        <p:nvSpPr>
          <p:cNvPr id="30" name="Shape 28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cCMAAIAWAAAANgAAIBwAABAAAAAmAAAACAAAAP//////////"/>
              </a:ext>
            </a:extLst>
          </p:cNvSpPr>
          <p:nvPr/>
        </p:nvSpPr>
        <p:spPr>
          <a:xfrm>
            <a:off x="5760720" y="3657600"/>
            <a:ext cx="3017520" cy="91440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31" name="Shape 29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cCMAAIAWAAC4IwAAIBwAABAAAAAmAAAACAAAAP//////////"/>
              </a:ext>
            </a:extLst>
          </p:cNvSpPr>
          <p:nvPr/>
        </p:nvSpPr>
        <p:spPr>
          <a:xfrm>
            <a:off x="5760720" y="3657600"/>
            <a:ext cx="45720" cy="9144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32" name="Text 3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CQAAPMWAACYNAAAoxgAABAAAAAmAAAACAAAAP//////////"/>
              </a:ext>
            </a:extLst>
          </p:cNvSpPr>
          <p:nvPr/>
        </p:nvSpPr>
        <p:spPr>
          <a:xfrm>
            <a:off x="5989320" y="3730625"/>
            <a:ext cx="25603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constants/</a:t>
            </a:r>
            <a:endParaRPr lang="en-us" sz="1300" cap="none"/>
          </a:p>
        </p:txBody>
      </p:sp>
      <p:sp>
        <p:nvSpPr>
          <p:cNvPr id="33" name="Text 3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CQAAMAYAACYNAAA2BsAABAAAAAmAAAACAAAAP//////////"/>
              </a:ext>
            </a:extLst>
          </p:cNvSpPr>
          <p:nvPr/>
        </p:nvSpPr>
        <p:spPr>
          <a:xfrm>
            <a:off x="5989320" y="4023360"/>
            <a:ext cx="256032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cap="none">
                <a:solidFill>
                  <a:srgbClr val="CED4DA"/>
                </a:solidFill>
              </a:rPr>
              <a:t>Constants — e.g. colors,</a:t>
            </a:r>
            <a:endParaRPr lang="en-us" sz="1000" cap="none"/>
          </a:p>
          <a:p>
            <a:pPr marL="0" indent="0">
              <a:lnSpc>
                <a:spcPct val="130000"/>
              </a:lnSpc>
              <a:buNone/>
            </a:pPr>
            <a:r>
              <a:rPr lang="en-us" sz="1000" cap="none">
                <a:solidFill>
                  <a:srgbClr val="CED4DA"/>
                </a:solidFill>
              </a:rPr>
              <a:t>font sizes</a:t>
            </a:r>
            <a:endParaRPr lang="en-us" sz="10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COMPONENTS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2800" b="1" cap="none">
                <a:solidFill>
                  <a:srgbClr val="212529"/>
                </a:solidFill>
              </a:rPr>
              <a:t>Core React Native Components</a:t>
            </a:r>
            <a:endParaRPr lang="en-us" sz="28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0AIAAJgHAABwNQAAFQsAABAAAAAmAAAACAAAAP//////////"/>
              </a:ext>
            </a:extLst>
          </p:cNvSpPr>
          <p:nvPr/>
        </p:nvSpPr>
        <p:spPr>
          <a:xfrm>
            <a:off x="457200" y="1234440"/>
            <a:ext cx="8229600" cy="5670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BiCAAAdQUAAC4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62710"/>
            <a:ext cx="292735" cy="2921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w1z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JgHAACwEwAAFQsAABAAAAAmAAAACAAAAP//////////"/>
              </a:ext>
            </a:extLst>
          </p:cNvSpPr>
          <p:nvPr/>
        </p:nvSpPr>
        <p:spPr>
          <a:xfrm>
            <a:off x="1097280" y="1234440"/>
            <a:ext cx="21031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6213E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&lt;View&gt;</a:t>
            </a:r>
            <a:endParaRPr lang="en-us" sz="15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MAAJgHAABgFQAAFQsAABAAAAAmAAAACAAAAP//////////"/>
              </a:ext>
            </a:extLst>
          </p:cNvSpPr>
          <p:nvPr/>
        </p:nvSpPr>
        <p:spPr>
          <a:xfrm>
            <a:off x="3108960" y="1234440"/>
            <a:ext cx="36576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cap="none">
                <a:solidFill>
                  <a:srgbClr val="8B95A5"/>
                </a:solidFill>
              </a:rPr>
              <a:t>≈</a:t>
            </a:r>
            <a:endParaRPr lang="en-us" sz="16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UAAJgHAADAIQAAFQsAABAAAAAmAAAACAAAAP//////////"/>
              </a:ext>
            </a:extLst>
          </p:cNvSpPr>
          <p:nvPr/>
        </p:nvSpPr>
        <p:spPr>
          <a:xfrm>
            <a:off x="3474720" y="1234440"/>
            <a:ext cx="201168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&lt;div&gt;</a:t>
            </a:r>
            <a:endParaRPr lang="en-us" sz="1400" cap="none"/>
          </a:p>
        </p:txBody>
      </p:sp>
      <p:sp>
        <p:nvSpPr>
          <p:cNvPr id="9" name="Text 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CIAAJgHAADAMwAAFQsAABAAAAAmAAAACAAAAP//////////"/>
              </a:ext>
            </a:extLst>
          </p:cNvSpPr>
          <p:nvPr/>
        </p:nvSpPr>
        <p:spPr>
          <a:xfrm>
            <a:off x="5669280" y="1234440"/>
            <a:ext cx="274320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Container / box</a:t>
            </a:r>
            <a:endParaRPr lang="en-us" sz="1300" cap="none"/>
          </a:p>
        </p:txBody>
      </p:sp>
      <p:sp>
        <p:nvSpPr>
          <p:cNvPr id="10" name="Shape 7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+Pn6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Pn6AP///wEAAAAAAAAAAAAAAAAAAAAAAAAAAAAAAAAAAAAAAAAAAAAAAAB/f38A5+bmA8zMzADAwP8Af39/AAAAAAAAAAAAAAAAAAAAAAAAAAAAIQAAABgAAAAUAAAA0AIAAPsLAABwNQAAeA8AABAAAAAmAAAACAAAAP//////////"/>
              </a:ext>
            </a:extLst>
          </p:cNvSpPr>
          <p:nvPr/>
        </p:nvSpPr>
        <p:spPr>
          <a:xfrm>
            <a:off x="457200" y="1947545"/>
            <a:ext cx="8229600" cy="56705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</p:sp>
      <p:pic>
        <p:nvPicPr>
          <p:cNvPr id="11" name="Image 1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7/2H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DFDAAAdQUAAJIO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075815"/>
            <a:ext cx="292735" cy="2927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RE0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PsLAACwEwAAeA8AABAAAAAmAAAACAAAAP//////////"/>
              </a:ext>
            </a:extLst>
          </p:cNvSpPr>
          <p:nvPr/>
        </p:nvSpPr>
        <p:spPr>
          <a:xfrm>
            <a:off x="1097280" y="1947545"/>
            <a:ext cx="21031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6213E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&lt;Text&gt;</a:t>
            </a:r>
            <a:endParaRPr lang="en-us" sz="1500" cap="none"/>
          </a:p>
        </p:txBody>
      </p:sp>
      <p:sp>
        <p:nvSpPr>
          <p:cNvPr id="13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MAAPsLAABgFQAAeA8AABAAAAAmAAAACAAAAP//////////"/>
              </a:ext>
            </a:extLst>
          </p:cNvSpPr>
          <p:nvPr/>
        </p:nvSpPr>
        <p:spPr>
          <a:xfrm>
            <a:off x="3108960" y="1947545"/>
            <a:ext cx="36576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cap="none">
                <a:solidFill>
                  <a:srgbClr val="8B95A5"/>
                </a:solidFill>
              </a:rPr>
              <a:t>≈</a:t>
            </a:r>
            <a:endParaRPr lang="en-us" sz="1600" cap="none"/>
          </a:p>
        </p:txBody>
      </p:sp>
      <p:sp>
        <p:nvSpPr>
          <p:cNvPr id="14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UAAPsLAADAIQAAeA8AABAAAAAmAAAACAAAAP//////////"/>
              </a:ext>
            </a:extLst>
          </p:cNvSpPr>
          <p:nvPr/>
        </p:nvSpPr>
        <p:spPr>
          <a:xfrm>
            <a:off x="3474720" y="1947545"/>
            <a:ext cx="201168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&lt;p&gt;</a:t>
            </a:r>
            <a:endParaRPr lang="en-us" sz="1400" cap="none"/>
          </a:p>
        </p:txBody>
      </p:sp>
      <p:sp>
        <p:nvSpPr>
          <p:cNvPr id="15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CIAAPsLAADAMwAAeA8AABAAAAAmAAAACAAAAP//////////"/>
              </a:ext>
            </a:extLst>
          </p:cNvSpPr>
          <p:nvPr/>
        </p:nvSpPr>
        <p:spPr>
          <a:xfrm>
            <a:off x="5669280" y="1947545"/>
            <a:ext cx="274320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Displays text</a:t>
            </a:r>
            <a:endParaRPr lang="en-us" sz="1300" cap="none"/>
          </a:p>
        </p:txBody>
      </p:sp>
      <p:sp>
        <p:nvSpPr>
          <p:cNvPr id="16" name="Shape 1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0AIAAF4QAABwNQAA2xMAABAAAAAmAAAACAAAAP//////////"/>
              </a:ext>
            </a:extLst>
          </p:cNvSpPr>
          <p:nvPr/>
        </p:nvSpPr>
        <p:spPr>
          <a:xfrm>
            <a:off x="457200" y="2660650"/>
            <a:ext cx="8229600" cy="5670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</p:sp>
      <p:pic>
        <p:nvPicPr>
          <p:cNvPr id="17" name="Image 2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7/2H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AoEQAAdQUAAPUS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88920"/>
            <a:ext cx="292735" cy="2927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F4QAACwEwAA2xMAABAAAAAmAAAACAAAAP//////////"/>
              </a:ext>
            </a:extLst>
          </p:cNvSpPr>
          <p:nvPr/>
        </p:nvSpPr>
        <p:spPr>
          <a:xfrm>
            <a:off x="1097280" y="2660650"/>
            <a:ext cx="21031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6213E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&lt;Image&gt;</a:t>
            </a:r>
            <a:endParaRPr lang="en-us" sz="1500" cap="none"/>
          </a:p>
        </p:txBody>
      </p:sp>
      <p:sp>
        <p:nvSpPr>
          <p:cNvPr id="19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MAAF4QAABgFQAA2xMAABAAAAAmAAAACAAAAP//////////"/>
              </a:ext>
            </a:extLst>
          </p:cNvSpPr>
          <p:nvPr/>
        </p:nvSpPr>
        <p:spPr>
          <a:xfrm>
            <a:off x="3108960" y="2660650"/>
            <a:ext cx="36576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cap="none">
                <a:solidFill>
                  <a:srgbClr val="8B95A5"/>
                </a:solidFill>
              </a:rPr>
              <a:t>≈</a:t>
            </a:r>
            <a:endParaRPr lang="en-us" sz="1600" cap="none"/>
          </a:p>
        </p:txBody>
      </p:sp>
      <p:sp>
        <p:nvSpPr>
          <p:cNvPr id="20" name="Text 1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0l3u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UAAF4QAADAIQAA2xMAABAAAAAmAAAACAAAAP//////////"/>
              </a:ext>
            </a:extLst>
          </p:cNvSpPr>
          <p:nvPr/>
        </p:nvSpPr>
        <p:spPr>
          <a:xfrm>
            <a:off x="3474720" y="2660650"/>
            <a:ext cx="201168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&lt;img&gt;</a:t>
            </a:r>
            <a:endParaRPr lang="en-us" sz="1400" cap="none"/>
          </a:p>
        </p:txBody>
      </p:sp>
      <p:sp>
        <p:nvSpPr>
          <p:cNvPr id="21" name="Text 1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CIAAF4QAADAMwAA2xMAABAAAAAmAAAACAAAAP//////////"/>
              </a:ext>
            </a:extLst>
          </p:cNvSpPr>
          <p:nvPr/>
        </p:nvSpPr>
        <p:spPr>
          <a:xfrm>
            <a:off x="5669280" y="2660650"/>
            <a:ext cx="274320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Displays an image</a:t>
            </a:r>
            <a:endParaRPr lang="en-us" sz="1300" cap="none"/>
          </a:p>
        </p:txBody>
      </p:sp>
      <p:sp>
        <p:nvSpPr>
          <p:cNvPr id="22" name="Shape 17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+Pn6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Pn6AP///wEAAAAAAAAAAAAAAAAAAAAAAAAAAAAAAAAAAAAAAAAAAAAAAAB/f38A5+bmA8zMzADAwP8Af39/AAAAAAAAAAAAAAAAAAAAAAAAAAAAIQAAABgAAAAUAAAA0AIAAMIUAABwNQAAPhgAABAAAAAmAAAACAAAAP//////////"/>
              </a:ext>
            </a:extLst>
          </p:cNvSpPr>
          <p:nvPr/>
        </p:nvSpPr>
        <p:spPr>
          <a:xfrm>
            <a:off x="457200" y="3374390"/>
            <a:ext cx="8229600" cy="5664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</p:sp>
      <p:pic>
        <p:nvPicPr>
          <p:cNvPr id="23" name="Image 3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CLFQAAdQUAAFgX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502025"/>
            <a:ext cx="292735" cy="2927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4" name="Text 1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xE1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MIUAACwEwAAPhgAABAAAAAmAAAACAAAAP//////////"/>
              </a:ext>
            </a:extLst>
          </p:cNvSpPr>
          <p:nvPr/>
        </p:nvSpPr>
        <p:spPr>
          <a:xfrm>
            <a:off x="1097280" y="3374390"/>
            <a:ext cx="2103120" cy="5664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6213E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&lt;ScrollView&gt;</a:t>
            </a:r>
            <a:endParaRPr lang="en-us" sz="1500" cap="none"/>
          </a:p>
        </p:txBody>
      </p:sp>
      <p:sp>
        <p:nvSpPr>
          <p:cNvPr id="25" name="Text 1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MAAMIUAABgFQAAPhgAABAAAAAmAAAACAAAAP//////////"/>
              </a:ext>
            </a:extLst>
          </p:cNvSpPr>
          <p:nvPr/>
        </p:nvSpPr>
        <p:spPr>
          <a:xfrm>
            <a:off x="3108960" y="3374390"/>
            <a:ext cx="365760" cy="5664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cap="none">
                <a:solidFill>
                  <a:srgbClr val="8B95A5"/>
                </a:solidFill>
              </a:rPr>
              <a:t>≈</a:t>
            </a:r>
            <a:endParaRPr lang="en-us" sz="1600" cap="none"/>
          </a:p>
        </p:txBody>
      </p:sp>
      <p:sp>
        <p:nvSpPr>
          <p:cNvPr id="26" name="Text 2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UAAMIUAADAIQAAPhgAABAAAAAmAAAACAAAAP//////////"/>
              </a:ext>
            </a:extLst>
          </p:cNvSpPr>
          <p:nvPr/>
        </p:nvSpPr>
        <p:spPr>
          <a:xfrm>
            <a:off x="3474720" y="3374390"/>
            <a:ext cx="2011680" cy="5664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&lt;div overflow&gt;</a:t>
            </a:r>
            <a:endParaRPr lang="en-us" sz="1400" cap="none"/>
          </a:p>
        </p:txBody>
      </p:sp>
      <p:sp>
        <p:nvSpPr>
          <p:cNvPr id="27" name="Text 2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CIAAMIUAADAMwAAPhgAABAAAAAmAAAACAAAAP//////////"/>
              </a:ext>
            </a:extLst>
          </p:cNvSpPr>
          <p:nvPr/>
        </p:nvSpPr>
        <p:spPr>
          <a:xfrm>
            <a:off x="5669280" y="3374390"/>
            <a:ext cx="2743200" cy="5664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Scrollable container</a:t>
            </a:r>
            <a:endParaRPr lang="en-us" sz="1300" cap="none"/>
          </a:p>
        </p:txBody>
      </p:sp>
      <p:sp>
        <p:nvSpPr>
          <p:cNvPr id="28" name="Shape 2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0AIAACUZAABwNQAAohwAABAAAAAmAAAACAAAAP//////////"/>
              </a:ext>
            </a:extLst>
          </p:cNvSpPr>
          <p:nvPr/>
        </p:nvSpPr>
        <p:spPr>
          <a:xfrm>
            <a:off x="457200" y="4087495"/>
            <a:ext cx="8229600" cy="5670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</p:sp>
      <p:pic>
        <p:nvPicPr>
          <p:cNvPr id="29" name="Image 4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a+/9h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DuGQAAdQUAALsb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215130"/>
            <a:ext cx="292735" cy="2927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0" name="Text 2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x03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CUZAACwEwAAohwAABAAAAAmAAAACAAAAP//////////"/>
              </a:ext>
            </a:extLst>
          </p:cNvSpPr>
          <p:nvPr/>
        </p:nvSpPr>
        <p:spPr>
          <a:xfrm>
            <a:off x="1097280" y="4087495"/>
            <a:ext cx="21031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6213E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&lt;Pressable&gt;</a:t>
            </a:r>
            <a:endParaRPr lang="en-us" sz="1500" cap="none"/>
          </a:p>
        </p:txBody>
      </p:sp>
      <p:sp>
        <p:nvSpPr>
          <p:cNvPr id="31" name="Text 2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MAACUZAABgFQAAohwAABAAAAAmAAAACAAAAP//////////"/>
              </a:ext>
            </a:extLst>
          </p:cNvSpPr>
          <p:nvPr/>
        </p:nvSpPr>
        <p:spPr>
          <a:xfrm>
            <a:off x="3108960" y="4087495"/>
            <a:ext cx="36576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cap="none">
                <a:solidFill>
                  <a:srgbClr val="8B95A5"/>
                </a:solidFill>
              </a:rPr>
              <a:t>≈</a:t>
            </a:r>
            <a:endParaRPr lang="en-us" sz="1600" cap="none"/>
          </a:p>
        </p:txBody>
      </p:sp>
      <p:sp>
        <p:nvSpPr>
          <p:cNvPr id="32" name="Text 2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xg2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UAACUZAADAIQAAohwAABAAAAAmAAAACAAAAP//////////"/>
              </a:ext>
            </a:extLst>
          </p:cNvSpPr>
          <p:nvPr/>
        </p:nvSpPr>
        <p:spPr>
          <a:xfrm>
            <a:off x="3474720" y="4087495"/>
            <a:ext cx="201168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&lt;button&gt;</a:t>
            </a:r>
            <a:endParaRPr lang="en-us" sz="1400" cap="none"/>
          </a:p>
        </p:txBody>
      </p:sp>
      <p:sp>
        <p:nvSpPr>
          <p:cNvPr id="33" name="Text 2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CIAACUZAADAMwAAohwAABAAAAAmAAAACAAAAP//////////"/>
              </a:ext>
            </a:extLst>
          </p:cNvSpPr>
          <p:nvPr/>
        </p:nvSpPr>
        <p:spPr>
          <a:xfrm>
            <a:off x="5669280" y="4087495"/>
            <a:ext cx="274320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Tappable element</a:t>
            </a:r>
            <a:endParaRPr lang="en-us" sz="1300" cap="none"/>
          </a:p>
        </p:txBody>
      </p:sp>
      <p:sp>
        <p:nvSpPr>
          <p:cNvPr id="34" name="Text 2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15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16 / 25</a:t>
            </a:r>
            <a:endParaRPr lang="en-us" sz="9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ABAACwEwAAQwMAABAAAAAmAAAACAAAAP//////////"/>
              </a:ext>
            </a:extLst>
          </p:cNvSpPr>
          <p:nvPr/>
        </p:nvSpPr>
        <p:spPr>
          <a:xfrm>
            <a:off x="45720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KOD</a:t>
            </a:r>
            <a:endParaRPr lang="en-us" sz="8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2800" b="1" cap="none">
                <a:solidFill>
                  <a:srgbClr val="FFFFFF"/>
                </a:solidFill>
              </a:rPr>
              <a:t>Anatomy of a React Native Component</a:t>
            </a:r>
            <a:endParaRPr lang="en-us" sz="28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QAAAA0AAAAAkAAAAEgAAACQAAAASAAAAAAAAAAAAAAAAAAAAAEAAABQAAAA4bTgRV9Bqj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JgHAABwNQAAiB0AABAAAAAmAAAACAAAAP//////////"/>
              </a:ext>
            </a:extLst>
          </p:cNvSpPr>
          <p:nvPr/>
        </p:nvSpPr>
        <p:spPr>
          <a:xfrm>
            <a:off x="457200" y="123444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HAIAADAMwAA9QkAABAAAAAmAAAACAAAAP//////////"/>
              </a:ext>
            </a:extLst>
          </p:cNvSpPr>
          <p:nvPr/>
        </p:nvSpPr>
        <p:spPr>
          <a:xfrm>
            <a:off x="731520" y="1371600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import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{ View, Text } </a:t>
            </a:r>
            <a:r>
              <a:rPr lang="en-us" sz="11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from</a:t>
            </a:r>
            <a:r>
              <a:rPr lang="en-us" sz="1100" cap="none">
                <a:solidFill>
                  <a:srgbClr val="F1FA8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'react-native'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;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HoLAADAMwAA/gwAABAAAAAmAAAACAAAAP//////////"/>
              </a:ext>
            </a:extLst>
          </p:cNvSpPr>
          <p:nvPr/>
        </p:nvSpPr>
        <p:spPr>
          <a:xfrm>
            <a:off x="731520" y="1865630"/>
            <a:ext cx="7680960" cy="246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export default function</a:t>
            </a:r>
            <a:r>
              <a:rPr lang="en-us" sz="11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HomeScreen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() {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P4MAADAMwAAgw4AABAAAAAmAAAACAAAAP//////////"/>
              </a:ext>
            </a:extLst>
          </p:cNvSpPr>
          <p:nvPr/>
        </p:nvSpPr>
        <p:spPr>
          <a:xfrm>
            <a:off x="731520" y="2112010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return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(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IMOAADAMwAACBAAABAAAAAmAAAACAAAAP//////////"/>
              </a:ext>
            </a:extLst>
          </p:cNvSpPr>
          <p:nvPr/>
        </p:nvSpPr>
        <p:spPr>
          <a:xfrm>
            <a:off x="731520" y="2359025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&lt;View </a:t>
            </a:r>
            <a:r>
              <a:rPr lang="en-us" sz="11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style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={styles.container}&gt;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AgQAADAMwAAjREAABAAAAAmAAAACAAAAP//////////"/>
              </a:ext>
            </a:extLst>
          </p:cNvSpPr>
          <p:nvPr/>
        </p:nvSpPr>
        <p:spPr>
          <a:xfrm>
            <a:off x="731520" y="2606040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&lt;Text </a:t>
            </a:r>
            <a:r>
              <a:rPr lang="en-us" sz="11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style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={styles.title}&gt;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I0RAADAMwAAEhMAABAAAAAmAAAACAAAAP//////////"/>
              </a:ext>
            </a:extLst>
          </p:cNvSpPr>
          <p:nvPr/>
        </p:nvSpPr>
        <p:spPr>
          <a:xfrm>
            <a:off x="731520" y="2853055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  TravelSnap</a:t>
            </a:r>
            <a:endParaRPr lang="en-us" sz="11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BITAADAMwAAlhQAABAAAAAmAAAACAAAAP//////////"/>
              </a:ext>
            </a:extLst>
          </p:cNvSpPr>
          <p:nvPr/>
        </p:nvSpPr>
        <p:spPr>
          <a:xfrm>
            <a:off x="731520" y="3100070"/>
            <a:ext cx="7680960" cy="246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&lt;/Text&gt;</a:t>
            </a:r>
            <a:endParaRPr lang="en-us" sz="11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JYUAADAMwAAGxYAABAAAAAmAAAACAAAAP//////////"/>
              </a:ext>
            </a:extLst>
          </p:cNvSpPr>
          <p:nvPr/>
        </p:nvSpPr>
        <p:spPr>
          <a:xfrm>
            <a:off x="731520" y="3346450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&lt;Text </a:t>
            </a:r>
            <a:r>
              <a:rPr lang="en-us" sz="11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style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={styles.subtitle}&gt;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BsWAADAMwAAoBcAABAAAAAmAAAACAAAAP//////////"/>
              </a:ext>
            </a:extLst>
          </p:cNvSpPr>
          <p:nvPr/>
        </p:nvSpPr>
        <p:spPr>
          <a:xfrm>
            <a:off x="731520" y="3593465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  Your travel diary</a:t>
            </a:r>
            <a:endParaRPr lang="en-us" sz="110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U+Nv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KAXAADAMwAAJRkAABAAAAAmAAAACAAAAP//////////"/>
              </a:ext>
            </a:extLst>
          </p:cNvSpPr>
          <p:nvPr/>
        </p:nvSpPr>
        <p:spPr>
          <a:xfrm>
            <a:off x="731520" y="3840480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&lt;/Text&gt;</a:t>
            </a:r>
            <a:endParaRPr lang="en-us" sz="110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CUZAADAMwAAqhoAABAAAAAmAAAACAAAAP//////////"/>
              </a:ext>
            </a:extLst>
          </p:cNvSpPr>
          <p:nvPr/>
        </p:nvSpPr>
        <p:spPr>
          <a:xfrm>
            <a:off x="731520" y="4087495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&lt;/View&gt;</a:t>
            </a:r>
            <a:endParaRPr lang="en-us" sz="110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KoaAADAMwAALhwAABAAAAAmAAAACAAAAP//////////"/>
              </a:ext>
            </a:extLst>
          </p:cNvSpPr>
          <p:nvPr/>
        </p:nvSpPr>
        <p:spPr>
          <a:xfrm>
            <a:off x="731520" y="4334510"/>
            <a:ext cx="7680960" cy="246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);</a:t>
            </a:r>
            <a:endParaRPr lang="en-us" sz="1100" cap="none"/>
          </a:p>
        </p:txBody>
      </p:sp>
      <p:sp>
        <p:nvSpPr>
          <p:cNvPr id="18" name="Text 1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C4cAADAMwAAsx0AABAAAAAmAAAACAAAAP//////////"/>
              </a:ext>
            </a:extLst>
          </p:cNvSpPr>
          <p:nvPr/>
        </p:nvSpPr>
        <p:spPr>
          <a:xfrm>
            <a:off x="731520" y="4580890"/>
            <a:ext cx="7680960" cy="247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}</a:t>
            </a:r>
            <a:endParaRPr lang="en-us" sz="11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SYNTAX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JSX — what exactly is it?</a:t>
            </a:r>
            <a:endParaRPr lang="en-us" sz="30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FAHAABwNQAASAkAABAAAAAmAAAACAAAAP//////////"/>
              </a:ext>
            </a:extLst>
          </p:cNvSpPr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i="1" cap="none">
                <a:solidFill>
                  <a:srgbClr val="495057"/>
                </a:solidFill>
              </a:rPr>
              <a:t>JSX = JavaScript XML — looks like HTML, but is JavaScript code</a:t>
            </a:r>
            <a:endParaRPr lang="en-us" sz="15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7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LAKAACQGwAAABIAABAAAAAmAAAACAAAAP//////////"/>
              </a:ext>
            </a:extLst>
          </p:cNvSpPr>
          <p:nvPr/>
        </p:nvSpPr>
        <p:spPr>
          <a:xfrm>
            <a:off x="457200" y="173736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LAKAAAmAwAAABIAABAAAAAmAAAACAAAAP//////////"/>
              </a:ext>
            </a:extLst>
          </p:cNvSpPr>
          <p:nvPr/>
        </p:nvSpPr>
        <p:spPr>
          <a:xfrm>
            <a:off x="457200" y="1737360"/>
            <a:ext cx="54610" cy="1188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IgLAAAoGgAAyA0AABAAAAAmAAAACAAAAP//////////"/>
              </a:ext>
            </a:extLst>
          </p:cNvSpPr>
          <p:nvPr/>
        </p:nvSpPr>
        <p:spPr>
          <a:xfrm>
            <a:off x="685800" y="187452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212529"/>
                </a:solidFill>
              </a:rPr>
              <a:t>Single root element</a:t>
            </a:r>
            <a:endParaRPr lang="en-us" sz="15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BAOAAAoGgAA4BAAABAAAAAmAAAACAAAAP//////////"/>
              </a:ext>
            </a:extLst>
          </p:cNvSpPr>
          <p:nvPr/>
        </p:nvSpPr>
        <p:spPr>
          <a:xfrm>
            <a:off x="685800" y="2286000"/>
            <a:ext cx="35661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8B95A5"/>
                </a:solidFill>
              </a:rPr>
              <a:t>&lt;View&gt; or &lt;&gt; as the parent container</a:t>
            </a:r>
            <a:endParaRPr lang="en-us" sz="1300" cap="none"/>
          </a:p>
        </p:txBody>
      </p:sp>
      <p:sp>
        <p:nvSpPr>
          <p:cNvPr id="9" name="Shape 7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v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iB0AALAKAABINgAAABIAABAAAAAmAAAACAAAAP//////////"/>
              </a:ext>
            </a:extLst>
          </p:cNvSpPr>
          <p:nvPr/>
        </p:nvSpPr>
        <p:spPr>
          <a:xfrm>
            <a:off x="4800600" y="173736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0y/v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iB0AALAKAADeHQAAABIAABAAAAAmAAAACAAAAP//////////"/>
              </a:ext>
            </a:extLst>
          </p:cNvSpPr>
          <p:nvPr/>
        </p:nvSpPr>
        <p:spPr>
          <a:xfrm>
            <a:off x="4800600" y="1737360"/>
            <a:ext cx="54610" cy="1188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P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4AAIgLAADgNAAAyA0AABAAAAAmAAAACAAAAP//////////"/>
              </a:ext>
            </a:extLst>
          </p:cNvSpPr>
          <p:nvPr/>
        </p:nvSpPr>
        <p:spPr>
          <a:xfrm>
            <a:off x="5029200" y="187452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212529"/>
                </a:solidFill>
              </a:rPr>
              <a:t>Styles = JS objects</a:t>
            </a:r>
            <a:endParaRPr lang="en-us" sz="15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07jv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4AABAOAADgNAAA4BAAABAAAAAmAAAACAAAAP//////////"/>
              </a:ext>
            </a:extLst>
          </p:cNvSpPr>
          <p:nvPr/>
        </p:nvSpPr>
        <p:spPr>
          <a:xfrm>
            <a:off x="5029200" y="2286000"/>
            <a:ext cx="35661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8B95A5"/>
                </a:solidFill>
              </a:rPr>
              <a:t>No className, no CSS strings</a:t>
            </a:r>
            <a:endParaRPr lang="en-us" sz="1300" cap="none"/>
          </a:p>
        </p:txBody>
      </p:sp>
      <p:sp>
        <p:nvSpPr>
          <p:cNvPr id="13" name="Shape 11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f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GgTAACQGwAAuBoAABAAAAAmAAAACAAAAP//////////"/>
              </a:ext>
            </a:extLst>
          </p:cNvSpPr>
          <p:nvPr/>
        </p:nvSpPr>
        <p:spPr>
          <a:xfrm>
            <a:off x="457200" y="315468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GgTAAAmAwAAuBoAABAAAAAmAAAACAAAAP//////////"/>
              </a:ext>
            </a:extLst>
          </p:cNvSpPr>
          <p:nvPr/>
        </p:nvSpPr>
        <p:spPr>
          <a:xfrm>
            <a:off x="457200" y="3154680"/>
            <a:ext cx="54610" cy="1188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15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EAUAAAoGgAAgBYAABAAAAAmAAAACAAAAP//////////"/>
              </a:ext>
            </a:extLst>
          </p:cNvSpPr>
          <p:nvPr/>
        </p:nvSpPr>
        <p:spPr>
          <a:xfrm>
            <a:off x="685800" y="329184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212529"/>
                </a:solidFill>
              </a:rPr>
              <a:t>JS expressions in { }</a:t>
            </a:r>
            <a:endParaRPr lang="en-us" sz="150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MgWAAAoGgAAmBkAABAAAAAmAAAACAAAAP//////////"/>
              </a:ext>
            </a:extLst>
          </p:cNvSpPr>
          <p:nvPr/>
        </p:nvSpPr>
        <p:spPr>
          <a:xfrm>
            <a:off x="685800" y="3703320"/>
            <a:ext cx="35661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8B95A5"/>
                </a:solidFill>
              </a:rPr>
              <a:t>Curly braces = dynamic values</a:t>
            </a:r>
            <a:endParaRPr lang="en-us" sz="1300" cap="none"/>
          </a:p>
        </p:txBody>
      </p:sp>
      <p:sp>
        <p:nvSpPr>
          <p:cNvPr id="17" name="Shape 15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n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iB0AAGgTAABINgAAuBoAABAAAAAmAAAACAAAAP//////////"/>
              </a:ext>
            </a:extLst>
          </p:cNvSpPr>
          <p:nvPr/>
        </p:nvSpPr>
        <p:spPr>
          <a:xfrm>
            <a:off x="4800600" y="315468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iB0AAGgTAADeHQAAuBoAABAAAAAmAAAACAAAAP//////////"/>
              </a:ext>
            </a:extLst>
          </p:cNvSpPr>
          <p:nvPr/>
        </p:nvSpPr>
        <p:spPr>
          <a:xfrm>
            <a:off x="4800600" y="3154680"/>
            <a:ext cx="54610" cy="1188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19" name="Text 1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4AAEAUAADgNAAAgBYAABAAAAAmAAAACAAAAP//////////"/>
              </a:ext>
            </a:extLst>
          </p:cNvSpPr>
          <p:nvPr/>
        </p:nvSpPr>
        <p:spPr>
          <a:xfrm>
            <a:off x="5029200" y="329184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212529"/>
                </a:solidFill>
              </a:rPr>
              <a:t>Text always in &lt;Text&gt;</a:t>
            </a:r>
            <a:endParaRPr lang="en-us" sz="1500" cap="none"/>
          </a:p>
        </p:txBody>
      </p:sp>
      <p:sp>
        <p:nvSpPr>
          <p:cNvPr id="20" name="Text 1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4AAMgWAADgNAAAmBkAABAAAAAmAAAACAAAAP//////////"/>
              </a:ext>
            </a:extLst>
          </p:cNvSpPr>
          <p:nvPr/>
        </p:nvSpPr>
        <p:spPr>
          <a:xfrm>
            <a:off x="5029200" y="3703320"/>
            <a:ext cx="35661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8B95A5"/>
                </a:solidFill>
              </a:rPr>
              <a:t>You cannot put text directly in &lt;View&gt;</a:t>
            </a:r>
            <a:endParaRPr lang="en-us" sz="1300" cap="none"/>
          </a:p>
        </p:txBody>
      </p:sp>
      <p:sp>
        <p:nvSpPr>
          <p:cNvPr id="21" name="Text 1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17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TYPESCRIPT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TypeScript — why and what for?</a:t>
            </a:r>
            <a:endParaRPr lang="en-us" sz="30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FAHAABwNQAASAkAABAAAAAmAAAACAAAAP//////////"/>
              </a:ext>
            </a:extLst>
          </p:cNvSpPr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i="1" cap="none">
                <a:solidFill>
                  <a:srgbClr val="495057"/>
                </a:solidFill>
              </a:rPr>
              <a:t>TypeScript = JavaScript + static types</a:t>
            </a:r>
            <a:endParaRPr lang="en-us" sz="15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LAKAAAAGwAA8BUAABAAAAAmAAAACAAAAP//////////"/>
              </a:ext>
            </a:extLst>
          </p:cNvSpPr>
          <p:nvPr/>
        </p:nvSpPr>
        <p:spPr>
          <a:xfrm>
            <a:off x="457200" y="1737360"/>
            <a:ext cx="3931920" cy="1828800"/>
          </a:xfrm>
          <a:prstGeom prst="rect">
            <a:avLst/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PgKAABQGQAAqAwAABAAAAAmAAAACAAAAP//////////"/>
              </a:ext>
            </a:extLst>
          </p:cNvSpPr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E94560"/>
                </a:solidFill>
              </a:rPr>
              <a:t>❌  JavaScript — runtime error</a:t>
            </a:r>
            <a:endParaRPr lang="en-us" sz="10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DgNAABQGQAAiBQAABAAAAAmAAAACAAAAP//////////"/>
              </a:ext>
            </a:extLst>
          </p:cNvSpPr>
          <p:nvPr/>
        </p:nvSpPr>
        <p:spPr>
          <a:xfrm>
            <a:off x="640080" y="2148840"/>
            <a:ext cx="3474720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</a:t>
            </a:r>
            <a:r>
              <a:rPr lang="en-us" sz="13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name </a:t>
            </a:r>
            <a:r>
              <a:rPr lang="en-us" sz="13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 </a:t>
            </a:r>
            <a:r>
              <a:rPr lang="en-us" sz="13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42</a:t>
            </a:r>
            <a:endParaRPr lang="en-us" sz="13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name.</a:t>
            </a:r>
            <a:r>
              <a:rPr lang="en-us" sz="13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toUpperCase</a:t>
            </a:r>
            <a:r>
              <a:rPr lang="en-us" sz="13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();</a:t>
            </a:r>
            <a:endParaRPr lang="en-us" sz="13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 crash w runtime!</a:t>
            </a:r>
            <a:endParaRPr lang="en-us" sz="130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QB0AALAKAABwNQAA8BUAABAAAAAmAAAACAAAAP//////////"/>
              </a:ext>
            </a:extLst>
          </p:cNvSpPr>
          <p:nvPr/>
        </p:nvSpPr>
        <p:spPr>
          <a:xfrm>
            <a:off x="4754880" y="1737360"/>
            <a:ext cx="3931920" cy="1828800"/>
          </a:xfrm>
          <a:prstGeom prst="rect">
            <a:avLst/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4AAPgKAADAMwAAqAwAABAAAAAmAAAACAAAAP//////////"/>
              </a:ext>
            </a:extLst>
          </p:cNvSpPr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50FA7B"/>
                </a:solidFill>
              </a:rPr>
              <a:t>✅  TypeScript — editor catches it immediately</a:t>
            </a:r>
            <a:endParaRPr lang="en-us" sz="10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4AADgNAADAMwAAiBQAABAAAAAmAAAACAAAAP//////////"/>
              </a:ext>
            </a:extLst>
          </p:cNvSpPr>
          <p:nvPr/>
        </p:nvSpPr>
        <p:spPr>
          <a:xfrm>
            <a:off x="4937760" y="2148840"/>
            <a:ext cx="3474720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</a:t>
            </a:r>
            <a:r>
              <a:rPr lang="en-us" sz="13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name</a:t>
            </a:r>
            <a:r>
              <a:rPr lang="en-us" sz="13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: string </a:t>
            </a:r>
            <a:r>
              <a:rPr lang="en-us" sz="13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 </a:t>
            </a:r>
            <a:r>
              <a:rPr lang="en-us" sz="13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42</a:t>
            </a:r>
            <a:endParaRPr lang="en-us" sz="13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E94560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❌ Type 'number' is not</a:t>
            </a:r>
            <a:endParaRPr lang="en-us" sz="1300" cap="none"/>
          </a:p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E94560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assignable to type 'string'</a:t>
            </a:r>
            <a:endParaRPr lang="en-us" sz="1300" cap="none"/>
          </a:p>
        </p:txBody>
      </p:sp>
      <p:pic>
        <p:nvPicPr>
          <p:cNvPr id="11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a+/9h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ADAABYFwAAyAQAAMA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BAXAADAIQAACBkAABAAAAAmAAAACAAAAP//////////"/>
              </a:ext>
            </a:extLst>
          </p:cNvSpPr>
          <p:nvPr/>
        </p:nvSpPr>
        <p:spPr>
          <a:xfrm>
            <a:off x="914400" y="3749040"/>
            <a:ext cx="45720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Catches errors before runtime</a:t>
            </a:r>
            <a:endParaRPr lang="en-us" sz="1300" cap="none"/>
          </a:p>
        </p:txBody>
      </p:sp>
      <p:pic>
        <p:nvPicPr>
          <p:cNvPr id="13" name="Image 1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h2vv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ADAAC1GQAAyAQAAB0b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78935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wX6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G0ZAADAIQAAZRsAABAAAAAmAAAACAAAAP//////////"/>
              </a:ext>
            </a:extLst>
          </p:cNvSpPr>
          <p:nvPr/>
        </p:nvSpPr>
        <p:spPr>
          <a:xfrm>
            <a:off x="914400" y="4133215"/>
            <a:ext cx="45720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Autocomplete = faster coding</a:t>
            </a:r>
            <a:endParaRPr lang="en-us" sz="1300" cap="none"/>
          </a:p>
        </p:txBody>
      </p:sp>
      <p:pic>
        <p:nvPicPr>
          <p:cNvPr id="15" name="Image 2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ADAAASHAAAyAQAAHo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63110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QX7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MobAADAIQAAwh0AABAAAAAmAAAACAAAAP//////////"/>
              </a:ext>
            </a:extLst>
          </p:cNvSpPr>
          <p:nvPr/>
        </p:nvSpPr>
        <p:spPr>
          <a:xfrm>
            <a:off x="914400" y="4517390"/>
            <a:ext cx="45720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.tsx files instead of .jsx</a:t>
            </a:r>
            <a:endParaRPr lang="en-us" sz="1300" cap="none"/>
          </a:p>
        </p:txBody>
      </p:sp>
      <p:sp>
        <p:nvSpPr>
          <p:cNvPr id="17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18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sBMAAIAEAACQJAAAYBUAABAAAAAmAAAACAAAAP//////////"/>
              </a:ext>
            </a:extLst>
          </p:cNvSpPr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AXAABwCAAAoCAAAHAR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371600"/>
            <a:ext cx="1463040" cy="1463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r7/2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NAUAABwNQAAoBcAABAAAAAmAAAACAAAAP//////////"/>
              </a:ext>
            </a:extLst>
          </p:cNvSpPr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b="1" cap="none" spc="80">
                <a:solidFill>
                  <a:srgbClr val="61DAFB"/>
                </a:solidFill>
              </a:rPr>
              <a:t>  LIVE CODING</a:t>
            </a:r>
            <a:endParaRPr lang="en-us" sz="1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BAXAABwNQAAcBoAABAAAAAmAAAACAAAAP//////////"/>
              </a:ext>
            </a:extLst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800" b="1" cap="none">
                <a:solidFill>
                  <a:srgbClr val="FFFFFF"/>
                </a:solidFill>
              </a:rPr>
              <a:t>Modifying the home screen</a:t>
            </a:r>
            <a:endParaRPr lang="en-us" sz="28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Ha+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gaAABwNQAAaBwAABAAAAAmAAAACAAAAP//////////"/>
              </a:ext>
            </a:extLst>
          </p:cNvSpPr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400" cap="none">
                <a:solidFill>
                  <a:srgbClr val="8B95A5"/>
                </a:solidFill>
              </a:rPr>
              <a:t>app/(tabs)/index.tsx → TravelSnap + hot reload in action</a:t>
            </a:r>
            <a:endParaRPr lang="en-us" sz="14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19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Ha+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DEVELOPER EXPERIENCE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9h2v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Hot Reload — magic in action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RV8hE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HAIAAAAGwAAMBgAABAAAAAmAAAACAAAAP//////////"/>
              </a:ext>
            </a:extLst>
          </p:cNvSpPr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0AIAAHAIAAAAGwAAxggAABAAAAAmAAAACAAAAP//////////"/>
              </a:ext>
            </a:extLst>
          </p:cNvSpPr>
          <p:nvPr/>
        </p:nvSpPr>
        <p:spPr>
          <a:xfrm>
            <a:off x="457200" y="1371600"/>
            <a:ext cx="3931920" cy="5461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JAJAACgFwAAiAsAABAAAAAmAAAACAAAAP//////////"/>
              </a:ext>
            </a:extLst>
          </p:cNvSpPr>
          <p:nvPr/>
        </p:nvSpPr>
        <p:spPr>
          <a:xfrm>
            <a:off x="640080" y="155448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E94560"/>
                </a:solidFill>
              </a:rPr>
              <a:t>Native Android build</a:t>
            </a:r>
            <a:endParaRPr lang="en-us" sz="14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GAMAABQGQAAABIAABAAAAAmAAAACAAAAP//////////"/>
              </a:ext>
            </a:extLst>
          </p:cNvSpPr>
          <p:nvPr/>
        </p:nvSpPr>
        <p:spPr>
          <a:xfrm>
            <a:off x="640080" y="2011680"/>
            <a:ext cx="347472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6000" b="1" cap="none">
                <a:solidFill>
                  <a:srgbClr val="E94560"/>
                </a:solidFill>
              </a:rPr>
              <a:t>30–60</a:t>
            </a:r>
            <a:endParaRPr lang="en-us" sz="60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r7/2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HARAABQGQAAaBMAABAAAAAmAAAACAAAAP//////////"/>
              </a:ext>
            </a:extLst>
          </p:cNvSpPr>
          <p:nvPr/>
        </p:nvSpPr>
        <p:spPr>
          <a:xfrm>
            <a:off x="640080" y="2834640"/>
            <a:ext cx="34747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cap="none">
                <a:solidFill>
                  <a:srgbClr val="8B95A5"/>
                </a:solidFill>
              </a:rPr>
              <a:t>seconds</a:t>
            </a:r>
            <a:endParaRPr lang="en-us" sz="1600" cap="none"/>
          </a:p>
        </p:txBody>
      </p:sp>
      <p:sp>
        <p:nvSpPr>
          <p:cNvPr id="9" name="Shape 7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9h2vs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QB0AAHAIAABwNQAAMBgAABAAAAAmAAAACAAAAP//////////"/>
              </a:ext>
            </a:extLst>
          </p:cNvSpPr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G55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Yd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55LAP///wEAAAAAAAAAAAAAAAAAAAAAAAAAAAAAAAAAAAAAAAAAAAAAAAB/f38A5+bmA8zMzADAwP8Af39/AAAAAAAAAAAAAAAAAAAAAAAAAAAAIQAAABgAAAAUAAAAQB0AAHAIAABwNQAAxggAABAAAAAmAAAACAAAAP//////////"/>
              </a:ext>
            </a:extLst>
          </p:cNvSpPr>
          <p:nvPr/>
        </p:nvSpPr>
        <p:spPr>
          <a:xfrm>
            <a:off x="4754880" y="1371600"/>
            <a:ext cx="3931920" cy="5461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4AAJAJAAAQMgAAiAsAABAAAAAmAAAACAAAAP//////////"/>
              </a:ext>
            </a:extLst>
          </p:cNvSpPr>
          <p:nvPr/>
        </p:nvSpPr>
        <p:spPr>
          <a:xfrm>
            <a:off x="4937760" y="155448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1B9E4B"/>
                </a:solidFill>
              </a:rPr>
              <a:t>Hot Reload (Expo)</a:t>
            </a:r>
            <a:endParaRPr lang="en-us" sz="14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4AAGAMAADAMwAAABIAABAAAAAmAAAACAAAAP//////////"/>
              </a:ext>
            </a:extLst>
          </p:cNvSpPr>
          <p:nvPr/>
        </p:nvSpPr>
        <p:spPr>
          <a:xfrm>
            <a:off x="4937760" y="2011680"/>
            <a:ext cx="347472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6000" b="1" cap="none">
                <a:solidFill>
                  <a:srgbClr val="1B9E4B"/>
                </a:solidFill>
              </a:rPr>
              <a:t>&lt; 1</a:t>
            </a:r>
            <a:endParaRPr lang="en-us" sz="60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Ha+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4AAHARAADAMwAAaBMAABAAAAAmAAAACAAAAP//////////"/>
              </a:ext>
            </a:extLst>
          </p:cNvSpPr>
          <p:nvPr/>
        </p:nvSpPr>
        <p:spPr>
          <a:xfrm>
            <a:off x="4937760" y="2834640"/>
            <a:ext cx="34747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cap="none">
                <a:solidFill>
                  <a:srgbClr val="8B95A5"/>
                </a:solidFill>
              </a:rPr>
              <a:t>seconds</a:t>
            </a:r>
            <a:endParaRPr lang="en-us" sz="16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9h2v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AZAABwNQAA2BsAABAAAAAmAAAACAAAAP//////////"/>
              </a:ext>
            </a:extLst>
          </p:cNvSpPr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i="1" cap="none">
                <a:solidFill>
                  <a:srgbClr val="8B95A5"/>
                </a:solidFill>
              </a:rPr>
              <a:t>Not working? → press r in the terminal or shake your phone</a:t>
            </a:r>
            <a:endParaRPr lang="en-us" sz="120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20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B51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21 / 25</a:t>
            </a:r>
            <a:endParaRPr lang="en-us" sz="9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gj/+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ABAACwEwAAQwMAABAAAAAmAAAACAAAAP//////////"/>
              </a:ext>
            </a:extLst>
          </p:cNvSpPr>
          <p:nvPr/>
        </p:nvSpPr>
        <p:spPr>
          <a:xfrm>
            <a:off x="45720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KOD</a:t>
            </a:r>
            <a:endParaRPr lang="en-us" sz="8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EAA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MAYAABAAAAAmAAAACAAAAP//////////"/>
              </a:ext>
            </a:extLst>
          </p:cNvSpPr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2600" b="1" cap="none">
                <a:solidFill>
                  <a:srgbClr val="FFFFFF"/>
                </a:solidFill>
              </a:rPr>
              <a:t>View + Text + StyleSheet — full screen</a:t>
            </a:r>
            <a:endParaRPr lang="en-us" sz="26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QAAAA0AAAAAkAAAAEgAAACQAAAASAAAAAAAAAAAAAAAAAAAAAEAAABQAAAAPZtVn6utqD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sAEAAMAGAACQNgAAGB4AABAAAAAmAAAACAAAAP//////////"/>
              </a:ext>
            </a:extLst>
          </p:cNvSpPr>
          <p:nvPr/>
        </p:nvSpPr>
        <p:spPr>
          <a:xfrm>
            <a:off x="274320" y="1097280"/>
            <a:ext cx="8595360" cy="3794760"/>
          </a:xfrm>
          <a:prstGeom prst="roundRect">
            <a:avLst>
              <a:gd name="adj" fmla="val 2410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ur/9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JgHAADgNAAAqggAABAAAAAmAAAACAAAAP//////////"/>
              </a:ext>
            </a:extLst>
          </p:cNvSpPr>
          <p:nvPr/>
        </p:nvSpPr>
        <p:spPr>
          <a:xfrm>
            <a:off x="548640" y="1234440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import { View, Text, StyleSheet } from 'react-native';</a:t>
            </a:r>
            <a:endParaRPr lang="en-us" sz="95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NUEV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LsJAADgNAAAzQoAABAAAAAmAAAACAAAAP//////////"/>
              </a:ext>
            </a:extLst>
          </p:cNvSpPr>
          <p:nvPr/>
        </p:nvSpPr>
        <p:spPr>
          <a:xfrm>
            <a:off x="548640" y="1581785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export default function HomeScreen() {</a:t>
            </a:r>
            <a:endParaRPr lang="en-us" sz="95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FEA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M0KAADgNAAA3gsAABAAAAAmAAAACAAAAP//////////"/>
              </a:ext>
            </a:extLst>
          </p:cNvSpPr>
          <p:nvPr/>
        </p:nvSpPr>
        <p:spPr>
          <a:xfrm>
            <a:off x="548640" y="1755775"/>
            <a:ext cx="8046720" cy="1733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return (</a:t>
            </a:r>
            <a:endParaRPr lang="en-us" sz="95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N4LAADgNAAA8AwAABAAAAAmAAAACAAAAP//////////"/>
              </a:ext>
            </a:extLst>
          </p:cNvSpPr>
          <p:nvPr/>
        </p:nvSpPr>
        <p:spPr>
          <a:xfrm>
            <a:off x="548640" y="1929130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&lt;View style={styles.container}&gt;</a:t>
            </a:r>
            <a:endParaRPr lang="en-us" sz="95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tM//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PAMAADgNAAAAg4AABAAAAAmAAAACAAAAP//////////"/>
              </a:ext>
            </a:extLst>
          </p:cNvSpPr>
          <p:nvPr/>
        </p:nvSpPr>
        <p:spPr>
          <a:xfrm>
            <a:off x="548640" y="2103120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&lt;Text style={styles.title}&gt;TravelSnap&lt;/Text&gt;</a:t>
            </a:r>
            <a:endParaRPr lang="en-us" sz="95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YDV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AIOAADgNAAAEw8AABAAAAAmAAAACAAAAP//////////"/>
              </a:ext>
            </a:extLst>
          </p:cNvSpPr>
          <p:nvPr/>
        </p:nvSpPr>
        <p:spPr>
          <a:xfrm>
            <a:off x="548640" y="2277110"/>
            <a:ext cx="8046720" cy="1733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&lt;Text style={styles.subtitle}&gt;</a:t>
            </a:r>
            <a:endParaRPr lang="en-us" sz="95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sAW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BMPAADgNAAAJRAAABAAAAAmAAAACAAAAP//////////"/>
              </a:ext>
            </a:extLst>
          </p:cNvSpPr>
          <p:nvPr/>
        </p:nvSpPr>
        <p:spPr>
          <a:xfrm>
            <a:off x="548640" y="2450465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  Your travel diary</a:t>
            </a:r>
            <a:endParaRPr lang="en-us" sz="95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wqbE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UQAADgNAAANhEAABAAAAAmAAAACAAAAP//////////"/>
              </a:ext>
            </a:extLst>
          </p:cNvSpPr>
          <p:nvPr/>
        </p:nvSpPr>
        <p:spPr>
          <a:xfrm>
            <a:off x="548640" y="2624455"/>
            <a:ext cx="8046720" cy="1733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&lt;/Text&gt;</a:t>
            </a:r>
            <a:endParaRPr lang="en-us" sz="95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0Y//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DYRAADgNAAASBIAABAAAAAmAAAACAAAAP//////////"/>
              </a:ext>
            </a:extLst>
          </p:cNvSpPr>
          <p:nvPr/>
        </p:nvSpPr>
        <p:spPr>
          <a:xfrm>
            <a:off x="548640" y="2797810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&lt;Text style={styles.author}&gt;by John Smith&lt;/Text&gt;</a:t>
            </a:r>
            <a:endParaRPr lang="en-us" sz="95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1a/9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EgSAADgNAAAWhMAABAAAAAmAAAACAAAAP//////////"/>
              </a:ext>
            </a:extLst>
          </p:cNvSpPr>
          <p:nvPr/>
        </p:nvSpPr>
        <p:spPr>
          <a:xfrm>
            <a:off x="548640" y="2971800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&lt;/View&gt;</a:t>
            </a:r>
            <a:endParaRPr lang="en-us" sz="95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HCIV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oTAADgNAAAaxQAABAAAAAmAAAACAAAAP//////////"/>
              </a:ext>
            </a:extLst>
          </p:cNvSpPr>
          <p:nvPr/>
        </p:nvSpPr>
        <p:spPr>
          <a:xfrm>
            <a:off x="548640" y="3145790"/>
            <a:ext cx="8046720" cy="1733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);</a:t>
            </a:r>
            <a:endParaRPr lang="en-us" sz="95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X//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GsUAADgNAAAfRUAABAAAAAmAAAACAAAAP//////////"/>
              </a:ext>
            </a:extLst>
          </p:cNvSpPr>
          <p:nvPr/>
        </p:nvSpPr>
        <p:spPr>
          <a:xfrm>
            <a:off x="548640" y="3319145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}</a:t>
            </a:r>
            <a:endParaRPr lang="en-us" sz="950" cap="none"/>
          </a:p>
        </p:txBody>
      </p:sp>
      <p:sp>
        <p:nvSpPr>
          <p:cNvPr id="18" name="Text 16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Kk//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I4WAADgNAAAoBcAABAAAAAmAAAACAAAAP//////////"/>
              </a:ext>
            </a:extLst>
          </p:cNvSpPr>
          <p:nvPr/>
        </p:nvSpPr>
        <p:spPr>
          <a:xfrm>
            <a:off x="548640" y="3666490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styles = StyleSheet.create({</a:t>
            </a:r>
            <a:endParaRPr lang="en-us" sz="950" cap="none"/>
          </a:p>
        </p:txBody>
      </p:sp>
      <p:sp>
        <p:nvSpPr>
          <p:cNvPr id="19" name="Text 1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W0Rb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KAXAADgNAAAshgAABAAAAAmAAAACAAAAP//////////"/>
              </a:ext>
            </a:extLst>
          </p:cNvSpPr>
          <p:nvPr/>
        </p:nvSpPr>
        <p:spPr>
          <a:xfrm>
            <a:off x="548640" y="3840480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container: { flex: 1, justifyContent: 'center',</a:t>
            </a:r>
            <a:endParaRPr lang="en-us" sz="950" cap="none"/>
          </a:p>
        </p:txBody>
      </p:sp>
      <p:sp>
        <p:nvSpPr>
          <p:cNvPr id="20" name="Text 1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0W//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LIYAADgNAAAwxkAABAAAAAmAAAACAAAAP//////////"/>
              </a:ext>
            </a:extLst>
          </p:cNvSpPr>
          <p:nvPr/>
        </p:nvSpPr>
        <p:spPr>
          <a:xfrm>
            <a:off x="548640" y="4014470"/>
            <a:ext cx="8046720" cy="1733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           alignItems: 'center' },</a:t>
            </a:r>
            <a:endParaRPr lang="en-us" sz="950" cap="none"/>
          </a:p>
        </p:txBody>
      </p:sp>
      <p:sp>
        <p:nvSpPr>
          <p:cNvPr id="21" name="Text 1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vL/+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MMZAADgNAAA1RoAABAAAAAmAAAACAAAAP//////////"/>
              </a:ext>
            </a:extLst>
          </p:cNvSpPr>
          <p:nvPr/>
        </p:nvSpPr>
        <p:spPr>
          <a:xfrm>
            <a:off x="548640" y="4187825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title:     { fontSize: 32, fontWeight: 'bold' },</a:t>
            </a:r>
            <a:endParaRPr lang="en-us" sz="950" cap="none"/>
          </a:p>
        </p:txBody>
      </p:sp>
      <p:sp>
        <p:nvSpPr>
          <p:cNvPr id="22" name="Text 2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ME/+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NUaAADgNAAA5hsAABAAAAAmAAAACAAAAP//////////"/>
              </a:ext>
            </a:extLst>
          </p:cNvSpPr>
          <p:nvPr/>
        </p:nvSpPr>
        <p:spPr>
          <a:xfrm>
            <a:off x="548640" y="4361815"/>
            <a:ext cx="8046720" cy="1733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subtitle:  { fontSize: 18, color: 'gray', marginTop: 8 },</a:t>
            </a:r>
            <a:endParaRPr lang="en-us" sz="950" cap="none"/>
          </a:p>
        </p:txBody>
      </p:sp>
      <p:sp>
        <p:nvSpPr>
          <p:cNvPr id="23" name="Text 2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rc/+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OYbAADgNAAA+BwAABAAAAAmAAAACAAAAP//////////"/>
              </a:ext>
            </a:extLst>
          </p:cNvSpPr>
          <p:nvPr/>
        </p:nvSpPr>
        <p:spPr>
          <a:xfrm>
            <a:off x="548640" y="4535170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author:    { fontSize: 14, color: 'silver', marginTop: 24 },</a:t>
            </a:r>
            <a:endParaRPr lang="en-us" sz="950" cap="none"/>
          </a:p>
        </p:txBody>
      </p:sp>
      <p:sp>
        <p:nvSpPr>
          <p:cNvPr id="24" name="Text 2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WCB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PgcAADgNAAACh4AABAAAAAmAAAACAAAAP//////////"/>
              </a:ext>
            </a:extLst>
          </p:cNvSpPr>
          <p:nvPr/>
        </p:nvSpPr>
        <p:spPr>
          <a:xfrm>
            <a:off x="548640" y="4709160"/>
            <a:ext cx="8046720" cy="173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});</a:t>
            </a:r>
            <a:endParaRPr lang="en-us" sz="95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SUMMARY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RhCr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What do we know after Lecture 1?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M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0AIAAOAHAABwNQAAsAoAABAAAAAmAAAACAAAAP//////////"/>
              </a:ext>
            </a:extLst>
          </p:cNvSpPr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BwCAAAWAUAACA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j0CP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OAHAAB4MwAAsAoAABAAAAAmAAAACAAAAP//////////"/>
              </a:ext>
            </a:extLst>
          </p:cNvSpPr>
          <p:nvPr/>
        </p:nvSpPr>
        <p:spPr>
          <a:xfrm>
            <a:off x="1051560" y="128016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React Native = JS/TS → native mobile components</a:t>
            </a:r>
            <a:endParaRPr lang="en-us" sz="1400" cap="none"/>
          </a:p>
        </p:txBody>
      </p:sp>
      <p:sp>
        <p:nvSpPr>
          <p:cNvPr id="7" name="Shape 4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+Pn6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Pn6AP///wEAAAAAAAAAAAAAAAAAAAAAAAAAAAAAAAAAAAAAAAAAAAAAAAB/f38A5+bmA8zMzADAwP8Af39/AAAAAAAAAAAAAAAAAAAAAAAAAAAAIQAAABgAAAAUAAAA0AIAAIgLAABwNQAAWA4AABAAAAAmAAAACAAAAP//////////"/>
              </a:ext>
            </a:extLst>
          </p:cNvSpPr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</p:sp>
      <p:pic>
        <p:nvPicPr>
          <p:cNvPr id="8" name="Image 1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AYDAAAWAUAAMg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jOC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IgLAAB4MwAAWA4AABAAAAAmAAAACAAAAP//////////"/>
              </a:ext>
            </a:extLst>
          </p:cNvSpPr>
          <p:nvPr/>
        </p:nvSpPr>
        <p:spPr>
          <a:xfrm>
            <a:off x="1051560" y="187452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Expo = framework that simplifies RN development</a:t>
            </a:r>
            <a:endParaRPr lang="en-us" sz="1400" cap="none"/>
          </a:p>
        </p:txBody>
      </p:sp>
      <p:sp>
        <p:nvSpPr>
          <p:cNvPr id="10" name="Shape 6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MG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0AIAADAPAABwNQAAABIAABAAAAAmAAAACAAAAP//////////"/>
              </a:ext>
            </a:extLst>
          </p:cNvSpPr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</p:sp>
      <p:pic>
        <p:nvPicPr>
          <p:cNvPr id="11" name="Image 2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DADwAAWAUAAHAR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RnH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DAPAAB4MwAAABIAABAAAAAmAAAACAAAAP//////////"/>
              </a:ext>
            </a:extLst>
          </p:cNvSpPr>
          <p:nvPr/>
        </p:nvSpPr>
        <p:spPr>
          <a:xfrm>
            <a:off x="1051560" y="246888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npx create-expo-app → project ready in a minute</a:t>
            </a:r>
            <a:endParaRPr lang="en-us" sz="1400" cap="none"/>
          </a:p>
        </p:txBody>
      </p:sp>
      <p:sp>
        <p:nvSpPr>
          <p:cNvPr id="13" name="Shape 8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+Pn6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Pn6AP///wEAAAAAAAAAAAAAAAAAAAAAAAAAAAAAAAAAAAAAAAAAAAAAAAB/f38A5+bmA8zMzADAwP8Af39/AAAAAAAAAAAAAAAAAAAAAAAAAAAAIQAAABgAAAAUAAAA0AIAANgSAABwNQAAqBUAABAAAAAmAAAACAAAAP//////////"/>
              </a:ext>
            </a:extLst>
          </p:cNvSpPr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</p:sp>
      <p:pic>
        <p:nvPicPr>
          <p:cNvPr id="14" name="Image 3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BoEwAAWAUAABgV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5468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NgSAAB4MwAAqBUAABAAAAAmAAAACAAAAP//////////"/>
              </a:ext>
            </a:extLst>
          </p:cNvSpPr>
          <p:nvPr/>
        </p:nvSpPr>
        <p:spPr>
          <a:xfrm>
            <a:off x="1051560" y="306324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Expo Go → testing on a real phone</a:t>
            </a:r>
            <a:endParaRPr lang="en-us" sz="1400" cap="none"/>
          </a:p>
        </p:txBody>
      </p:sp>
      <p:sp>
        <p:nvSpPr>
          <p:cNvPr id="16" name="Shape 10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0AIAAIAWAABwNQAAUBkAABAAAAAmAAAACAAAAP//////////"/>
              </a:ext>
            </a:extLst>
          </p:cNvSpPr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</p:sp>
      <p:pic>
        <p:nvPicPr>
          <p:cNvPr id="17" name="Image 4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AQFwAAWAUAAMA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4904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1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Q1F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IAWAAB4MwAAUBkAABAAAAAmAAAACAAAAP//////////"/>
              </a:ext>
            </a:extLst>
          </p:cNvSpPr>
          <p:nvPr/>
        </p:nvSpPr>
        <p:spPr>
          <a:xfrm>
            <a:off x="1051560" y="365760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Core components: View, Text, Image, Pressable</a:t>
            </a:r>
            <a:endParaRPr lang="en-us" sz="1400" cap="none"/>
          </a:p>
        </p:txBody>
      </p:sp>
      <p:sp>
        <p:nvSpPr>
          <p:cNvPr id="19" name="Shape 1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+Pn6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xnI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Pn6AP///wEAAAAAAAAAAAAAAAAAAAAAAAAAAAAAAAAAAAAAAAAAAAAAAAB/f38A5+bmA8zMzADAwP8Af39/AAAAAAAAAAAAAAAAAAAAAAAAAAAAIQAAABgAAAAUAAAA0AIAACgaAABwNQAA+BwAABAAAAAmAAAACAAAAP//////////"/>
              </a:ext>
            </a:extLst>
          </p:cNvSpPr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</p:sp>
      <p:pic>
        <p:nvPicPr>
          <p:cNvPr id="20" name="Image 5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DAAC4GgAAWAUAAGgc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4340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" name="Text 1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yUK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CgaAAB4MwAA+BwAABAAAAAmAAAACAAAAP//////////"/>
              </a:ext>
            </a:extLst>
          </p:cNvSpPr>
          <p:nvPr/>
        </p:nvSpPr>
        <p:spPr>
          <a:xfrm>
            <a:off x="1051560" y="425196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Hot Reload = instant feedback</a:t>
            </a:r>
            <a:endParaRPr lang="en-us" sz="1400" cap="none"/>
          </a:p>
        </p:txBody>
      </p:sp>
      <p:sp>
        <p:nvSpPr>
          <p:cNvPr id="22" name="Text 1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22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Fao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dwAA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sBMAANACAACQJAAAsBMAABAAAAAmAAAACAAAAP//////////"/>
              </a:ext>
            </a:extLst>
          </p:cNvSpPr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UFao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gXAAB4BgAA6CAAAAgQ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51560"/>
            <a:ext cx="1554480" cy="1554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ZMAA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ATAABwNQAAoBcAABAAAAAmAAAACAAAAP//////////"/>
              </a:ext>
            </a:extLst>
          </p:cNvSpPr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3600" b="1" cap="none">
                <a:solidFill>
                  <a:srgbClr val="FFFFFF"/>
                </a:solidFill>
              </a:rPr>
              <a:t>Questions?</a:t>
            </a:r>
            <a:endParaRPr lang="en-us" sz="36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SgL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KAXAABwNQAA4BkAABAAAAAmAAAACAAAAP//////////"/>
              </a:ext>
            </a:extLst>
          </p:cNvSpPr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400" cap="none">
                <a:solidFill>
                  <a:srgbClr val="8B95A5"/>
                </a:solidFill>
              </a:rPr>
              <a:t>樂 Doubts? Something not working? Now is the time!</a:t>
            </a:r>
            <a:endParaRPr lang="en-us" sz="14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23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AoEQAAQwMAABAAAAAmAAAACAAAAP//////////"/>
              </a:ext>
            </a:extLst>
          </p:cNvSpPr>
          <p:nvPr/>
        </p:nvSpPr>
        <p:spPr>
          <a:xfrm>
            <a:off x="502920" y="274320"/>
            <a:ext cx="22860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TASK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OwA7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  Practical Task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F8AY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JgHAADAIQAASBsAABAAAAAmAAAACAAAAP//////////"/>
              </a:ext>
            </a:extLst>
          </p:cNvSpPr>
          <p:nvPr/>
        </p:nvSpPr>
        <p:spPr>
          <a:xfrm>
            <a:off x="457200" y="123444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FiE+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LEK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iE+AP///wEAAAAAAAAAAAAAAAAAAAAAAAAAAAAAAAAAAAAAAAAAAAAAAAB/f38A5+bmA8zMzADAwP8Af39/AAAAAAAAAAAAAAAAAAAAAAAAAAAAIQAAABgAAAAUAAAA0AIAAJgHAADAIQAA7gcAABAAAAAmAAAACAAAAP//////////"/>
              </a:ext>
            </a:extLst>
          </p:cNvSpPr>
          <p:nvPr/>
        </p:nvSpPr>
        <p:spPr>
          <a:xfrm>
            <a:off x="457200" y="1234440"/>
            <a:ext cx="5029200" cy="5461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HAIAABwGgAAsAoAABAAAAAmAAAACAAAAP//////////"/>
              </a:ext>
            </a:extLst>
          </p:cNvSpPr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16213E"/>
                </a:solidFill>
              </a:rPr>
              <a:t>Core Task</a:t>
            </a:r>
            <a:endParaRPr lang="en-us" sz="16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PgKAAAQIAAAuBoAAAAAAAAmAAAACAAAAP//////////"/>
              </a:ext>
            </a:extLst>
          </p:cNvSpPr>
          <p:nvPr/>
        </p:nvSpPr>
        <p:spPr>
          <a:xfrm>
            <a:off x="640080" y="1783080"/>
            <a:ext cx="4572000" cy="2560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212529"/>
                </a:solidFill>
              </a:rPr>
              <a:t>1. Create the TravelSnap project</a:t>
            </a:r>
            <a:endParaRPr lang="en-us" sz="1300" cap="none"/>
          </a:p>
          <a:p>
            <a:pPr marL="0" indent="0">
              <a:buNone/>
            </a:pPr>
            <a:r>
              <a:rPr lang="en-us" sz="1100" i="1" cap="none">
                <a:solidFill>
                  <a:srgbClr val="8B95A5"/>
                </a:solidFill>
              </a:rPr>
              <a:t>    npx create-expo-app TravelSnap</a:t>
            </a:r>
            <a:endParaRPr lang="en-us" sz="1300" cap="none"/>
          </a:p>
          <a:p>
            <a:pPr marL="0" indent="0">
              <a:buNone/>
            </a:pPr>
            <a:endParaRPr lang="en-us" sz="1300" cap="none"/>
          </a:p>
          <a:p>
            <a:pPr marL="0" indent="0">
              <a:buNone/>
            </a:pPr>
            <a:r>
              <a:rPr lang="en-us" sz="1300" cap="none">
                <a:solidFill>
                  <a:srgbClr val="212529"/>
                </a:solidFill>
              </a:rPr>
              <a:t>2. Modify app/(tabs)/index.tsx:</a:t>
            </a:r>
            <a:endParaRPr lang="en-us" sz="1300" cap="none"/>
          </a:p>
          <a:p>
            <a:pPr marL="0" indent="0">
              <a:buNone/>
            </a:pPr>
            <a:r>
              <a:rPr lang="en-us" sz="1200" cap="none">
                <a:solidFill>
                  <a:srgbClr val="495057"/>
                </a:solidFill>
              </a:rPr>
              <a:t>    ▸ Title: TravelSnap</a:t>
            </a:r>
            <a:endParaRPr lang="en-us" sz="1300" cap="none"/>
          </a:p>
          <a:p>
            <a:pPr marL="0" indent="0">
              <a:buNone/>
            </a:pPr>
            <a:r>
              <a:rPr lang="en-us" sz="1200" cap="none">
                <a:solidFill>
                  <a:srgbClr val="495057"/>
                </a:solidFill>
              </a:rPr>
              <a:t>    ▸ Subtitle: Your travel diary</a:t>
            </a:r>
            <a:endParaRPr lang="en-us" sz="1300" cap="none"/>
          </a:p>
          <a:p>
            <a:pPr marL="0" indent="0">
              <a:buNone/>
            </a:pPr>
            <a:r>
              <a:rPr lang="en-us" sz="1200" cap="none">
                <a:solidFill>
                  <a:srgbClr val="495057"/>
                </a:solidFill>
              </a:rPr>
              <a:t>    ▸ Your name</a:t>
            </a:r>
            <a:endParaRPr lang="en-us" sz="1300" cap="none"/>
          </a:p>
          <a:p>
            <a:pPr marL="0" indent="0">
              <a:buNone/>
            </a:pPr>
            <a:endParaRPr lang="en-us" sz="1300" cap="none"/>
          </a:p>
          <a:p>
            <a:pPr marL="0" indent="0">
              <a:buNone/>
            </a:pPr>
            <a:r>
              <a:rPr lang="en-us" sz="1300" cap="none">
                <a:solidFill>
                  <a:srgbClr val="212529"/>
                </a:solidFill>
              </a:rPr>
              <a:t>3. Use View and Text with styles</a:t>
            </a:r>
            <a:endParaRPr lang="en-us" sz="1300" cap="none"/>
          </a:p>
          <a:p>
            <a:pPr marL="0" indent="0">
              <a:buNone/>
            </a:pPr>
            <a:endParaRPr lang="en-us" sz="1300" cap="none"/>
          </a:p>
          <a:p>
            <a:pPr marL="0" indent="0">
              <a:buNone/>
            </a:pPr>
            <a:r>
              <a:rPr lang="en-us" sz="1300" cap="none">
                <a:solidFill>
                  <a:srgbClr val="212529"/>
                </a:solidFill>
              </a:rPr>
              <a:t>4. Run in Expo Go on your phone</a:t>
            </a:r>
            <a:endParaRPr lang="en-us" sz="130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/Y/6Y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cCMAAJgHAACQNgAASBsAABAAAAAmAAAACAAAAP//////////"/>
              </a:ext>
            </a:extLst>
          </p:cNvSpPr>
          <p:nvPr/>
        </p:nvSpPr>
        <p:spPr>
          <a:xfrm>
            <a:off x="5760720" y="1234440"/>
            <a:ext cx="31089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cCMAAJgHAACQNgAA7gcAABAAAAAmAAAACAAAAP//////////"/>
              </a:ext>
            </a:extLst>
          </p:cNvSpPr>
          <p:nvPr/>
        </p:nvSpPr>
        <p:spPr>
          <a:xfrm>
            <a:off x="5760720" y="1234440"/>
            <a:ext cx="3108960" cy="5461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10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+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QAAHAIAABwNQAAsAoAABAAAAAmAAAACAAAAP//////////"/>
              </a:ext>
            </a:extLst>
          </p:cNvSpPr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E94560"/>
                </a:solidFill>
              </a:rPr>
              <a:t>Extension ★</a:t>
            </a:r>
            <a:endParaRPr lang="en-us" sz="160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lMSV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QAAEALAABwNQAAUBkAABAAAAAmAAAACAAAAP//////////"/>
              </a:ext>
            </a:extLst>
          </p:cNvSpPr>
          <p:nvPr/>
        </p:nvSpPr>
        <p:spPr>
          <a:xfrm>
            <a:off x="5943600" y="1828800"/>
            <a:ext cx="2743200" cy="228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cap="none">
                <a:solidFill>
                  <a:srgbClr val="212529"/>
                </a:solidFill>
              </a:rPr>
              <a:t>Add an Image with a travel icon:</a:t>
            </a:r>
            <a:endParaRPr lang="en-us" sz="1300" cap="none"/>
          </a:p>
          <a:p>
            <a:pPr marL="0" indent="0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From URL or local file</a:t>
            </a:r>
            <a:endParaRPr lang="en-us" sz="1300" cap="none"/>
          </a:p>
          <a:p>
            <a:pPr marL="0" indent="0">
              <a:lnSpc>
                <a:spcPct val="130000"/>
              </a:lnSpc>
              <a:buNone/>
            </a:pPr>
            <a:endParaRPr lang="en-us" sz="1300" cap="none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cap="none">
                <a:solidFill>
                  <a:srgbClr val="212529"/>
                </a:solidFill>
              </a:rPr>
              <a:t>Add a Pressable:</a:t>
            </a:r>
            <a:endParaRPr lang="en-us" sz="1300" cap="none"/>
          </a:p>
          <a:p>
            <a:pPr marL="0" indent="0">
              <a:lnSpc>
                <a:spcPct val="13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On press shows an Alert with a greeting</a:t>
            </a:r>
            <a:endParaRPr lang="en-us" sz="13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DDEM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24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25 / 25</a:t>
            </a:r>
            <a:endParaRPr lang="en-us" sz="9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+oT6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ABAACwEwAAQwMAABAAAAAmAAAACAAAAP//////////"/>
              </a:ext>
            </a:extLst>
          </p:cNvSpPr>
          <p:nvPr/>
        </p:nvSpPr>
        <p:spPr>
          <a:xfrm>
            <a:off x="45720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HINTS</a:t>
            </a:r>
            <a:endParaRPr lang="en-us" sz="8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Fao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d2RM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MAYAABAAAAAmAAAACAAAAP//////////"/>
              </a:ext>
            </a:extLst>
          </p:cNvSpPr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2600" b="1" cap="none">
                <a:solidFill>
                  <a:srgbClr val="FFFFFF"/>
                </a:solidFill>
              </a:rPr>
              <a:t>Extension ★ — code snippets</a:t>
            </a:r>
            <a:endParaRPr lang="en-us" sz="26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FaoaRMAAAAlAAAAZQAAAA0AAAAAkAAAAEgAAACQAAAASAAAAAAAAAAAAAAAAAAAAAEAAABQAAAAKAr0iTxJwj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4YXh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FAHAABwNQAAMA8AABAAAAAmAAAACAAAAP//////////"/>
              </a:ext>
            </a:extLst>
          </p:cNvSpPr>
          <p:nvPr/>
        </p:nvSpPr>
        <p:spPr>
          <a:xfrm>
            <a:off x="457200" y="118872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0yZ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OAHAACAMQAASAkAABAAAAAmAAAACAAAAP//////////"/>
              </a:ext>
            </a:extLst>
          </p:cNvSpPr>
          <p:nvPr/>
        </p:nvSpPr>
        <p:spPr>
          <a:xfrm>
            <a:off x="731520" y="1280160"/>
            <a:ext cx="7315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Image from URL</a:t>
            </a:r>
            <a:endParaRPr lang="en-us" sz="10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J+bK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EgJAACAMQAAoA4AABAAAAAmAAAACAAAAP//////////"/>
              </a:ext>
            </a:extLst>
          </p:cNvSpPr>
          <p:nvPr/>
        </p:nvSpPr>
        <p:spPr>
          <a:xfrm>
            <a:off x="731520" y="1508760"/>
            <a:ext cx="7315200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&lt;Image</a:t>
            </a:r>
            <a:endParaRPr lang="en-us" sz="11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source={{ uri: </a:t>
            </a:r>
            <a:r>
              <a:rPr lang="en-us" sz="1100" cap="none">
                <a:solidFill>
                  <a:srgbClr val="F1FA8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'https://picsum.photos/200'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}}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style={{ width: 120, height: 120, borderRadius: 60 }}</a:t>
            </a:r>
            <a:endParaRPr lang="en-us" sz="11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/&gt;</a:t>
            </a:r>
            <a:endParaRPr lang="en-us" sz="110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UFaoaRMAAAAlAAAAZQAAAA0AAAAAkAAAAEgAAACQAAAASAAAAAAAAAAAAAAAAAAAAAEAAABQAAAAGHjuPVxyvD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JgQAABwNQAAuBoAABAAAAAmAAAACAAAAP//////////"/>
              </a:ext>
            </a:extLst>
          </p:cNvSpPr>
          <p:nvPr/>
        </p:nvSpPr>
        <p:spPr>
          <a:xfrm>
            <a:off x="457200" y="269748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FAUU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CgRAACAMQAAkBIAABAAAAAmAAAACAAAAP//////////"/>
              </a:ext>
            </a:extLst>
          </p:cNvSpPr>
          <p:nvPr/>
        </p:nvSpPr>
        <p:spPr>
          <a:xfrm>
            <a:off x="731520" y="2788920"/>
            <a:ext cx="7315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Pressable with Alert</a:t>
            </a:r>
            <a:endParaRPr lang="en-us" sz="10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IMU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JASAACAMQAA4BkAABAAAAAmAAAACAAAAP//////////"/>
              </a:ext>
            </a:extLst>
          </p:cNvSpPr>
          <p:nvPr/>
        </p:nvSpPr>
        <p:spPr>
          <a:xfrm>
            <a:off x="731520" y="3017520"/>
            <a:ext cx="7315200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import 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{ Alert, Image, Pressable } </a:t>
            </a:r>
            <a:r>
              <a:rPr lang="en-us" sz="11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from </a:t>
            </a:r>
            <a:r>
              <a:rPr lang="en-us" sz="1100" cap="none">
                <a:solidFill>
                  <a:srgbClr val="F1FA8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'react-native'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1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&lt;Pressable </a:t>
            </a:r>
            <a:r>
              <a:rPr lang="en-us" sz="11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onPress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={() =&gt; Alert.alert(</a:t>
            </a:r>
            <a:r>
              <a:rPr lang="en-us" sz="1100" cap="none">
                <a:solidFill>
                  <a:srgbClr val="F1FA8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'Witaj!'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)}&gt;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&lt;Text&gt;Kliknij mnie!&lt;/Text&gt;</a:t>
            </a:r>
            <a:endParaRPr lang="en-us" sz="11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&lt;/Pressable&gt;</a:t>
            </a:r>
            <a:endParaRPr lang="en-us" sz="1100" cap="none"/>
          </a:p>
        </p:txBody>
      </p:sp>
      <p:sp>
        <p:nvSpPr>
          <p:cNvPr id="11" name="Shape 9"/>
          <p:cNvSpPr>
            <a:extLst>
              <a:ext uri="smNativeData">
                <pr:smNativeData xmlns:pr="smNativeData" xmlns="smNativeData" val="SMDATA_15_UFao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JsUn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AIAACAcAABwNQAAqB4AABAAAAAmAAAACAAAAP//////////"/>
              </a:ext>
            </a:extLst>
          </p:cNvSpPr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2" name="Text 10"/>
          <p:cNvSpPr>
            <a:extLst>
              <a:ext uri="smNativeData">
                <pr:smNativeData xmlns:pr="smNativeData" xmlns="smNativeData" val="SMDATA_15_UFao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WcV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CAcAADAMwAAqB4AABAAAAAmAAAACAAAAP//////////"/>
              </a:ext>
            </a:extLst>
          </p:cNvSpPr>
          <p:nvPr/>
        </p:nvSpPr>
        <p:spPr>
          <a:xfrm>
            <a:off x="640080" y="4572000"/>
            <a:ext cx="777240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61DAFB"/>
                </a:solidFill>
              </a:rPr>
              <a:t>Next lecture: JSX, components and props — let's build TripCard! 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— Getting Started with React Native</dc:title>
  <dc:subject>PptxGenJS Presentation</dc:subject>
  <dc:creator>React Native Lecturer</dc:creator>
  <cp:keywords/>
  <dc:description/>
  <cp:lastModifiedBy>kajet</cp:lastModifiedBy>
  <cp:revision>0</cp:revision>
  <dcterms:created xsi:type="dcterms:W3CDTF">2026-03-03T18:48:34Z</dcterms:created>
  <dcterms:modified xsi:type="dcterms:W3CDTF">2026-03-04T15:57:04Z</dcterms:modified>
</cp:coreProperties>
</file>